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9"/>
  </p:notesMasterIdLst>
  <p:sldIdLst>
    <p:sldId id="289" r:id="rId2"/>
    <p:sldId id="290" r:id="rId3"/>
    <p:sldId id="257" r:id="rId4"/>
    <p:sldId id="288" r:id="rId5"/>
    <p:sldId id="262" r:id="rId6"/>
    <p:sldId id="291" r:id="rId7"/>
    <p:sldId id="271" r:id="rId8"/>
    <p:sldId id="292" r:id="rId9"/>
    <p:sldId id="277" r:id="rId10"/>
    <p:sldId id="272" r:id="rId11"/>
    <p:sldId id="273" r:id="rId12"/>
    <p:sldId id="284" r:id="rId13"/>
    <p:sldId id="282" r:id="rId14"/>
    <p:sldId id="274" r:id="rId15"/>
    <p:sldId id="269" r:id="rId16"/>
    <p:sldId id="285" r:id="rId17"/>
    <p:sldId id="275" r:id="rId18"/>
    <p:sldId id="270" r:id="rId19"/>
    <p:sldId id="294" r:id="rId20"/>
    <p:sldId id="293" r:id="rId21"/>
    <p:sldId id="286" r:id="rId22"/>
    <p:sldId id="287" r:id="rId23"/>
    <p:sldId id="283" r:id="rId24"/>
    <p:sldId id="278" r:id="rId25"/>
    <p:sldId id="266" r:id="rId26"/>
    <p:sldId id="280" r:id="rId27"/>
    <p:sldId id="268" r:id="rId28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62" autoAdjust="0"/>
    <p:restoredTop sz="94660"/>
  </p:normalViewPr>
  <p:slideViewPr>
    <p:cSldViewPr snapToGrid="0">
      <p:cViewPr varScale="1">
        <p:scale>
          <a:sx n="67" d="100"/>
          <a:sy n="67" d="100"/>
        </p:scale>
        <p:origin x="450" y="7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-139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3C9DE2-E2CC-4D7A-A782-B213D0D75DC4}" type="datetimeFigureOut">
              <a:rPr lang="es-PE" smtClean="0"/>
              <a:t>28/01/2021</a:t>
            </a:fld>
            <a:endParaRPr lang="es-PE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PE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4D8C51-9C35-4AA3-A712-64B79A0A4EB8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2544729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PE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smtClean="0"/>
              <a:t>Haga clic para editar el estilo de subtítulo del patrón</a:t>
            </a:r>
            <a:endParaRPr lang="es-PE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2FF2DC-AAE8-45EA-A4AF-847B6D2C31C2}" type="datetimeFigureOut">
              <a:rPr lang="es-PE" smtClean="0"/>
              <a:t>28/01/2021</a:t>
            </a:fld>
            <a:endParaRPr lang="es-P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107854-971E-49A9-A177-0F0074A1C9F1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2909071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PE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2FF2DC-AAE8-45EA-A4AF-847B6D2C31C2}" type="datetimeFigureOut">
              <a:rPr lang="es-PE" smtClean="0"/>
              <a:t>28/01/2021</a:t>
            </a:fld>
            <a:endParaRPr lang="es-P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107854-971E-49A9-A177-0F0074A1C9F1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7234602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2FF2DC-AAE8-45EA-A4AF-847B6D2C31C2}" type="datetimeFigureOut">
              <a:rPr lang="es-PE" smtClean="0"/>
              <a:t>28/01/2021</a:t>
            </a:fld>
            <a:endParaRPr lang="es-P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107854-971E-49A9-A177-0F0074A1C9F1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0285144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PE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PE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2FF2DC-AAE8-45EA-A4AF-847B6D2C31C2}" type="datetimeFigureOut">
              <a:rPr lang="es-PE" smtClean="0"/>
              <a:t>28/01/2021</a:t>
            </a:fld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107854-971E-49A9-A177-0F0074A1C9F1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7276631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PE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PE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2FF2DC-AAE8-45EA-A4AF-847B6D2C31C2}" type="datetimeFigureOut">
              <a:rPr lang="es-PE" smtClean="0"/>
              <a:t>28/01/2021</a:t>
            </a:fld>
            <a:endParaRPr lang="es-PE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107854-971E-49A9-A177-0F0074A1C9F1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9770147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2FF2DC-AAE8-45EA-A4AF-847B6D2C31C2}" type="datetimeFigureOut">
              <a:rPr lang="es-PE" smtClean="0"/>
              <a:t>28/01/2021</a:t>
            </a:fld>
            <a:endParaRPr lang="es-PE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107854-971E-49A9-A177-0F0074A1C9F1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1963903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2FF2DC-AAE8-45EA-A4AF-847B6D2C31C2}" type="datetimeFigureOut">
              <a:rPr lang="es-PE" smtClean="0"/>
              <a:t>28/01/2021</a:t>
            </a:fld>
            <a:endParaRPr lang="es-PE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107854-971E-49A9-A177-0F0074A1C9F1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6043834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PE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2FF2DC-AAE8-45EA-A4AF-847B6D2C31C2}" type="datetimeFigureOut">
              <a:rPr lang="es-PE" smtClean="0"/>
              <a:t>28/01/2021</a:t>
            </a:fld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107854-971E-49A9-A177-0F0074A1C9F1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681259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PE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PE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2FF2DC-AAE8-45EA-A4AF-847B6D2C31C2}" type="datetimeFigureOut">
              <a:rPr lang="es-PE" smtClean="0"/>
              <a:t>28/01/2021</a:t>
            </a:fld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107854-971E-49A9-A177-0F0074A1C9F1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6888642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PE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2FF2DC-AAE8-45EA-A4AF-847B6D2C31C2}" type="datetimeFigureOut">
              <a:rPr lang="es-PE" smtClean="0"/>
              <a:t>28/01/2021</a:t>
            </a:fld>
            <a:endParaRPr lang="es-P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107854-971E-49A9-A177-0F0074A1C9F1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590652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PE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2FF2DC-AAE8-45EA-A4AF-847B6D2C31C2}" type="datetimeFigureOut">
              <a:rPr lang="es-PE" smtClean="0"/>
              <a:t>28/01/2021</a:t>
            </a:fld>
            <a:endParaRPr lang="es-P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107854-971E-49A9-A177-0F0074A1C9F1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1080374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PE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2FF2DC-AAE8-45EA-A4AF-847B6D2C31C2}" type="datetimeFigureOut">
              <a:rPr lang="es-PE" smtClean="0"/>
              <a:t>28/01/2021</a:t>
            </a:fld>
            <a:endParaRPr lang="es-P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P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107854-971E-49A9-A177-0F0074A1C9F1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0899557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PE" dirty="0" smtClean="0"/>
              <a:t>Capítulo VI</a:t>
            </a:r>
            <a:endParaRPr lang="es-PE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PE" dirty="0" smtClean="0"/>
          </a:p>
          <a:p>
            <a:r>
              <a:rPr lang="es-PE" sz="3200" dirty="0" smtClean="0"/>
              <a:t>Flujos de caja</a:t>
            </a:r>
          </a:p>
          <a:p>
            <a:r>
              <a:rPr lang="es-PE" sz="3200" dirty="0" smtClean="0"/>
              <a:t>Parte II</a:t>
            </a: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43420" y="6219"/>
            <a:ext cx="728907" cy="916601"/>
          </a:xfrm>
          <a:prstGeom prst="rect">
            <a:avLst/>
          </a:prstGeom>
        </p:spPr>
      </p:pic>
      <p:sp>
        <p:nvSpPr>
          <p:cNvPr id="5" name="Rectángulo 4"/>
          <p:cNvSpPr/>
          <p:nvPr/>
        </p:nvSpPr>
        <p:spPr>
          <a:xfrm>
            <a:off x="9423753" y="928142"/>
            <a:ext cx="2768243" cy="569387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ctr"/>
            <a:r>
              <a:rPr lang="es-ES" sz="1000" b="1" i="0" dirty="0" smtClean="0"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UNIVERSIDAD</a:t>
            </a:r>
            <a:r>
              <a:rPr lang="es-ES" sz="1000" b="1" i="0" baseline="0" dirty="0" smtClean="0"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NACIONAL DE INGENIERÍA</a:t>
            </a:r>
            <a:endParaRPr lang="es-ES" sz="1000" b="1" i="0" dirty="0" smtClean="0">
              <a:solidFill>
                <a:srgbClr val="222222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s-ES" sz="1050" b="0" i="0" dirty="0" smtClean="0"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Facultad de Ingeniería </a:t>
            </a:r>
          </a:p>
          <a:p>
            <a:pPr algn="ctr"/>
            <a:r>
              <a:rPr lang="es-ES" sz="1050" b="0" i="0" dirty="0" smtClean="0"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Eléctrica y Electrónica</a:t>
            </a:r>
            <a:endParaRPr lang="en-US" sz="1050" b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ángulo 5"/>
          <p:cNvSpPr/>
          <p:nvPr/>
        </p:nvSpPr>
        <p:spPr>
          <a:xfrm>
            <a:off x="0" y="6474554"/>
            <a:ext cx="12192005" cy="383446"/>
          </a:xfrm>
          <a:prstGeom prst="rect">
            <a:avLst/>
          </a:prstGeom>
          <a:solidFill>
            <a:srgbClr val="991636"/>
          </a:solidFill>
          <a:ln>
            <a:solidFill>
              <a:srgbClr val="99163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Ingeniería</a:t>
            </a:r>
            <a:r>
              <a:rPr lang="en-US" dirty="0" smtClean="0"/>
              <a:t> </a:t>
            </a:r>
            <a:r>
              <a:rPr lang="en-US" dirty="0" err="1" smtClean="0"/>
              <a:t>Economica</a:t>
            </a:r>
            <a:r>
              <a:rPr lang="en-US" dirty="0" smtClean="0"/>
              <a:t> – Julio Salvador </a:t>
            </a:r>
            <a:r>
              <a:rPr lang="en-US" dirty="0" err="1" smtClean="0"/>
              <a:t>Jácome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09886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 smtClean="0"/>
              <a:t>Flujo de caja económico (Capital propio)</a:t>
            </a:r>
            <a:endParaRPr lang="es-PE" dirty="0"/>
          </a:p>
        </p:txBody>
      </p:sp>
      <p:grpSp>
        <p:nvGrpSpPr>
          <p:cNvPr id="5" name="Grupo 4"/>
          <p:cNvGrpSpPr/>
          <p:nvPr/>
        </p:nvGrpSpPr>
        <p:grpSpPr>
          <a:xfrm>
            <a:off x="2322458" y="2210087"/>
            <a:ext cx="9031342" cy="5310188"/>
            <a:chOff x="1439808" y="784058"/>
            <a:chExt cx="9031342" cy="5310188"/>
          </a:xfrm>
        </p:grpSpPr>
        <p:pic>
          <p:nvPicPr>
            <p:cNvPr id="12290" name="Picture 2" descr="Resultado de imagen para acumular flujos de dinero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39808" y="784058"/>
              <a:ext cx="9031342" cy="531018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" name="Rectángulo 2"/>
            <p:cNvSpPr/>
            <p:nvPr/>
          </p:nvSpPr>
          <p:spPr>
            <a:xfrm>
              <a:off x="6382327" y="2683719"/>
              <a:ext cx="3953163" cy="33343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4" name="Rectángulo 3"/>
            <p:cNvSpPr/>
            <p:nvPr/>
          </p:nvSpPr>
          <p:spPr>
            <a:xfrm>
              <a:off x="4941455" y="4562764"/>
              <a:ext cx="1440872" cy="153148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</p:grpSp>
    </p:spTree>
    <p:extLst>
      <p:ext uri="{BB962C8B-B14F-4D97-AF65-F5344CB8AC3E}">
        <p14:creationId xmlns:p14="http://schemas.microsoft.com/office/powerpoint/2010/main" val="3027080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 smtClean="0"/>
              <a:t>Estructura flujo de caja económico</a:t>
            </a:r>
            <a:endParaRPr lang="es-PE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838200" y="6118167"/>
            <a:ext cx="10515600" cy="657312"/>
          </a:xfrm>
        </p:spPr>
        <p:txBody>
          <a:bodyPr/>
          <a:lstStyle/>
          <a:p>
            <a:endParaRPr lang="es-PE" dirty="0"/>
          </a:p>
        </p:txBody>
      </p:sp>
      <p:grpSp>
        <p:nvGrpSpPr>
          <p:cNvPr id="10" name="Grupo 9"/>
          <p:cNvGrpSpPr/>
          <p:nvPr/>
        </p:nvGrpSpPr>
        <p:grpSpPr>
          <a:xfrm>
            <a:off x="2842952" y="1498385"/>
            <a:ext cx="4971011" cy="4619782"/>
            <a:chOff x="2842952" y="1498385"/>
            <a:chExt cx="4971011" cy="4619782"/>
          </a:xfrm>
        </p:grpSpPr>
        <p:sp>
          <p:nvSpPr>
            <p:cNvPr id="4" name="Rectángulo 3"/>
            <p:cNvSpPr/>
            <p:nvPr/>
          </p:nvSpPr>
          <p:spPr>
            <a:xfrm>
              <a:off x="3724101" y="2759642"/>
              <a:ext cx="4089862" cy="186223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2" rtlCol="0" anchor="ctr"/>
            <a:lstStyle/>
            <a:p>
              <a:r>
                <a:rPr lang="es-PE" dirty="0" smtClean="0"/>
                <a:t>+ Ingresos</a:t>
              </a:r>
            </a:p>
            <a:p>
              <a:r>
                <a:rPr lang="es-PE" dirty="0" smtClean="0"/>
                <a:t> - Egresos</a:t>
              </a:r>
            </a:p>
            <a:p>
              <a:r>
                <a:rPr lang="es-PE" dirty="0"/>
                <a:t> </a:t>
              </a:r>
              <a:r>
                <a:rPr lang="es-PE" dirty="0" smtClean="0"/>
                <a:t>- Depreciación</a:t>
              </a:r>
            </a:p>
            <a:p>
              <a:r>
                <a:rPr lang="es-PE" dirty="0" smtClean="0"/>
                <a:t>= UAI</a:t>
              </a:r>
            </a:p>
            <a:p>
              <a:pPr marL="285750" indent="-285750">
                <a:buFontTx/>
                <a:buChar char="-"/>
              </a:pPr>
              <a:r>
                <a:rPr lang="es-PE" dirty="0" smtClean="0"/>
                <a:t>Impuestos</a:t>
              </a:r>
            </a:p>
            <a:p>
              <a:r>
                <a:rPr lang="es-PE" dirty="0" smtClean="0"/>
                <a:t>= UN</a:t>
              </a:r>
              <a:endParaRPr lang="es-PE" dirty="0"/>
            </a:p>
          </p:txBody>
        </p:sp>
        <p:sp>
          <p:nvSpPr>
            <p:cNvPr id="5" name="CuadroTexto 4"/>
            <p:cNvSpPr txBox="1"/>
            <p:nvPr/>
          </p:nvSpPr>
          <p:spPr>
            <a:xfrm>
              <a:off x="2842952" y="2402194"/>
              <a:ext cx="251197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PE" dirty="0" smtClean="0"/>
                <a:t>Flujo de caja operacional</a:t>
              </a:r>
              <a:endParaRPr lang="es-PE" dirty="0"/>
            </a:p>
          </p:txBody>
        </p:sp>
        <p:sp>
          <p:nvSpPr>
            <p:cNvPr id="6" name="CuadroTexto 5"/>
            <p:cNvSpPr txBox="1"/>
            <p:nvPr/>
          </p:nvSpPr>
          <p:spPr>
            <a:xfrm>
              <a:off x="2842952" y="4730526"/>
              <a:ext cx="135614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PE" dirty="0" smtClean="0"/>
                <a:t>Flujo de caja</a:t>
              </a:r>
              <a:endParaRPr lang="es-PE" dirty="0"/>
            </a:p>
          </p:txBody>
        </p:sp>
        <p:sp>
          <p:nvSpPr>
            <p:cNvPr id="7" name="Rectángulo 6"/>
            <p:cNvSpPr/>
            <p:nvPr/>
          </p:nvSpPr>
          <p:spPr>
            <a:xfrm>
              <a:off x="3724101" y="5053801"/>
              <a:ext cx="4089862" cy="106436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r>
                <a:rPr lang="es-PE" dirty="0" smtClean="0"/>
                <a:t>+ UN</a:t>
              </a:r>
            </a:p>
            <a:p>
              <a:r>
                <a:rPr lang="es-PE" dirty="0" smtClean="0"/>
                <a:t>+ Depreciación</a:t>
              </a:r>
            </a:p>
            <a:p>
              <a:r>
                <a:rPr lang="es-PE" dirty="0" smtClean="0"/>
                <a:t>		            + </a:t>
              </a:r>
              <a:r>
                <a:rPr lang="es-PE" dirty="0" smtClean="0"/>
                <a:t>Valor residual</a:t>
              </a:r>
            </a:p>
            <a:p>
              <a:r>
                <a:rPr lang="es-PE" dirty="0" smtClean="0"/>
                <a:t>= f </a:t>
              </a:r>
            </a:p>
          </p:txBody>
        </p:sp>
        <p:sp>
          <p:nvSpPr>
            <p:cNvPr id="8" name="CuadroTexto 7"/>
            <p:cNvSpPr txBox="1"/>
            <p:nvPr/>
          </p:nvSpPr>
          <p:spPr>
            <a:xfrm>
              <a:off x="2842952" y="1498385"/>
              <a:ext cx="180857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PE" dirty="0" smtClean="0"/>
                <a:t>Flujo de capitales</a:t>
              </a:r>
              <a:endParaRPr lang="es-PE" dirty="0"/>
            </a:p>
          </p:txBody>
        </p:sp>
        <p:sp>
          <p:nvSpPr>
            <p:cNvPr id="9" name="Rectángulo 8"/>
            <p:cNvSpPr/>
            <p:nvPr/>
          </p:nvSpPr>
          <p:spPr>
            <a:xfrm>
              <a:off x="3724101" y="1833561"/>
              <a:ext cx="4089862" cy="63592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r>
                <a:rPr lang="es-PE" dirty="0" smtClean="0"/>
                <a:t>- Inversión (Capital propio)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468291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15686" y="365125"/>
            <a:ext cx="11734800" cy="1325563"/>
          </a:xfrm>
        </p:spPr>
        <p:txBody>
          <a:bodyPr/>
          <a:lstStyle/>
          <a:p>
            <a:r>
              <a:rPr lang="es-PE" dirty="0" smtClean="0"/>
              <a:t>Flujo de caja financiero (Capital propio + préstamo)</a:t>
            </a:r>
            <a:endParaRPr lang="es-PE" dirty="0"/>
          </a:p>
        </p:txBody>
      </p:sp>
      <p:pic>
        <p:nvPicPr>
          <p:cNvPr id="12290" name="Picture 2" descr="Resultado de imagen para acumular flujos de dinero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3466" y="1690688"/>
            <a:ext cx="9031342" cy="53101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838066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2300" y="-321852"/>
            <a:ext cx="10515600" cy="1325563"/>
          </a:xfrm>
        </p:spPr>
        <p:txBody>
          <a:bodyPr/>
          <a:lstStyle/>
          <a:p>
            <a:r>
              <a:rPr lang="es-PE" dirty="0" smtClean="0"/>
              <a:t>Estructura flujo de caja financiero</a:t>
            </a:r>
            <a:endParaRPr lang="es-PE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838200" y="6118167"/>
            <a:ext cx="10515600" cy="657312"/>
          </a:xfrm>
        </p:spPr>
        <p:txBody>
          <a:bodyPr/>
          <a:lstStyle/>
          <a:p>
            <a:endParaRPr lang="es-PE" dirty="0"/>
          </a:p>
        </p:txBody>
      </p:sp>
      <p:grpSp>
        <p:nvGrpSpPr>
          <p:cNvPr id="10" name="Grupo 9"/>
          <p:cNvGrpSpPr/>
          <p:nvPr/>
        </p:nvGrpSpPr>
        <p:grpSpPr>
          <a:xfrm>
            <a:off x="2842952" y="1281769"/>
            <a:ext cx="4971011" cy="4796811"/>
            <a:chOff x="2842952" y="1281769"/>
            <a:chExt cx="4971011" cy="4796811"/>
          </a:xfrm>
        </p:grpSpPr>
        <p:sp>
          <p:nvSpPr>
            <p:cNvPr id="4" name="Rectángulo 3"/>
            <p:cNvSpPr/>
            <p:nvPr/>
          </p:nvSpPr>
          <p:spPr>
            <a:xfrm>
              <a:off x="3724101" y="2708997"/>
              <a:ext cx="4089862" cy="2120361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r>
                <a:rPr lang="es-PE" dirty="0" smtClean="0"/>
                <a:t>+ Ingresos</a:t>
              </a:r>
            </a:p>
            <a:p>
              <a:r>
                <a:rPr lang="es-PE" dirty="0" smtClean="0"/>
                <a:t> - Egresos</a:t>
              </a:r>
            </a:p>
            <a:p>
              <a:r>
                <a:rPr lang="es-PE" dirty="0"/>
                <a:t> </a:t>
              </a:r>
              <a:r>
                <a:rPr lang="es-PE" dirty="0" smtClean="0"/>
                <a:t>- Depreciación</a:t>
              </a:r>
            </a:p>
            <a:p>
              <a:r>
                <a:rPr lang="es-PE" dirty="0" smtClean="0"/>
                <a:t>= UAII</a:t>
              </a:r>
            </a:p>
            <a:p>
              <a:r>
                <a:rPr lang="es-PE" dirty="0" smtClean="0"/>
                <a:t> </a:t>
              </a:r>
              <a:r>
                <a:rPr lang="es-PE" dirty="0" smtClean="0">
                  <a:solidFill>
                    <a:srgbClr val="FFFF00"/>
                  </a:solidFill>
                </a:rPr>
                <a:t>- Intereses</a:t>
              </a:r>
            </a:p>
            <a:p>
              <a:r>
                <a:rPr lang="es-PE" dirty="0" smtClean="0"/>
                <a:t>= UAI</a:t>
              </a:r>
            </a:p>
            <a:p>
              <a:r>
                <a:rPr lang="es-PE" dirty="0"/>
                <a:t> </a:t>
              </a:r>
              <a:r>
                <a:rPr lang="es-PE" dirty="0" smtClean="0"/>
                <a:t>- Impuestos</a:t>
              </a:r>
            </a:p>
            <a:p>
              <a:r>
                <a:rPr lang="es-PE" dirty="0" smtClean="0"/>
                <a:t>= UN</a:t>
              </a:r>
              <a:endParaRPr lang="es-PE" dirty="0"/>
            </a:p>
          </p:txBody>
        </p:sp>
        <p:sp>
          <p:nvSpPr>
            <p:cNvPr id="5" name="CuadroTexto 4"/>
            <p:cNvSpPr txBox="1"/>
            <p:nvPr/>
          </p:nvSpPr>
          <p:spPr>
            <a:xfrm>
              <a:off x="2842952" y="2402194"/>
              <a:ext cx="251197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PE" dirty="0" smtClean="0"/>
                <a:t>Flujo de caja operacional</a:t>
              </a:r>
              <a:endParaRPr lang="es-PE" dirty="0"/>
            </a:p>
          </p:txBody>
        </p:sp>
        <p:sp>
          <p:nvSpPr>
            <p:cNvPr id="6" name="CuadroTexto 5"/>
            <p:cNvSpPr txBox="1"/>
            <p:nvPr/>
          </p:nvSpPr>
          <p:spPr>
            <a:xfrm>
              <a:off x="2842952" y="4730526"/>
              <a:ext cx="135614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PE" dirty="0" smtClean="0"/>
                <a:t>Flujo de caja</a:t>
              </a:r>
              <a:endParaRPr lang="es-PE" dirty="0"/>
            </a:p>
          </p:txBody>
        </p:sp>
        <p:sp>
          <p:nvSpPr>
            <p:cNvPr id="7" name="Rectángulo 6"/>
            <p:cNvSpPr/>
            <p:nvPr/>
          </p:nvSpPr>
          <p:spPr>
            <a:xfrm>
              <a:off x="3724101" y="5053801"/>
              <a:ext cx="4089862" cy="102477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r>
                <a:rPr lang="es-PE" dirty="0" smtClean="0"/>
                <a:t>+ UN</a:t>
              </a:r>
            </a:p>
            <a:p>
              <a:r>
                <a:rPr lang="es-PE" dirty="0" smtClean="0"/>
                <a:t>+ Depreciación</a:t>
              </a:r>
            </a:p>
            <a:p>
              <a:r>
                <a:rPr lang="es-PE" dirty="0" smtClean="0"/>
                <a:t>                                             + </a:t>
              </a:r>
              <a:r>
                <a:rPr lang="es-PE" dirty="0" smtClean="0"/>
                <a:t>Valor residual</a:t>
              </a:r>
            </a:p>
            <a:p>
              <a:r>
                <a:rPr lang="es-PE" dirty="0" smtClean="0"/>
                <a:t>= f </a:t>
              </a:r>
            </a:p>
          </p:txBody>
        </p:sp>
        <p:sp>
          <p:nvSpPr>
            <p:cNvPr id="8" name="CuadroTexto 7"/>
            <p:cNvSpPr txBox="1"/>
            <p:nvPr/>
          </p:nvSpPr>
          <p:spPr>
            <a:xfrm>
              <a:off x="2842952" y="1281769"/>
              <a:ext cx="180857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PE" dirty="0" smtClean="0"/>
                <a:t>Flujo de capitales</a:t>
              </a:r>
              <a:endParaRPr lang="es-PE" dirty="0"/>
            </a:p>
          </p:txBody>
        </p:sp>
        <p:sp>
          <p:nvSpPr>
            <p:cNvPr id="9" name="Rectángulo 8"/>
            <p:cNvSpPr/>
            <p:nvPr/>
          </p:nvSpPr>
          <p:spPr>
            <a:xfrm>
              <a:off x="3724101" y="1608328"/>
              <a:ext cx="4089862" cy="861157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r>
                <a:rPr lang="es-PE" dirty="0" smtClean="0"/>
                <a:t> - Inversión (Capital propio)</a:t>
              </a:r>
            </a:p>
            <a:p>
              <a:r>
                <a:rPr lang="es-PE" dirty="0" smtClean="0"/>
                <a:t>+ </a:t>
              </a:r>
              <a:r>
                <a:rPr lang="es-PE" dirty="0" smtClean="0">
                  <a:solidFill>
                    <a:srgbClr val="FFFF00"/>
                  </a:solidFill>
                </a:rPr>
                <a:t>Préstamo</a:t>
              </a:r>
            </a:p>
            <a:p>
              <a:r>
                <a:rPr lang="es-PE" dirty="0" smtClean="0"/>
                <a:t> - </a:t>
              </a:r>
              <a:r>
                <a:rPr lang="es-PE" dirty="0" smtClean="0">
                  <a:solidFill>
                    <a:srgbClr val="FFFF00"/>
                  </a:solidFill>
                </a:rPr>
                <a:t>Amortizaciones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149405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 smtClean="0"/>
              <a:t>Proyección de ingresos</a:t>
            </a:r>
            <a:endParaRPr lang="es-PE" dirty="0"/>
          </a:p>
        </p:txBody>
      </p:sp>
      <p:cxnSp>
        <p:nvCxnSpPr>
          <p:cNvPr id="29" name="Conector recto 28"/>
          <p:cNvCxnSpPr/>
          <p:nvPr/>
        </p:nvCxnSpPr>
        <p:spPr>
          <a:xfrm flipH="1">
            <a:off x="3113314" y="2405744"/>
            <a:ext cx="10886" cy="3439885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ector recto 30"/>
          <p:cNvCxnSpPr/>
          <p:nvPr/>
        </p:nvCxnSpPr>
        <p:spPr>
          <a:xfrm flipV="1">
            <a:off x="3113314" y="5834743"/>
            <a:ext cx="5519057" cy="10886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ector recto 32"/>
          <p:cNvCxnSpPr/>
          <p:nvPr/>
        </p:nvCxnSpPr>
        <p:spPr>
          <a:xfrm flipV="1">
            <a:off x="3124200" y="4582886"/>
            <a:ext cx="2841171" cy="80554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Forma libre 35"/>
          <p:cNvSpPr/>
          <p:nvPr/>
        </p:nvSpPr>
        <p:spPr>
          <a:xfrm>
            <a:off x="5965371" y="332468"/>
            <a:ext cx="4027716" cy="4217761"/>
          </a:xfrm>
          <a:custGeom>
            <a:avLst/>
            <a:gdLst>
              <a:gd name="connsiteX0" fmla="*/ 0 w 3984172"/>
              <a:gd name="connsiteY0" fmla="*/ 3603172 h 3603172"/>
              <a:gd name="connsiteX1" fmla="*/ 1360715 w 3984172"/>
              <a:gd name="connsiteY1" fmla="*/ 2895600 h 3603172"/>
              <a:gd name="connsiteX2" fmla="*/ 3984172 w 3984172"/>
              <a:gd name="connsiteY2" fmla="*/ 0 h 3603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984172" h="3603172">
                <a:moveTo>
                  <a:pt x="0" y="3603172"/>
                </a:moveTo>
                <a:cubicBezTo>
                  <a:pt x="348343" y="3549650"/>
                  <a:pt x="696686" y="3496129"/>
                  <a:pt x="1360715" y="2895600"/>
                </a:cubicBezTo>
                <a:cubicBezTo>
                  <a:pt x="2024744" y="2295071"/>
                  <a:pt x="3004458" y="1147535"/>
                  <a:pt x="3984172" y="0"/>
                </a:cubicBezTo>
              </a:path>
            </a:pathLst>
          </a:custGeom>
          <a:noFill/>
          <a:ln w="3492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37" name="Forma libre 36"/>
          <p:cNvSpPr/>
          <p:nvPr/>
        </p:nvSpPr>
        <p:spPr>
          <a:xfrm>
            <a:off x="5998029" y="2699657"/>
            <a:ext cx="3995058" cy="1883230"/>
          </a:xfrm>
          <a:custGeom>
            <a:avLst/>
            <a:gdLst>
              <a:gd name="connsiteX0" fmla="*/ 0 w 4049485"/>
              <a:gd name="connsiteY0" fmla="*/ 1894115 h 1894115"/>
              <a:gd name="connsiteX1" fmla="*/ 2449285 w 4049485"/>
              <a:gd name="connsiteY1" fmla="*/ 1219200 h 1894115"/>
              <a:gd name="connsiteX2" fmla="*/ 4049485 w 4049485"/>
              <a:gd name="connsiteY2" fmla="*/ 0 h 18941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049485" h="1894115">
                <a:moveTo>
                  <a:pt x="0" y="1894115"/>
                </a:moveTo>
                <a:cubicBezTo>
                  <a:pt x="887185" y="1714500"/>
                  <a:pt x="1774371" y="1534886"/>
                  <a:pt x="2449285" y="1219200"/>
                </a:cubicBezTo>
                <a:cubicBezTo>
                  <a:pt x="3124199" y="903514"/>
                  <a:pt x="3586842" y="451757"/>
                  <a:pt x="4049485" y="0"/>
                </a:cubicBezTo>
              </a:path>
            </a:pathLst>
          </a:cu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40" name="Forma libre 39"/>
          <p:cNvSpPr/>
          <p:nvPr/>
        </p:nvSpPr>
        <p:spPr>
          <a:xfrm>
            <a:off x="6085114" y="1981200"/>
            <a:ext cx="3907973" cy="2569029"/>
          </a:xfrm>
          <a:custGeom>
            <a:avLst/>
            <a:gdLst>
              <a:gd name="connsiteX0" fmla="*/ 0 w 3973286"/>
              <a:gd name="connsiteY0" fmla="*/ 2569029 h 2569029"/>
              <a:gd name="connsiteX1" fmla="*/ 2416629 w 3973286"/>
              <a:gd name="connsiteY1" fmla="*/ 1654629 h 2569029"/>
              <a:gd name="connsiteX2" fmla="*/ 3973286 w 3973286"/>
              <a:gd name="connsiteY2" fmla="*/ 0 h 25690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973286" h="2569029">
                <a:moveTo>
                  <a:pt x="0" y="2569029"/>
                </a:moveTo>
                <a:cubicBezTo>
                  <a:pt x="877207" y="2325914"/>
                  <a:pt x="1754415" y="2082800"/>
                  <a:pt x="2416629" y="1654629"/>
                </a:cubicBezTo>
                <a:cubicBezTo>
                  <a:pt x="3078843" y="1226457"/>
                  <a:pt x="3526064" y="613228"/>
                  <a:pt x="3973286" y="0"/>
                </a:cubicBezTo>
              </a:path>
            </a:pathLst>
          </a:custGeom>
          <a:noFill/>
          <a:ln w="349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41" name="CuadroTexto 40"/>
          <p:cNvSpPr txBox="1"/>
          <p:nvPr/>
        </p:nvSpPr>
        <p:spPr>
          <a:xfrm>
            <a:off x="10112830" y="2514991"/>
            <a:ext cx="10659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dirty="0" smtClean="0"/>
              <a:t>Pesimista</a:t>
            </a:r>
            <a:endParaRPr lang="es-PE" dirty="0"/>
          </a:p>
        </p:txBody>
      </p:sp>
      <p:sp>
        <p:nvSpPr>
          <p:cNvPr id="42" name="CuadroTexto 41"/>
          <p:cNvSpPr txBox="1"/>
          <p:nvPr/>
        </p:nvSpPr>
        <p:spPr>
          <a:xfrm>
            <a:off x="10112829" y="1678884"/>
            <a:ext cx="7825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dirty="0" smtClean="0"/>
              <a:t>Media</a:t>
            </a:r>
            <a:endParaRPr lang="es-PE" dirty="0"/>
          </a:p>
        </p:txBody>
      </p:sp>
      <p:sp>
        <p:nvSpPr>
          <p:cNvPr id="43" name="CuadroTexto 42"/>
          <p:cNvSpPr txBox="1"/>
          <p:nvPr/>
        </p:nvSpPr>
        <p:spPr>
          <a:xfrm>
            <a:off x="10112828" y="180459"/>
            <a:ext cx="10967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dirty="0" smtClean="0"/>
              <a:t>Optimista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39709222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 smtClean="0"/>
              <a:t>Dado el flujo: ¿A que tasa actualizar?</a:t>
            </a:r>
            <a:endParaRPr lang="es-PE" dirty="0"/>
          </a:p>
        </p:txBody>
      </p:sp>
      <p:grpSp>
        <p:nvGrpSpPr>
          <p:cNvPr id="4" name="Grupo 3"/>
          <p:cNvGrpSpPr/>
          <p:nvPr/>
        </p:nvGrpSpPr>
        <p:grpSpPr>
          <a:xfrm>
            <a:off x="957557" y="2726894"/>
            <a:ext cx="10243581" cy="3217789"/>
            <a:chOff x="957557" y="2726894"/>
            <a:chExt cx="10243581" cy="3217789"/>
          </a:xfrm>
        </p:grpSpPr>
        <p:cxnSp>
          <p:nvCxnSpPr>
            <p:cNvPr id="5" name="Conector recto 4"/>
            <p:cNvCxnSpPr/>
            <p:nvPr/>
          </p:nvCxnSpPr>
          <p:spPr>
            <a:xfrm>
              <a:off x="1050324" y="5412259"/>
              <a:ext cx="9860692" cy="0"/>
            </a:xfrm>
            <a:prstGeom prst="line">
              <a:avLst/>
            </a:prstGeom>
            <a:ln w="444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Conector recto de flecha 6"/>
            <p:cNvCxnSpPr/>
            <p:nvPr/>
          </p:nvCxnSpPr>
          <p:spPr>
            <a:xfrm flipH="1" flipV="1">
              <a:off x="1075446" y="2726894"/>
              <a:ext cx="32954" cy="2634827"/>
            </a:xfrm>
            <a:prstGeom prst="straightConnector1">
              <a:avLst/>
            </a:prstGeom>
            <a:ln w="317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Conector recto de flecha 7"/>
            <p:cNvCxnSpPr/>
            <p:nvPr/>
          </p:nvCxnSpPr>
          <p:spPr>
            <a:xfrm flipH="1">
              <a:off x="1978761" y="4409735"/>
              <a:ext cx="12357" cy="914400"/>
            </a:xfrm>
            <a:prstGeom prst="straightConnector1">
              <a:avLst/>
            </a:prstGeom>
            <a:ln w="317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Conector recto de flecha 8"/>
            <p:cNvCxnSpPr/>
            <p:nvPr/>
          </p:nvCxnSpPr>
          <p:spPr>
            <a:xfrm flipH="1">
              <a:off x="2895708" y="4447321"/>
              <a:ext cx="12357" cy="914400"/>
            </a:xfrm>
            <a:prstGeom prst="straightConnector1">
              <a:avLst/>
            </a:prstGeom>
            <a:ln w="317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Conector recto de flecha 9"/>
            <p:cNvCxnSpPr/>
            <p:nvPr/>
          </p:nvCxnSpPr>
          <p:spPr>
            <a:xfrm flipH="1">
              <a:off x="3844253" y="4447321"/>
              <a:ext cx="12357" cy="914400"/>
            </a:xfrm>
            <a:prstGeom prst="straightConnector1">
              <a:avLst/>
            </a:prstGeom>
            <a:ln w="317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ector recto de flecha 10"/>
            <p:cNvCxnSpPr/>
            <p:nvPr/>
          </p:nvCxnSpPr>
          <p:spPr>
            <a:xfrm flipH="1">
              <a:off x="4765535" y="4454773"/>
              <a:ext cx="12357" cy="914400"/>
            </a:xfrm>
            <a:prstGeom prst="straightConnector1">
              <a:avLst/>
            </a:prstGeom>
            <a:ln w="317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Conector recto de flecha 11"/>
            <p:cNvCxnSpPr/>
            <p:nvPr/>
          </p:nvCxnSpPr>
          <p:spPr>
            <a:xfrm flipH="1">
              <a:off x="9951741" y="4411687"/>
              <a:ext cx="12357" cy="914400"/>
            </a:xfrm>
            <a:prstGeom prst="straightConnector1">
              <a:avLst/>
            </a:prstGeom>
            <a:ln w="317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ector recto de flecha 12"/>
            <p:cNvCxnSpPr/>
            <p:nvPr/>
          </p:nvCxnSpPr>
          <p:spPr>
            <a:xfrm flipH="1">
              <a:off x="10898659" y="4411687"/>
              <a:ext cx="12357" cy="914400"/>
            </a:xfrm>
            <a:prstGeom prst="straightConnector1">
              <a:avLst/>
            </a:prstGeom>
            <a:ln w="317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CuadroTexto 13"/>
            <p:cNvSpPr txBox="1"/>
            <p:nvPr/>
          </p:nvSpPr>
          <p:spPr>
            <a:xfrm>
              <a:off x="957557" y="5530593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PE" dirty="0" smtClean="0"/>
                <a:t>0</a:t>
              </a:r>
              <a:endParaRPr lang="es-PE" dirty="0"/>
            </a:p>
          </p:txBody>
        </p:sp>
        <p:sp>
          <p:nvSpPr>
            <p:cNvPr id="16" name="CuadroTexto 15"/>
            <p:cNvSpPr txBox="1"/>
            <p:nvPr/>
          </p:nvSpPr>
          <p:spPr>
            <a:xfrm>
              <a:off x="2744865" y="5498432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PE" dirty="0" smtClean="0"/>
                <a:t>2</a:t>
              </a:r>
              <a:endParaRPr lang="es-PE" dirty="0"/>
            </a:p>
          </p:txBody>
        </p:sp>
        <p:sp>
          <p:nvSpPr>
            <p:cNvPr id="17" name="CuadroTexto 16"/>
            <p:cNvSpPr txBox="1"/>
            <p:nvPr/>
          </p:nvSpPr>
          <p:spPr>
            <a:xfrm>
              <a:off x="1795938" y="5499151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PE" dirty="0" smtClean="0"/>
                <a:t>1</a:t>
              </a:r>
              <a:endParaRPr lang="es-PE" dirty="0"/>
            </a:p>
          </p:txBody>
        </p:sp>
        <p:sp>
          <p:nvSpPr>
            <p:cNvPr id="18" name="CuadroTexto 17"/>
            <p:cNvSpPr txBox="1"/>
            <p:nvPr/>
          </p:nvSpPr>
          <p:spPr>
            <a:xfrm>
              <a:off x="4614692" y="555305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PE" dirty="0" smtClean="0"/>
                <a:t>4</a:t>
              </a:r>
              <a:endParaRPr lang="es-PE" dirty="0"/>
            </a:p>
          </p:txBody>
        </p:sp>
        <p:sp>
          <p:nvSpPr>
            <p:cNvPr id="19" name="CuadroTexto 18"/>
            <p:cNvSpPr txBox="1"/>
            <p:nvPr/>
          </p:nvSpPr>
          <p:spPr>
            <a:xfrm>
              <a:off x="3693410" y="5522754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PE" dirty="0" smtClean="0"/>
                <a:t>3</a:t>
              </a:r>
              <a:endParaRPr lang="es-PE" dirty="0"/>
            </a:p>
          </p:txBody>
        </p:sp>
        <p:sp>
          <p:nvSpPr>
            <p:cNvPr id="20" name="CuadroTexto 19"/>
            <p:cNvSpPr txBox="1"/>
            <p:nvPr/>
          </p:nvSpPr>
          <p:spPr>
            <a:xfrm>
              <a:off x="1795938" y="3868054"/>
              <a:ext cx="47936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PE" dirty="0" smtClean="0"/>
                <a:t>fcl</a:t>
              </a:r>
              <a:r>
                <a:rPr lang="es-PE" baseline="-25000" dirty="0" smtClean="0"/>
                <a:t>1</a:t>
              </a:r>
              <a:endParaRPr lang="es-PE" baseline="-25000" dirty="0"/>
            </a:p>
          </p:txBody>
        </p:sp>
        <p:sp>
          <p:nvSpPr>
            <p:cNvPr id="22" name="CuadroTexto 21"/>
            <p:cNvSpPr txBox="1"/>
            <p:nvPr/>
          </p:nvSpPr>
          <p:spPr>
            <a:xfrm>
              <a:off x="9717075" y="5575351"/>
              <a:ext cx="4940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PE" dirty="0" smtClean="0"/>
                <a:t>n-1</a:t>
              </a:r>
              <a:endParaRPr lang="es-PE" dirty="0"/>
            </a:p>
          </p:txBody>
        </p:sp>
        <p:sp>
          <p:nvSpPr>
            <p:cNvPr id="23" name="CuadroTexto 22"/>
            <p:cNvSpPr txBox="1"/>
            <p:nvPr/>
          </p:nvSpPr>
          <p:spPr>
            <a:xfrm>
              <a:off x="10747816" y="5499151"/>
              <a:ext cx="3064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PE" dirty="0" smtClean="0"/>
                <a:t>n</a:t>
              </a:r>
              <a:endParaRPr lang="es-PE" dirty="0"/>
            </a:p>
          </p:txBody>
        </p:sp>
        <p:sp>
          <p:nvSpPr>
            <p:cNvPr id="24" name="CuadroTexto 23"/>
            <p:cNvSpPr txBox="1"/>
            <p:nvPr/>
          </p:nvSpPr>
          <p:spPr>
            <a:xfrm>
              <a:off x="2771254" y="3914898"/>
              <a:ext cx="47936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PE" dirty="0" smtClean="0"/>
                <a:t>fcl</a:t>
              </a:r>
              <a:r>
                <a:rPr lang="es-PE" baseline="-25000" dirty="0" smtClean="0"/>
                <a:t>2</a:t>
              </a:r>
              <a:endParaRPr lang="es-PE" baseline="-25000" dirty="0"/>
            </a:p>
          </p:txBody>
        </p:sp>
        <p:sp>
          <p:nvSpPr>
            <p:cNvPr id="25" name="CuadroTexto 24"/>
            <p:cNvSpPr txBox="1"/>
            <p:nvPr/>
          </p:nvSpPr>
          <p:spPr>
            <a:xfrm>
              <a:off x="3676747" y="3868054"/>
              <a:ext cx="47936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PE" dirty="0" smtClean="0"/>
                <a:t>fcl</a:t>
              </a:r>
              <a:r>
                <a:rPr lang="es-PE" baseline="-25000" dirty="0" smtClean="0"/>
                <a:t>3</a:t>
              </a:r>
              <a:endParaRPr lang="es-PE" baseline="-25000" dirty="0"/>
            </a:p>
          </p:txBody>
        </p:sp>
        <p:sp>
          <p:nvSpPr>
            <p:cNvPr id="26" name="CuadroTexto 25"/>
            <p:cNvSpPr txBox="1"/>
            <p:nvPr/>
          </p:nvSpPr>
          <p:spPr>
            <a:xfrm>
              <a:off x="4582240" y="3873371"/>
              <a:ext cx="47936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PE" dirty="0" smtClean="0"/>
                <a:t>fcl</a:t>
              </a:r>
              <a:r>
                <a:rPr lang="es-PE" baseline="-25000" dirty="0" smtClean="0"/>
                <a:t>4</a:t>
              </a:r>
              <a:endParaRPr lang="es-PE" baseline="-25000" dirty="0"/>
            </a:p>
          </p:txBody>
        </p:sp>
        <p:sp>
          <p:nvSpPr>
            <p:cNvPr id="27" name="CuadroTexto 26"/>
            <p:cNvSpPr txBox="1"/>
            <p:nvPr/>
          </p:nvSpPr>
          <p:spPr>
            <a:xfrm>
              <a:off x="9784868" y="3871332"/>
              <a:ext cx="60600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PE" dirty="0" smtClean="0"/>
                <a:t>fcl</a:t>
              </a:r>
              <a:r>
                <a:rPr lang="es-PE" baseline="-25000" dirty="0" smtClean="0"/>
                <a:t>n-1</a:t>
              </a:r>
              <a:endParaRPr lang="es-PE" baseline="-25000" dirty="0"/>
            </a:p>
          </p:txBody>
        </p:sp>
        <p:sp>
          <p:nvSpPr>
            <p:cNvPr id="28" name="CuadroTexto 27"/>
            <p:cNvSpPr txBox="1"/>
            <p:nvPr/>
          </p:nvSpPr>
          <p:spPr>
            <a:xfrm>
              <a:off x="10720172" y="3940012"/>
              <a:ext cx="48096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PE" dirty="0" err="1" smtClean="0"/>
                <a:t>fcl</a:t>
              </a:r>
              <a:r>
                <a:rPr lang="es-PE" baseline="-25000" dirty="0" err="1" smtClean="0"/>
                <a:t>n</a:t>
              </a:r>
              <a:endParaRPr lang="es-PE" baseline="-25000" dirty="0"/>
            </a:p>
          </p:txBody>
        </p:sp>
      </p:grpSp>
      <p:sp>
        <p:nvSpPr>
          <p:cNvPr id="3" name="CuadroTexto 2"/>
          <p:cNvSpPr txBox="1"/>
          <p:nvPr/>
        </p:nvSpPr>
        <p:spPr>
          <a:xfrm>
            <a:off x="957557" y="6082832"/>
            <a:ext cx="60991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dirty="0" smtClean="0"/>
              <a:t>Para crear riqueza el flujo actualizado debe superar la inversión.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9829952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 smtClean="0"/>
              <a:t>Dado el flujo: ¿A que tasa actualizar?</a:t>
            </a:r>
            <a:endParaRPr lang="es-PE" dirty="0"/>
          </a:p>
        </p:txBody>
      </p:sp>
      <p:grpSp>
        <p:nvGrpSpPr>
          <p:cNvPr id="4" name="Grupo 3"/>
          <p:cNvGrpSpPr/>
          <p:nvPr/>
        </p:nvGrpSpPr>
        <p:grpSpPr>
          <a:xfrm>
            <a:off x="957557" y="2726894"/>
            <a:ext cx="10243581" cy="3217789"/>
            <a:chOff x="957557" y="2726894"/>
            <a:chExt cx="10243581" cy="3217789"/>
          </a:xfrm>
        </p:grpSpPr>
        <p:cxnSp>
          <p:nvCxnSpPr>
            <p:cNvPr id="5" name="Conector recto 4"/>
            <p:cNvCxnSpPr/>
            <p:nvPr/>
          </p:nvCxnSpPr>
          <p:spPr>
            <a:xfrm>
              <a:off x="1050324" y="5412259"/>
              <a:ext cx="9860692" cy="0"/>
            </a:xfrm>
            <a:prstGeom prst="line">
              <a:avLst/>
            </a:prstGeom>
            <a:ln w="444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Conector recto de flecha 6"/>
            <p:cNvCxnSpPr/>
            <p:nvPr/>
          </p:nvCxnSpPr>
          <p:spPr>
            <a:xfrm flipH="1" flipV="1">
              <a:off x="1075446" y="2726894"/>
              <a:ext cx="32954" cy="2634827"/>
            </a:xfrm>
            <a:prstGeom prst="straightConnector1">
              <a:avLst/>
            </a:prstGeom>
            <a:ln w="317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Conector recto de flecha 7"/>
            <p:cNvCxnSpPr/>
            <p:nvPr/>
          </p:nvCxnSpPr>
          <p:spPr>
            <a:xfrm flipH="1">
              <a:off x="1978761" y="4409735"/>
              <a:ext cx="12357" cy="914400"/>
            </a:xfrm>
            <a:prstGeom prst="straightConnector1">
              <a:avLst/>
            </a:prstGeom>
            <a:ln w="317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Conector recto de flecha 8"/>
            <p:cNvCxnSpPr/>
            <p:nvPr/>
          </p:nvCxnSpPr>
          <p:spPr>
            <a:xfrm flipH="1">
              <a:off x="2895708" y="4447321"/>
              <a:ext cx="12357" cy="914400"/>
            </a:xfrm>
            <a:prstGeom prst="straightConnector1">
              <a:avLst/>
            </a:prstGeom>
            <a:ln w="317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Conector recto de flecha 9"/>
            <p:cNvCxnSpPr/>
            <p:nvPr/>
          </p:nvCxnSpPr>
          <p:spPr>
            <a:xfrm flipH="1">
              <a:off x="3844253" y="4447321"/>
              <a:ext cx="12357" cy="914400"/>
            </a:xfrm>
            <a:prstGeom prst="straightConnector1">
              <a:avLst/>
            </a:prstGeom>
            <a:ln w="317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ector recto de flecha 10"/>
            <p:cNvCxnSpPr/>
            <p:nvPr/>
          </p:nvCxnSpPr>
          <p:spPr>
            <a:xfrm flipH="1">
              <a:off x="4765535" y="4454773"/>
              <a:ext cx="12357" cy="914400"/>
            </a:xfrm>
            <a:prstGeom prst="straightConnector1">
              <a:avLst/>
            </a:prstGeom>
            <a:ln w="317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Conector recto de flecha 11"/>
            <p:cNvCxnSpPr/>
            <p:nvPr/>
          </p:nvCxnSpPr>
          <p:spPr>
            <a:xfrm flipH="1">
              <a:off x="9951741" y="4411687"/>
              <a:ext cx="12357" cy="914400"/>
            </a:xfrm>
            <a:prstGeom prst="straightConnector1">
              <a:avLst/>
            </a:prstGeom>
            <a:ln w="317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ector recto de flecha 12"/>
            <p:cNvCxnSpPr/>
            <p:nvPr/>
          </p:nvCxnSpPr>
          <p:spPr>
            <a:xfrm flipH="1">
              <a:off x="10898659" y="4411687"/>
              <a:ext cx="12357" cy="914400"/>
            </a:xfrm>
            <a:prstGeom prst="straightConnector1">
              <a:avLst/>
            </a:prstGeom>
            <a:ln w="317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CuadroTexto 13"/>
            <p:cNvSpPr txBox="1"/>
            <p:nvPr/>
          </p:nvSpPr>
          <p:spPr>
            <a:xfrm>
              <a:off x="957557" y="5530593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PE" dirty="0" smtClean="0"/>
                <a:t>0</a:t>
              </a:r>
              <a:endParaRPr lang="es-PE" dirty="0"/>
            </a:p>
          </p:txBody>
        </p:sp>
        <p:sp>
          <p:nvSpPr>
            <p:cNvPr id="16" name="CuadroTexto 15"/>
            <p:cNvSpPr txBox="1"/>
            <p:nvPr/>
          </p:nvSpPr>
          <p:spPr>
            <a:xfrm>
              <a:off x="2744865" y="5498432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PE" dirty="0" smtClean="0"/>
                <a:t>2</a:t>
              </a:r>
              <a:endParaRPr lang="es-PE" dirty="0"/>
            </a:p>
          </p:txBody>
        </p:sp>
        <p:sp>
          <p:nvSpPr>
            <p:cNvPr id="17" name="CuadroTexto 16"/>
            <p:cNvSpPr txBox="1"/>
            <p:nvPr/>
          </p:nvSpPr>
          <p:spPr>
            <a:xfrm>
              <a:off x="1795938" y="5499151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PE" dirty="0" smtClean="0"/>
                <a:t>1</a:t>
              </a:r>
              <a:endParaRPr lang="es-PE" dirty="0"/>
            </a:p>
          </p:txBody>
        </p:sp>
        <p:sp>
          <p:nvSpPr>
            <p:cNvPr id="18" name="CuadroTexto 17"/>
            <p:cNvSpPr txBox="1"/>
            <p:nvPr/>
          </p:nvSpPr>
          <p:spPr>
            <a:xfrm>
              <a:off x="4614692" y="555305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PE" dirty="0" smtClean="0"/>
                <a:t>4</a:t>
              </a:r>
              <a:endParaRPr lang="es-PE" dirty="0"/>
            </a:p>
          </p:txBody>
        </p:sp>
        <p:sp>
          <p:nvSpPr>
            <p:cNvPr id="19" name="CuadroTexto 18"/>
            <p:cNvSpPr txBox="1"/>
            <p:nvPr/>
          </p:nvSpPr>
          <p:spPr>
            <a:xfrm>
              <a:off x="3693410" y="5522754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PE" dirty="0" smtClean="0"/>
                <a:t>3</a:t>
              </a:r>
              <a:endParaRPr lang="es-PE" dirty="0"/>
            </a:p>
          </p:txBody>
        </p:sp>
        <p:sp>
          <p:nvSpPr>
            <p:cNvPr id="20" name="CuadroTexto 19"/>
            <p:cNvSpPr txBox="1"/>
            <p:nvPr/>
          </p:nvSpPr>
          <p:spPr>
            <a:xfrm>
              <a:off x="1795938" y="3868054"/>
              <a:ext cx="47936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PE" dirty="0" smtClean="0"/>
                <a:t>fcl</a:t>
              </a:r>
              <a:r>
                <a:rPr lang="es-PE" baseline="-25000" dirty="0" smtClean="0"/>
                <a:t>1</a:t>
              </a:r>
              <a:endParaRPr lang="es-PE" baseline="-25000" dirty="0"/>
            </a:p>
          </p:txBody>
        </p:sp>
        <p:sp>
          <p:nvSpPr>
            <p:cNvPr id="22" name="CuadroTexto 21"/>
            <p:cNvSpPr txBox="1"/>
            <p:nvPr/>
          </p:nvSpPr>
          <p:spPr>
            <a:xfrm>
              <a:off x="9717075" y="5575351"/>
              <a:ext cx="4940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PE" dirty="0" smtClean="0"/>
                <a:t>n-1</a:t>
              </a:r>
              <a:endParaRPr lang="es-PE" dirty="0"/>
            </a:p>
          </p:txBody>
        </p:sp>
        <p:sp>
          <p:nvSpPr>
            <p:cNvPr id="23" name="CuadroTexto 22"/>
            <p:cNvSpPr txBox="1"/>
            <p:nvPr/>
          </p:nvSpPr>
          <p:spPr>
            <a:xfrm>
              <a:off x="10747816" y="5499151"/>
              <a:ext cx="3064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PE" dirty="0" smtClean="0"/>
                <a:t>n</a:t>
              </a:r>
              <a:endParaRPr lang="es-PE" dirty="0"/>
            </a:p>
          </p:txBody>
        </p:sp>
        <p:sp>
          <p:nvSpPr>
            <p:cNvPr id="24" name="CuadroTexto 23"/>
            <p:cNvSpPr txBox="1"/>
            <p:nvPr/>
          </p:nvSpPr>
          <p:spPr>
            <a:xfrm>
              <a:off x="2771254" y="3914898"/>
              <a:ext cx="47936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PE" dirty="0" smtClean="0"/>
                <a:t>fcl</a:t>
              </a:r>
              <a:r>
                <a:rPr lang="es-PE" baseline="-25000" dirty="0" smtClean="0"/>
                <a:t>2</a:t>
              </a:r>
              <a:endParaRPr lang="es-PE" baseline="-25000" dirty="0"/>
            </a:p>
          </p:txBody>
        </p:sp>
        <p:sp>
          <p:nvSpPr>
            <p:cNvPr id="25" name="CuadroTexto 24"/>
            <p:cNvSpPr txBox="1"/>
            <p:nvPr/>
          </p:nvSpPr>
          <p:spPr>
            <a:xfrm>
              <a:off x="3676747" y="3868054"/>
              <a:ext cx="47936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PE" dirty="0" smtClean="0"/>
                <a:t>fcl</a:t>
              </a:r>
              <a:r>
                <a:rPr lang="es-PE" baseline="-25000" dirty="0" smtClean="0"/>
                <a:t>3</a:t>
              </a:r>
              <a:endParaRPr lang="es-PE" baseline="-25000" dirty="0"/>
            </a:p>
          </p:txBody>
        </p:sp>
        <p:sp>
          <p:nvSpPr>
            <p:cNvPr id="26" name="CuadroTexto 25"/>
            <p:cNvSpPr txBox="1"/>
            <p:nvPr/>
          </p:nvSpPr>
          <p:spPr>
            <a:xfrm>
              <a:off x="4582240" y="3873371"/>
              <a:ext cx="47936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PE" dirty="0" smtClean="0"/>
                <a:t>fcl</a:t>
              </a:r>
              <a:r>
                <a:rPr lang="es-PE" baseline="-25000" dirty="0" smtClean="0"/>
                <a:t>4</a:t>
              </a:r>
              <a:endParaRPr lang="es-PE" baseline="-25000" dirty="0"/>
            </a:p>
          </p:txBody>
        </p:sp>
        <p:sp>
          <p:nvSpPr>
            <p:cNvPr id="27" name="CuadroTexto 26"/>
            <p:cNvSpPr txBox="1"/>
            <p:nvPr/>
          </p:nvSpPr>
          <p:spPr>
            <a:xfrm>
              <a:off x="9784868" y="3871332"/>
              <a:ext cx="60600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PE" dirty="0" smtClean="0"/>
                <a:t>fcl</a:t>
              </a:r>
              <a:r>
                <a:rPr lang="es-PE" baseline="-25000" dirty="0" smtClean="0"/>
                <a:t>n-1</a:t>
              </a:r>
              <a:endParaRPr lang="es-PE" baseline="-25000" dirty="0"/>
            </a:p>
          </p:txBody>
        </p:sp>
        <p:sp>
          <p:nvSpPr>
            <p:cNvPr id="28" name="CuadroTexto 27"/>
            <p:cNvSpPr txBox="1"/>
            <p:nvPr/>
          </p:nvSpPr>
          <p:spPr>
            <a:xfrm>
              <a:off x="10720172" y="3940012"/>
              <a:ext cx="48096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PE" dirty="0" err="1" smtClean="0"/>
                <a:t>fcl</a:t>
              </a:r>
              <a:r>
                <a:rPr lang="es-PE" baseline="-25000" dirty="0" err="1" smtClean="0"/>
                <a:t>n</a:t>
              </a:r>
              <a:endParaRPr lang="es-PE" baseline="-25000" dirty="0"/>
            </a:p>
          </p:txBody>
        </p:sp>
      </p:grpSp>
      <p:sp>
        <p:nvSpPr>
          <p:cNvPr id="3" name="CuadroTexto 2"/>
          <p:cNvSpPr txBox="1"/>
          <p:nvPr/>
        </p:nvSpPr>
        <p:spPr>
          <a:xfrm>
            <a:off x="957557" y="6082832"/>
            <a:ext cx="60991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dirty="0" smtClean="0"/>
              <a:t>Para crear riqueza el flujo actualizado debe superar la inversión.</a:t>
            </a:r>
            <a:endParaRPr lang="es-PE" dirty="0"/>
          </a:p>
        </p:txBody>
      </p:sp>
      <p:sp>
        <p:nvSpPr>
          <p:cNvPr id="6" name="Elipse 5"/>
          <p:cNvSpPr/>
          <p:nvPr/>
        </p:nvSpPr>
        <p:spPr>
          <a:xfrm>
            <a:off x="3856609" y="2100943"/>
            <a:ext cx="813361" cy="838200"/>
          </a:xfrm>
          <a:prstGeom prst="ellipse">
            <a:avLst/>
          </a:prstGeom>
          <a:solidFill>
            <a:srgbClr val="FFFF00"/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9" name="Elipse 28"/>
          <p:cNvSpPr/>
          <p:nvPr/>
        </p:nvSpPr>
        <p:spPr>
          <a:xfrm>
            <a:off x="5573989" y="2100943"/>
            <a:ext cx="813361" cy="838200"/>
          </a:xfrm>
          <a:prstGeom prst="ellipse">
            <a:avLst/>
          </a:prstGeom>
          <a:solidFill>
            <a:srgbClr val="FFFF00"/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30" name="Elipse 29"/>
          <p:cNvSpPr/>
          <p:nvPr/>
        </p:nvSpPr>
        <p:spPr>
          <a:xfrm>
            <a:off x="7291369" y="2100943"/>
            <a:ext cx="813361" cy="838200"/>
          </a:xfrm>
          <a:prstGeom prst="ellipse">
            <a:avLst/>
          </a:prstGeom>
          <a:solidFill>
            <a:srgbClr val="FFFF00"/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cxnSp>
        <p:nvCxnSpPr>
          <p:cNvPr id="21" name="Conector recto 20"/>
          <p:cNvCxnSpPr/>
          <p:nvPr/>
        </p:nvCxnSpPr>
        <p:spPr>
          <a:xfrm>
            <a:off x="3995096" y="2449285"/>
            <a:ext cx="239594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ector recto 30"/>
          <p:cNvCxnSpPr/>
          <p:nvPr/>
        </p:nvCxnSpPr>
        <p:spPr>
          <a:xfrm>
            <a:off x="4342646" y="2449285"/>
            <a:ext cx="239594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Arco 31"/>
          <p:cNvSpPr/>
          <p:nvPr/>
        </p:nvSpPr>
        <p:spPr>
          <a:xfrm rot="7848801">
            <a:off x="3881243" y="1950869"/>
            <a:ext cx="708814" cy="820781"/>
          </a:xfrm>
          <a:prstGeom prst="arc">
            <a:avLst>
              <a:gd name="adj1" fmla="val 16322030"/>
              <a:gd name="adj2" fmla="val 0"/>
            </a:avLst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33" name="Arco 32"/>
          <p:cNvSpPr/>
          <p:nvPr/>
        </p:nvSpPr>
        <p:spPr>
          <a:xfrm rot="7848801">
            <a:off x="5606241" y="1992292"/>
            <a:ext cx="708814" cy="820781"/>
          </a:xfrm>
          <a:prstGeom prst="arc">
            <a:avLst>
              <a:gd name="adj1" fmla="val 16322030"/>
              <a:gd name="adj2" fmla="val 0"/>
            </a:avLst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34" name="Arco 33"/>
          <p:cNvSpPr/>
          <p:nvPr/>
        </p:nvSpPr>
        <p:spPr>
          <a:xfrm rot="7848801">
            <a:off x="7313293" y="1992292"/>
            <a:ext cx="708814" cy="820781"/>
          </a:xfrm>
          <a:prstGeom prst="arc">
            <a:avLst>
              <a:gd name="adj1" fmla="val 16322030"/>
              <a:gd name="adj2" fmla="val 0"/>
            </a:avLst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35" name="Elipse 34"/>
          <p:cNvSpPr/>
          <p:nvPr/>
        </p:nvSpPr>
        <p:spPr>
          <a:xfrm>
            <a:off x="6096000" y="2385932"/>
            <a:ext cx="162782" cy="13411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36" name="Elipse 35"/>
          <p:cNvSpPr/>
          <p:nvPr/>
        </p:nvSpPr>
        <p:spPr>
          <a:xfrm>
            <a:off x="5753604" y="2412627"/>
            <a:ext cx="162782" cy="13411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37" name="Elipse 36"/>
          <p:cNvSpPr/>
          <p:nvPr/>
        </p:nvSpPr>
        <p:spPr>
          <a:xfrm>
            <a:off x="7815942" y="2385932"/>
            <a:ext cx="162782" cy="13411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cxnSp>
        <p:nvCxnSpPr>
          <p:cNvPr id="38" name="Conector recto 37"/>
          <p:cNvCxnSpPr/>
          <p:nvPr/>
        </p:nvCxnSpPr>
        <p:spPr>
          <a:xfrm>
            <a:off x="7458455" y="2471056"/>
            <a:ext cx="239594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593549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 smtClean="0"/>
              <a:t>Fuentes de financiamiento</a:t>
            </a:r>
            <a:endParaRPr lang="es-PE" dirty="0"/>
          </a:p>
        </p:txBody>
      </p:sp>
      <p:grpSp>
        <p:nvGrpSpPr>
          <p:cNvPr id="13" name="Grupo 12"/>
          <p:cNvGrpSpPr/>
          <p:nvPr/>
        </p:nvGrpSpPr>
        <p:grpSpPr>
          <a:xfrm>
            <a:off x="1903935" y="1771754"/>
            <a:ext cx="8226654" cy="4495801"/>
            <a:chOff x="1903935" y="1771754"/>
            <a:chExt cx="8226654" cy="4495801"/>
          </a:xfrm>
        </p:grpSpPr>
        <p:pic>
          <p:nvPicPr>
            <p:cNvPr id="1026" name="Picture 2" descr="Resultado de imagen para dinero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36249" y="3315638"/>
              <a:ext cx="1240088" cy="118841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" name="CuadroTexto 2"/>
            <p:cNvSpPr txBox="1"/>
            <p:nvPr/>
          </p:nvSpPr>
          <p:spPr>
            <a:xfrm>
              <a:off x="1903935" y="2667287"/>
              <a:ext cx="130471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PE" sz="1400" dirty="0" smtClean="0"/>
                <a:t>Dispone capital</a:t>
              </a:r>
              <a:endParaRPr lang="es-PE" sz="1400" dirty="0"/>
            </a:p>
          </p:txBody>
        </p:sp>
        <p:sp>
          <p:nvSpPr>
            <p:cNvPr id="5" name="Rectángulo 4"/>
            <p:cNvSpPr/>
            <p:nvPr/>
          </p:nvSpPr>
          <p:spPr>
            <a:xfrm>
              <a:off x="3910262" y="1771754"/>
              <a:ext cx="1287379" cy="90813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PE" sz="1400" dirty="0" smtClean="0"/>
                <a:t>Invierte todo</a:t>
              </a:r>
              <a:endParaRPr lang="es-PE" sz="1400" dirty="0"/>
            </a:p>
          </p:txBody>
        </p:sp>
        <p:sp>
          <p:nvSpPr>
            <p:cNvPr id="7" name="Rectángulo 6"/>
            <p:cNvSpPr/>
            <p:nvPr/>
          </p:nvSpPr>
          <p:spPr>
            <a:xfrm>
              <a:off x="3910263" y="3669088"/>
              <a:ext cx="1287379" cy="90813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PE" sz="1400" dirty="0" smtClean="0"/>
                <a:t>Invierte una parte</a:t>
              </a:r>
              <a:endParaRPr lang="es-PE" sz="1400" dirty="0"/>
            </a:p>
          </p:txBody>
        </p:sp>
        <p:sp>
          <p:nvSpPr>
            <p:cNvPr id="8" name="Rectángulo 7"/>
            <p:cNvSpPr/>
            <p:nvPr/>
          </p:nvSpPr>
          <p:spPr>
            <a:xfrm>
              <a:off x="3916027" y="5359422"/>
              <a:ext cx="1287379" cy="90813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PE" sz="1400" dirty="0" smtClean="0"/>
                <a:t>Se presta todo</a:t>
              </a:r>
              <a:endParaRPr lang="es-PE" sz="1400" dirty="0"/>
            </a:p>
          </p:txBody>
        </p:sp>
        <p:sp>
          <p:nvSpPr>
            <p:cNvPr id="9" name="CuadroTexto 8"/>
            <p:cNvSpPr txBox="1"/>
            <p:nvPr/>
          </p:nvSpPr>
          <p:spPr>
            <a:xfrm>
              <a:off x="2048314" y="5042299"/>
              <a:ext cx="133517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PE" sz="1400" dirty="0" smtClean="0"/>
                <a:t>No tiene capital</a:t>
              </a:r>
              <a:endParaRPr lang="es-PE" sz="1400" dirty="0"/>
            </a:p>
          </p:txBody>
        </p:sp>
        <p:sp>
          <p:nvSpPr>
            <p:cNvPr id="10" name="CuadroTexto 9"/>
            <p:cNvSpPr txBox="1"/>
            <p:nvPr/>
          </p:nvSpPr>
          <p:spPr>
            <a:xfrm>
              <a:off x="6096000" y="1984350"/>
              <a:ext cx="862224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PE" sz="1400" dirty="0" smtClean="0"/>
                <a:t>Costo de </a:t>
              </a:r>
            </a:p>
            <a:p>
              <a:r>
                <a:rPr lang="es-PE" sz="1400" dirty="0" smtClean="0"/>
                <a:t>capital</a:t>
              </a:r>
              <a:endParaRPr lang="es-PE" sz="1400" dirty="0"/>
            </a:p>
          </p:txBody>
        </p:sp>
        <p:sp>
          <p:nvSpPr>
            <p:cNvPr id="11" name="CuadroTexto 10"/>
            <p:cNvSpPr txBox="1"/>
            <p:nvPr/>
          </p:nvSpPr>
          <p:spPr>
            <a:xfrm>
              <a:off x="5856532" y="3847673"/>
              <a:ext cx="1327736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s-PE" sz="1400" dirty="0" smtClean="0"/>
                <a:t>Representativo </a:t>
              </a:r>
            </a:p>
            <a:p>
              <a:r>
                <a:rPr lang="es-PE" sz="1400" dirty="0" smtClean="0"/>
                <a:t>Propio + deuda</a:t>
              </a:r>
              <a:endParaRPr lang="es-PE" sz="1400" dirty="0"/>
            </a:p>
          </p:txBody>
        </p:sp>
        <p:sp>
          <p:nvSpPr>
            <p:cNvPr id="12" name="CuadroTexto 11"/>
            <p:cNvSpPr txBox="1"/>
            <p:nvPr/>
          </p:nvSpPr>
          <p:spPr>
            <a:xfrm>
              <a:off x="6096000" y="5659599"/>
              <a:ext cx="149060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PE" sz="1400" dirty="0" smtClean="0"/>
                <a:t>Costo de la deuda</a:t>
              </a:r>
              <a:endParaRPr lang="es-PE" sz="1400" dirty="0"/>
            </a:p>
          </p:txBody>
        </p:sp>
        <p:sp>
          <p:nvSpPr>
            <p:cNvPr id="6" name="Elipse 5"/>
            <p:cNvSpPr/>
            <p:nvPr/>
          </p:nvSpPr>
          <p:spPr>
            <a:xfrm>
              <a:off x="8614610" y="3492836"/>
              <a:ext cx="1515979" cy="114179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PE" sz="1400" dirty="0" smtClean="0"/>
                <a:t>Tasa de descuento</a:t>
              </a:r>
              <a:endParaRPr lang="es-PE" sz="1400" dirty="0"/>
            </a:p>
          </p:txBody>
        </p:sp>
        <p:cxnSp>
          <p:nvCxnSpPr>
            <p:cNvPr id="14" name="Conector recto 13"/>
            <p:cNvCxnSpPr>
              <a:stCxn id="1026" idx="0"/>
              <a:endCxn id="3" idx="2"/>
            </p:cNvCxnSpPr>
            <p:nvPr/>
          </p:nvCxnSpPr>
          <p:spPr>
            <a:xfrm flipV="1">
              <a:off x="2556293" y="2975064"/>
              <a:ext cx="0" cy="34057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ector recto 16"/>
            <p:cNvCxnSpPr/>
            <p:nvPr/>
          </p:nvCxnSpPr>
          <p:spPr>
            <a:xfrm flipV="1">
              <a:off x="2556293" y="2209421"/>
              <a:ext cx="0" cy="34057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ector recto de flecha 18"/>
            <p:cNvCxnSpPr>
              <a:endCxn id="5" idx="1"/>
            </p:cNvCxnSpPr>
            <p:nvPr/>
          </p:nvCxnSpPr>
          <p:spPr>
            <a:xfrm>
              <a:off x="2556293" y="2225819"/>
              <a:ext cx="1353969" cy="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ector recto 20"/>
            <p:cNvCxnSpPr>
              <a:endCxn id="1026" idx="2"/>
            </p:cNvCxnSpPr>
            <p:nvPr/>
          </p:nvCxnSpPr>
          <p:spPr>
            <a:xfrm flipV="1">
              <a:off x="2556293" y="4504056"/>
              <a:ext cx="0" cy="53824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Conector recto 24"/>
            <p:cNvCxnSpPr/>
            <p:nvPr/>
          </p:nvCxnSpPr>
          <p:spPr>
            <a:xfrm flipV="1">
              <a:off x="2556293" y="5489312"/>
              <a:ext cx="0" cy="34057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Conector recto de flecha 25"/>
            <p:cNvCxnSpPr/>
            <p:nvPr/>
          </p:nvCxnSpPr>
          <p:spPr>
            <a:xfrm>
              <a:off x="2556293" y="5826323"/>
              <a:ext cx="1353969" cy="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Conector recto de flecha 26"/>
            <p:cNvCxnSpPr>
              <a:endCxn id="7" idx="1"/>
            </p:cNvCxnSpPr>
            <p:nvPr/>
          </p:nvCxnSpPr>
          <p:spPr>
            <a:xfrm>
              <a:off x="3080084" y="4123154"/>
              <a:ext cx="830179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Conector recto 29"/>
            <p:cNvCxnSpPr>
              <a:stCxn id="5" idx="3"/>
              <a:endCxn id="10" idx="1"/>
            </p:cNvCxnSpPr>
            <p:nvPr/>
          </p:nvCxnSpPr>
          <p:spPr>
            <a:xfrm>
              <a:off x="5197641" y="2225821"/>
              <a:ext cx="898359" cy="2013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Conector recto 31"/>
            <p:cNvCxnSpPr/>
            <p:nvPr/>
          </p:nvCxnSpPr>
          <p:spPr>
            <a:xfrm flipV="1">
              <a:off x="6934199" y="2200448"/>
              <a:ext cx="898359" cy="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Conector recto 32"/>
            <p:cNvCxnSpPr/>
            <p:nvPr/>
          </p:nvCxnSpPr>
          <p:spPr>
            <a:xfrm flipV="1">
              <a:off x="6993506" y="4063734"/>
              <a:ext cx="898359" cy="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Conector recto 33"/>
            <p:cNvCxnSpPr>
              <a:stCxn id="12" idx="3"/>
            </p:cNvCxnSpPr>
            <p:nvPr/>
          </p:nvCxnSpPr>
          <p:spPr>
            <a:xfrm>
              <a:off x="7586601" y="5813488"/>
              <a:ext cx="542836" cy="1283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Conector recto 34"/>
            <p:cNvCxnSpPr/>
            <p:nvPr/>
          </p:nvCxnSpPr>
          <p:spPr>
            <a:xfrm flipV="1">
              <a:off x="5197641" y="4096596"/>
              <a:ext cx="898359" cy="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Conector recto 35"/>
            <p:cNvCxnSpPr/>
            <p:nvPr/>
          </p:nvCxnSpPr>
          <p:spPr>
            <a:xfrm flipV="1">
              <a:off x="5209171" y="5808379"/>
              <a:ext cx="898359" cy="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Conector recto de flecha 36"/>
            <p:cNvCxnSpPr/>
            <p:nvPr/>
          </p:nvCxnSpPr>
          <p:spPr>
            <a:xfrm>
              <a:off x="7832558" y="2209421"/>
              <a:ext cx="1251284" cy="128341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Conector recto de flecha 38"/>
            <p:cNvCxnSpPr/>
            <p:nvPr/>
          </p:nvCxnSpPr>
          <p:spPr>
            <a:xfrm>
              <a:off x="7889475" y="4063734"/>
              <a:ext cx="725134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Conector recto de flecha 41"/>
            <p:cNvCxnSpPr/>
            <p:nvPr/>
          </p:nvCxnSpPr>
          <p:spPr>
            <a:xfrm flipV="1">
              <a:off x="8129437" y="4634634"/>
              <a:ext cx="954405" cy="117374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9380977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 smtClean="0"/>
              <a:t>La tasa de actualización</a:t>
            </a:r>
            <a:endParaRPr lang="es-PE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PE" dirty="0" smtClean="0"/>
              <a:t>Tasa a la cual se actualizarán los FCL</a:t>
            </a:r>
          </a:p>
          <a:p>
            <a:pPr marL="0" indent="0">
              <a:buNone/>
            </a:pPr>
            <a:endParaRPr lang="es-PE" dirty="0" smtClean="0"/>
          </a:p>
          <a:p>
            <a:pPr marL="0" indent="0">
              <a:buNone/>
            </a:pPr>
            <a:r>
              <a:rPr lang="es-PE" dirty="0" smtClean="0"/>
              <a:t>Las fuentes que permiten evaluarla son las siguientes:</a:t>
            </a:r>
          </a:p>
          <a:p>
            <a:r>
              <a:rPr lang="es-PE" dirty="0" smtClean="0"/>
              <a:t>Costo de oportunidad de capital de los inversionistas (cok)</a:t>
            </a:r>
          </a:p>
          <a:p>
            <a:r>
              <a:rPr lang="es-PE" dirty="0"/>
              <a:t>Costo de los activos financieros (CAPM</a:t>
            </a:r>
            <a:r>
              <a:rPr lang="es-PE" dirty="0" smtClean="0"/>
              <a:t>)</a:t>
            </a:r>
          </a:p>
          <a:p>
            <a:r>
              <a:rPr lang="es-PE" dirty="0" smtClean="0"/>
              <a:t>Costo de la deuda (</a:t>
            </a:r>
            <a:r>
              <a:rPr lang="es-PE" dirty="0" err="1" smtClean="0"/>
              <a:t>Kd</a:t>
            </a:r>
            <a:r>
              <a:rPr lang="es-PE" dirty="0" smtClean="0"/>
              <a:t>)</a:t>
            </a:r>
            <a:endParaRPr lang="es-PE" dirty="0"/>
          </a:p>
          <a:p>
            <a:r>
              <a:rPr lang="es-PE" dirty="0" smtClean="0"/>
              <a:t>Costo </a:t>
            </a:r>
            <a:r>
              <a:rPr lang="es-PE" dirty="0"/>
              <a:t>ponderado de capital (WACC</a:t>
            </a:r>
            <a:r>
              <a:rPr lang="es-PE" dirty="0" smtClean="0"/>
              <a:t>)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4631351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 smtClean="0"/>
              <a:t>Costo de oportunidad de capital (cok) de los inversionistas</a:t>
            </a:r>
            <a:endParaRPr lang="es-PE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838200" y="3624943"/>
            <a:ext cx="10515600" cy="2552020"/>
          </a:xfrm>
        </p:spPr>
        <p:txBody>
          <a:bodyPr/>
          <a:lstStyle/>
          <a:p>
            <a:r>
              <a:rPr lang="es-PE" dirty="0" smtClean="0"/>
              <a:t>Este es el costo del dinero de un inversionista, según la mayor oportunidad en la cual tiene invertido su dinero.</a:t>
            </a:r>
          </a:p>
          <a:p>
            <a:pPr marL="0" indent="0">
              <a:buNone/>
            </a:pP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6118356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lipse 5"/>
          <p:cNvSpPr/>
          <p:nvPr/>
        </p:nvSpPr>
        <p:spPr>
          <a:xfrm>
            <a:off x="1519780" y="2770909"/>
            <a:ext cx="3038764" cy="2669309"/>
          </a:xfrm>
          <a:prstGeom prst="ellipse">
            <a:avLst/>
          </a:prstGeom>
          <a:solidFill>
            <a:schemeClr val="accent1">
              <a:alpha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7" name="Elipse 6"/>
          <p:cNvSpPr/>
          <p:nvPr/>
        </p:nvSpPr>
        <p:spPr>
          <a:xfrm>
            <a:off x="1519780" y="2351315"/>
            <a:ext cx="4619763" cy="3461656"/>
          </a:xfrm>
          <a:prstGeom prst="ellipse">
            <a:avLst/>
          </a:prstGeom>
          <a:solidFill>
            <a:schemeClr val="accent1">
              <a:alpha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8" name="Elipse 7"/>
          <p:cNvSpPr/>
          <p:nvPr/>
        </p:nvSpPr>
        <p:spPr>
          <a:xfrm>
            <a:off x="1519780" y="1846777"/>
            <a:ext cx="6307049" cy="4517571"/>
          </a:xfrm>
          <a:prstGeom prst="ellipse">
            <a:avLst/>
          </a:prstGeom>
          <a:solidFill>
            <a:schemeClr val="accent1">
              <a:alpha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 smtClean="0"/>
              <a:t>¿En que círculo te mueves?</a:t>
            </a:r>
            <a:endParaRPr lang="es-PE" dirty="0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6418" y="3600884"/>
            <a:ext cx="1332744" cy="906462"/>
          </a:xfrm>
          <a:prstGeom prst="rect">
            <a:avLst/>
          </a:prstGeom>
          <a:effectLst>
            <a:glow rad="127000">
              <a:schemeClr val="accent1">
                <a:alpha val="24000"/>
              </a:schemeClr>
            </a:glow>
          </a:effectLst>
        </p:spPr>
      </p:pic>
      <p:sp>
        <p:nvSpPr>
          <p:cNvPr id="9" name="Estrella de 5 puntas 8"/>
          <p:cNvSpPr/>
          <p:nvPr/>
        </p:nvSpPr>
        <p:spPr>
          <a:xfrm>
            <a:off x="3233057" y="3472543"/>
            <a:ext cx="402772" cy="381000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0" name="Estrella de 5 puntas 9"/>
          <p:cNvSpPr/>
          <p:nvPr/>
        </p:nvSpPr>
        <p:spPr>
          <a:xfrm>
            <a:off x="3635829" y="4555177"/>
            <a:ext cx="402772" cy="381000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1" name="Estrella de 5 puntas 10"/>
          <p:cNvSpPr/>
          <p:nvPr/>
        </p:nvSpPr>
        <p:spPr>
          <a:xfrm>
            <a:off x="4798028" y="2961409"/>
            <a:ext cx="402772" cy="381000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2" name="Estrella de 5 puntas 11"/>
          <p:cNvSpPr/>
          <p:nvPr/>
        </p:nvSpPr>
        <p:spPr>
          <a:xfrm>
            <a:off x="5535386" y="4316846"/>
            <a:ext cx="402772" cy="381000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3" name="Estrella de 5 puntas 12"/>
          <p:cNvSpPr/>
          <p:nvPr/>
        </p:nvSpPr>
        <p:spPr>
          <a:xfrm>
            <a:off x="6379027" y="2580409"/>
            <a:ext cx="402772" cy="381000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4" name="Rectángulo 13"/>
          <p:cNvSpPr/>
          <p:nvPr/>
        </p:nvSpPr>
        <p:spPr>
          <a:xfrm>
            <a:off x="6781799" y="5571760"/>
            <a:ext cx="6096000" cy="138499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s-PE" sz="1400" dirty="0"/>
              <a:t>Una persona en la isla de los Uros</a:t>
            </a:r>
          </a:p>
          <a:p>
            <a:r>
              <a:rPr lang="es-PE" sz="1400" dirty="0"/>
              <a:t>La misma persona en Arequipa</a:t>
            </a:r>
          </a:p>
          <a:p>
            <a:r>
              <a:rPr lang="es-PE" sz="1400" dirty="0"/>
              <a:t>La misma persona en Lima</a:t>
            </a:r>
          </a:p>
          <a:p>
            <a:r>
              <a:rPr lang="es-PE" sz="1400" dirty="0"/>
              <a:t>La misma persona en Nueva York</a:t>
            </a:r>
          </a:p>
          <a:p>
            <a:r>
              <a:rPr lang="es-PE" sz="1400" dirty="0"/>
              <a:t>Una misma persona con distintas posibilidades de inversión: opciones y conocimiento de las opciones.</a:t>
            </a:r>
          </a:p>
        </p:txBody>
      </p:sp>
    </p:spTree>
    <p:extLst>
      <p:ext uri="{BB962C8B-B14F-4D97-AF65-F5344CB8AC3E}">
        <p14:creationId xmlns:p14="http://schemas.microsoft.com/office/powerpoint/2010/main" val="7110426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upo 21"/>
          <p:cNvGrpSpPr/>
          <p:nvPr/>
        </p:nvGrpSpPr>
        <p:grpSpPr>
          <a:xfrm>
            <a:off x="1197100" y="1003465"/>
            <a:ext cx="7219101" cy="5052290"/>
            <a:chOff x="2623128" y="1025237"/>
            <a:chExt cx="7219101" cy="5052290"/>
          </a:xfrm>
        </p:grpSpPr>
        <p:sp>
          <p:nvSpPr>
            <p:cNvPr id="4" name="Rectángulo 3"/>
            <p:cNvSpPr/>
            <p:nvPr/>
          </p:nvSpPr>
          <p:spPr>
            <a:xfrm>
              <a:off x="2623128" y="2955637"/>
              <a:ext cx="1560946" cy="86821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MX" dirty="0" smtClean="0"/>
                <a:t>Capital</a:t>
              </a:r>
              <a:endParaRPr lang="es-PE" dirty="0"/>
            </a:p>
          </p:txBody>
        </p:sp>
        <p:sp>
          <p:nvSpPr>
            <p:cNvPr id="5" name="Rectángulo 4"/>
            <p:cNvSpPr/>
            <p:nvPr/>
          </p:nvSpPr>
          <p:spPr>
            <a:xfrm>
              <a:off x="5347855" y="1025237"/>
              <a:ext cx="1570182" cy="236450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MX" dirty="0" smtClean="0"/>
                <a:t>Opción 1</a:t>
              </a:r>
            </a:p>
            <a:p>
              <a:pPr algn="ctr"/>
              <a:r>
                <a:rPr lang="es-MX" dirty="0" smtClean="0"/>
                <a:t>Opción 2</a:t>
              </a:r>
            </a:p>
            <a:p>
              <a:pPr algn="ctr"/>
              <a:r>
                <a:rPr lang="es-MX" dirty="0" smtClean="0"/>
                <a:t>Opción 3</a:t>
              </a:r>
            </a:p>
            <a:p>
              <a:pPr algn="ctr"/>
              <a:r>
                <a:rPr lang="es-MX" dirty="0" smtClean="0"/>
                <a:t>.</a:t>
              </a:r>
            </a:p>
            <a:p>
              <a:pPr algn="ctr"/>
              <a:r>
                <a:rPr lang="es-MX" dirty="0" smtClean="0"/>
                <a:t>.</a:t>
              </a:r>
            </a:p>
            <a:p>
              <a:pPr algn="ctr"/>
              <a:r>
                <a:rPr lang="es-MX" dirty="0" smtClean="0"/>
                <a:t>.</a:t>
              </a:r>
            </a:p>
            <a:p>
              <a:pPr algn="ctr"/>
              <a:r>
                <a:rPr lang="es-MX" dirty="0" smtClean="0"/>
                <a:t>Opción n</a:t>
              </a:r>
            </a:p>
          </p:txBody>
        </p:sp>
        <p:sp>
          <p:nvSpPr>
            <p:cNvPr id="6" name="CuadroTexto 5"/>
            <p:cNvSpPr txBox="1"/>
            <p:nvPr/>
          </p:nvSpPr>
          <p:spPr>
            <a:xfrm>
              <a:off x="7027035" y="1173079"/>
              <a:ext cx="28151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MX" dirty="0" smtClean="0"/>
                <a:t>Opciones de riesgo similar 1</a:t>
              </a:r>
              <a:endParaRPr lang="es-PE" dirty="0"/>
            </a:p>
          </p:txBody>
        </p:sp>
        <p:cxnSp>
          <p:nvCxnSpPr>
            <p:cNvPr id="8" name="Conector recto 7"/>
            <p:cNvCxnSpPr>
              <a:stCxn id="4" idx="3"/>
            </p:cNvCxnSpPr>
            <p:nvPr/>
          </p:nvCxnSpPr>
          <p:spPr>
            <a:xfrm flipV="1">
              <a:off x="4184074" y="1357745"/>
              <a:ext cx="1163781" cy="203200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Conector recto 9"/>
            <p:cNvCxnSpPr>
              <a:stCxn id="4" idx="3"/>
            </p:cNvCxnSpPr>
            <p:nvPr/>
          </p:nvCxnSpPr>
          <p:spPr>
            <a:xfrm>
              <a:off x="4184074" y="3389746"/>
              <a:ext cx="1163781" cy="231832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Rectángulo 12"/>
            <p:cNvSpPr/>
            <p:nvPr/>
          </p:nvSpPr>
          <p:spPr>
            <a:xfrm>
              <a:off x="5347855" y="3713018"/>
              <a:ext cx="1570182" cy="236450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MX" dirty="0" smtClean="0"/>
                <a:t>Opción 1</a:t>
              </a:r>
            </a:p>
            <a:p>
              <a:pPr algn="ctr"/>
              <a:r>
                <a:rPr lang="es-MX" dirty="0" smtClean="0"/>
                <a:t>Opción 2</a:t>
              </a:r>
            </a:p>
            <a:p>
              <a:pPr algn="ctr"/>
              <a:r>
                <a:rPr lang="es-MX" dirty="0" smtClean="0"/>
                <a:t>Opción 3</a:t>
              </a:r>
            </a:p>
            <a:p>
              <a:pPr algn="ctr"/>
              <a:r>
                <a:rPr lang="es-MX" dirty="0" smtClean="0"/>
                <a:t>.</a:t>
              </a:r>
            </a:p>
            <a:p>
              <a:pPr algn="ctr"/>
              <a:r>
                <a:rPr lang="es-MX" dirty="0" smtClean="0"/>
                <a:t>.</a:t>
              </a:r>
            </a:p>
            <a:p>
              <a:pPr algn="ctr"/>
              <a:r>
                <a:rPr lang="es-MX" dirty="0" smtClean="0"/>
                <a:t>.</a:t>
              </a:r>
            </a:p>
            <a:p>
              <a:pPr algn="ctr"/>
              <a:r>
                <a:rPr lang="es-MX" dirty="0" smtClean="0"/>
                <a:t>Opción n</a:t>
              </a:r>
            </a:p>
          </p:txBody>
        </p:sp>
        <p:cxnSp>
          <p:nvCxnSpPr>
            <p:cNvPr id="16" name="Conector recto 15"/>
            <p:cNvCxnSpPr>
              <a:stCxn id="4" idx="3"/>
            </p:cNvCxnSpPr>
            <p:nvPr/>
          </p:nvCxnSpPr>
          <p:spPr>
            <a:xfrm flipV="1">
              <a:off x="4184074" y="3131127"/>
              <a:ext cx="1163781" cy="25861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ector recto 18"/>
            <p:cNvCxnSpPr>
              <a:stCxn id="4" idx="3"/>
            </p:cNvCxnSpPr>
            <p:nvPr/>
          </p:nvCxnSpPr>
          <p:spPr>
            <a:xfrm>
              <a:off x="4184074" y="3389746"/>
              <a:ext cx="1163781" cy="50799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CuadroTexto 20"/>
            <p:cNvSpPr txBox="1"/>
            <p:nvPr/>
          </p:nvSpPr>
          <p:spPr>
            <a:xfrm>
              <a:off x="7027035" y="3823855"/>
              <a:ext cx="28151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MX" dirty="0" smtClean="0"/>
                <a:t>Opciones de riesgo similar 2</a:t>
              </a:r>
              <a:endParaRPr lang="es-PE" dirty="0"/>
            </a:p>
          </p:txBody>
        </p:sp>
      </p:grpSp>
      <p:sp>
        <p:nvSpPr>
          <p:cNvPr id="2" name="Estrella de 5 puntas 1"/>
          <p:cNvSpPr/>
          <p:nvPr/>
        </p:nvSpPr>
        <p:spPr>
          <a:xfrm>
            <a:off x="10728699" y="2765362"/>
            <a:ext cx="870858" cy="856611"/>
          </a:xfrm>
          <a:prstGeom prst="star5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3" name="CuadroTexto 2"/>
          <p:cNvSpPr txBox="1"/>
          <p:nvPr/>
        </p:nvSpPr>
        <p:spPr>
          <a:xfrm>
            <a:off x="9165771" y="3109355"/>
            <a:ext cx="15629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dirty="0" smtClean="0"/>
              <a:t>¿Cuál se elige?</a:t>
            </a:r>
            <a:endParaRPr lang="es-PE" dirty="0"/>
          </a:p>
        </p:txBody>
      </p:sp>
      <p:sp>
        <p:nvSpPr>
          <p:cNvPr id="7" name="CuadroTexto 6"/>
          <p:cNvSpPr txBox="1"/>
          <p:nvPr/>
        </p:nvSpPr>
        <p:spPr>
          <a:xfrm>
            <a:off x="1919517" y="6398429"/>
            <a:ext cx="70964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dirty="0" smtClean="0"/>
              <a:t>¿Se pueden comparar tasas de interés de opciones con riesgos diferentes?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6316271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 smtClean="0"/>
              <a:t>Costo de los activos financieros (CAPM)</a:t>
            </a:r>
            <a:endParaRPr lang="es-PE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PE" dirty="0" smtClean="0"/>
              <a:t>Calcula el costo de capital de los recursos propios de una empresa de un cierto rubro (riesgo negocio) en un cierto país (riesgo país).</a:t>
            </a:r>
          </a:p>
          <a:p>
            <a:r>
              <a:rPr lang="es-PE" dirty="0" smtClean="0"/>
              <a:t>Es uno de los métodos mas usados para calcular el costo de capital de los inversionistas (</a:t>
            </a:r>
            <a:r>
              <a:rPr lang="es-PE" dirty="0" err="1" smtClean="0"/>
              <a:t>Ke</a:t>
            </a:r>
            <a:r>
              <a:rPr lang="es-PE" dirty="0" smtClean="0"/>
              <a:t>).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7075382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>
          <a:xfrm>
            <a:off x="2427288" y="44391"/>
            <a:ext cx="7693025" cy="914400"/>
          </a:xfrm>
        </p:spPr>
        <p:txBody>
          <a:bodyPr/>
          <a:lstStyle/>
          <a:p>
            <a:pPr algn="l"/>
            <a:r>
              <a:rPr lang="es-MX" altLang="es-PE" b="1" dirty="0"/>
              <a:t>CAPM </a:t>
            </a:r>
            <a:r>
              <a:rPr lang="es-MX" altLang="es-PE" sz="3200" b="1" dirty="0"/>
              <a:t>(Capital </a:t>
            </a:r>
            <a:r>
              <a:rPr lang="es-MX" altLang="es-PE" sz="3200" b="1" dirty="0" err="1"/>
              <a:t>asset</a:t>
            </a:r>
            <a:r>
              <a:rPr lang="es-MX" altLang="es-PE" sz="3200" b="1" dirty="0"/>
              <a:t> </a:t>
            </a:r>
            <a:r>
              <a:rPr lang="es-MX" altLang="es-PE" sz="3200" b="1" dirty="0" err="1"/>
              <a:t>pricing</a:t>
            </a:r>
            <a:r>
              <a:rPr lang="es-MX" altLang="es-PE" sz="3200" b="1" dirty="0"/>
              <a:t> </a:t>
            </a:r>
            <a:r>
              <a:rPr lang="es-MX" altLang="es-PE" sz="3200" b="1" dirty="0" err="1"/>
              <a:t>model</a:t>
            </a:r>
            <a:r>
              <a:rPr lang="es-MX" altLang="es-PE" sz="3200" b="1" dirty="0"/>
              <a:t>)</a:t>
            </a:r>
            <a:endParaRPr lang="es-ES" altLang="es-PE" sz="3200" b="1" dirty="0"/>
          </a:p>
        </p:txBody>
      </p:sp>
      <p:sp>
        <p:nvSpPr>
          <p:cNvPr id="43012" name="Text Box 4"/>
          <p:cNvSpPr txBox="1">
            <a:spLocks noChangeArrowheads="1"/>
          </p:cNvSpPr>
          <p:nvPr/>
        </p:nvSpPr>
        <p:spPr bwMode="auto">
          <a:xfrm>
            <a:off x="2743254" y="1500375"/>
            <a:ext cx="6849955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s-ES_tradnl" altLang="es-PE" sz="3200" dirty="0" err="1" smtClean="0">
                <a:cs typeface="Arial" panose="020B0604020202020204" pitchFamily="34" charset="0"/>
              </a:rPr>
              <a:t>Ke</a:t>
            </a:r>
            <a:r>
              <a:rPr lang="es-ES_tradnl" altLang="es-PE" sz="3200" dirty="0" smtClean="0">
                <a:cs typeface="Arial" panose="020B0604020202020204" pitchFamily="34" charset="0"/>
              </a:rPr>
              <a:t> </a:t>
            </a:r>
            <a:r>
              <a:rPr lang="es-ES_tradnl" altLang="es-PE" sz="3200" dirty="0">
                <a:cs typeface="Arial" panose="020B0604020202020204" pitchFamily="34" charset="0"/>
              </a:rPr>
              <a:t>= </a:t>
            </a:r>
            <a:r>
              <a:rPr lang="es-ES_tradnl" altLang="es-PE" sz="3200" dirty="0" err="1" smtClean="0">
                <a:cs typeface="Arial" panose="020B0604020202020204" pitchFamily="34" charset="0"/>
              </a:rPr>
              <a:t>K</a:t>
            </a:r>
            <a:r>
              <a:rPr lang="es-ES_tradnl" altLang="es-PE" sz="3200" baseline="-25000" dirty="0" err="1" smtClean="0">
                <a:cs typeface="Arial" panose="020B0604020202020204" pitchFamily="34" charset="0"/>
              </a:rPr>
              <a:t>f</a:t>
            </a:r>
            <a:r>
              <a:rPr lang="es-ES_tradnl" altLang="es-PE" sz="3200" baseline="-25000" dirty="0" smtClean="0">
                <a:cs typeface="Arial" panose="020B0604020202020204" pitchFamily="34" charset="0"/>
              </a:rPr>
              <a:t> </a:t>
            </a:r>
            <a:r>
              <a:rPr lang="es-ES_tradnl" altLang="es-PE" sz="3200" dirty="0" smtClean="0">
                <a:cs typeface="Arial" panose="020B0604020202020204" pitchFamily="34" charset="0"/>
              </a:rPr>
              <a:t> </a:t>
            </a:r>
            <a:r>
              <a:rPr lang="es-ES_tradnl" altLang="es-PE" sz="3200" dirty="0">
                <a:cs typeface="Arial" panose="020B0604020202020204" pitchFamily="34" charset="0"/>
              </a:rPr>
              <a:t>+ </a:t>
            </a:r>
            <a:r>
              <a:rPr lang="es-ES_tradnl" altLang="es-PE" sz="3200" dirty="0" smtClean="0">
                <a:cs typeface="Arial" panose="020B0604020202020204" pitchFamily="34" charset="0"/>
                <a:sym typeface="Symbol" panose="05050102010706020507" pitchFamily="18" charset="2"/>
              </a:rPr>
              <a:t>(K</a:t>
            </a:r>
            <a:r>
              <a:rPr lang="es-ES_tradnl" altLang="es-PE" sz="3200" baseline="-25000" dirty="0" smtClean="0">
                <a:cs typeface="Arial" panose="020B0604020202020204" pitchFamily="34" charset="0"/>
                <a:sym typeface="Symbol" panose="05050102010706020507" pitchFamily="18" charset="2"/>
              </a:rPr>
              <a:t>m</a:t>
            </a:r>
            <a:r>
              <a:rPr lang="es-ES_tradnl" altLang="es-PE" sz="3200" dirty="0" smtClean="0"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s-ES_tradnl" altLang="es-PE" sz="3200" dirty="0">
                <a:cs typeface="Arial" panose="020B0604020202020204" pitchFamily="34" charset="0"/>
                <a:sym typeface="Symbol" panose="05050102010706020507" pitchFamily="18" charset="2"/>
              </a:rPr>
              <a:t>- </a:t>
            </a:r>
            <a:r>
              <a:rPr lang="es-ES_tradnl" altLang="es-PE" sz="3200" dirty="0" err="1">
                <a:cs typeface="Arial" panose="020B0604020202020204" pitchFamily="34" charset="0"/>
              </a:rPr>
              <a:t>K</a:t>
            </a:r>
            <a:r>
              <a:rPr lang="es-ES_tradnl" altLang="es-PE" sz="3200" baseline="-25000" dirty="0" err="1">
                <a:cs typeface="Arial" panose="020B0604020202020204" pitchFamily="34" charset="0"/>
              </a:rPr>
              <a:t>f</a:t>
            </a:r>
            <a:r>
              <a:rPr lang="es-ES_tradnl" altLang="es-PE" sz="3200" dirty="0" smtClean="0">
                <a:cs typeface="Arial" panose="020B0604020202020204" pitchFamily="34" charset="0"/>
                <a:sym typeface="Symbol" panose="05050102010706020507" pitchFamily="18" charset="2"/>
              </a:rPr>
              <a:t>) </a:t>
            </a:r>
            <a:r>
              <a:rPr lang="es-ES_tradnl" altLang="es-PE" sz="3200" dirty="0">
                <a:cs typeface="Arial" panose="020B0604020202020204" pitchFamily="34" charset="0"/>
                <a:sym typeface="Symbol" panose="05050102010706020507" pitchFamily="18" charset="2"/>
              </a:rPr>
              <a:t>+ </a:t>
            </a:r>
            <a:r>
              <a:rPr lang="es-ES_tradnl" altLang="es-PE" sz="3200" dirty="0" err="1" smtClean="0">
                <a:cs typeface="Arial" panose="020B0604020202020204" pitchFamily="34" charset="0"/>
                <a:sym typeface="Symbol" panose="05050102010706020507" pitchFamily="18" charset="2"/>
              </a:rPr>
              <a:t>r</a:t>
            </a:r>
            <a:r>
              <a:rPr lang="es-ES_tradnl" altLang="es-PE" sz="3200" baseline="-25000" dirty="0" err="1" smtClean="0">
                <a:cs typeface="Arial" panose="020B0604020202020204" pitchFamily="34" charset="0"/>
                <a:sym typeface="Symbol" panose="05050102010706020507" pitchFamily="18" charset="2"/>
              </a:rPr>
              <a:t>pais</a:t>
            </a:r>
            <a:endParaRPr lang="es-ES_tradnl" altLang="es-PE" sz="3200" baseline="-25000" dirty="0">
              <a:cs typeface="Arial" panose="020B0604020202020204" pitchFamily="34" charset="0"/>
            </a:endParaRPr>
          </a:p>
        </p:txBody>
      </p:sp>
      <p:sp>
        <p:nvSpPr>
          <p:cNvPr id="43013" name="Text Box 5"/>
          <p:cNvSpPr txBox="1">
            <a:spLocks noChangeArrowheads="1"/>
          </p:cNvSpPr>
          <p:nvPr/>
        </p:nvSpPr>
        <p:spPr bwMode="auto">
          <a:xfrm>
            <a:off x="2743254" y="2171639"/>
            <a:ext cx="38100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s-ES_tradnl" altLang="es-PE" sz="2400" dirty="0"/>
              <a:t>Donde:</a:t>
            </a:r>
          </a:p>
        </p:txBody>
      </p:sp>
      <p:sp>
        <p:nvSpPr>
          <p:cNvPr id="43014" name="Text Box 6"/>
          <p:cNvSpPr txBox="1">
            <a:spLocks noChangeArrowheads="1"/>
          </p:cNvSpPr>
          <p:nvPr/>
        </p:nvSpPr>
        <p:spPr bwMode="auto">
          <a:xfrm>
            <a:off x="3734804" y="3726956"/>
            <a:ext cx="52609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s-ES_tradnl" altLang="es-PE" sz="2000" dirty="0" smtClean="0">
                <a:sym typeface="Symbol" panose="05050102010706020507" pitchFamily="18" charset="2"/>
              </a:rPr>
              <a:t>    	= </a:t>
            </a:r>
            <a:r>
              <a:rPr lang="es-ES_tradnl" altLang="es-PE" sz="2000" dirty="0">
                <a:sym typeface="Symbol" panose="05050102010706020507" pitchFamily="18" charset="2"/>
              </a:rPr>
              <a:t>Coeficiente  </a:t>
            </a:r>
            <a:r>
              <a:rPr lang="es-ES_tradnl" altLang="es-PE" sz="2000" dirty="0" smtClean="0">
                <a:sym typeface="Symbol" panose="05050102010706020507" pitchFamily="18" charset="2"/>
              </a:rPr>
              <a:t>Beta</a:t>
            </a:r>
            <a:endParaRPr lang="es-ES_tradnl" altLang="es-PE" sz="2000" dirty="0">
              <a:sym typeface="Symbol" panose="05050102010706020507" pitchFamily="18" charset="2"/>
            </a:endParaRPr>
          </a:p>
        </p:txBody>
      </p:sp>
      <p:sp>
        <p:nvSpPr>
          <p:cNvPr id="43015" name="Text Box 7"/>
          <p:cNvSpPr txBox="1">
            <a:spLocks noChangeArrowheads="1"/>
          </p:cNvSpPr>
          <p:nvPr/>
        </p:nvSpPr>
        <p:spPr bwMode="auto">
          <a:xfrm>
            <a:off x="3719513" y="4164806"/>
            <a:ext cx="640080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s-ES_tradnl" altLang="es-PE" sz="2000" dirty="0">
                <a:sym typeface="Symbol" panose="05050102010706020507" pitchFamily="18" charset="2"/>
              </a:rPr>
              <a:t>K</a:t>
            </a:r>
            <a:r>
              <a:rPr lang="es-ES_tradnl" altLang="es-PE" sz="2000" baseline="-25000" dirty="0">
                <a:sym typeface="Symbol" panose="05050102010706020507" pitchFamily="18" charset="2"/>
              </a:rPr>
              <a:t>m </a:t>
            </a:r>
            <a:r>
              <a:rPr lang="es-ES_tradnl" altLang="es-PE" sz="2000" baseline="-25000" dirty="0" smtClean="0">
                <a:sym typeface="Symbol" panose="05050102010706020507" pitchFamily="18" charset="2"/>
              </a:rPr>
              <a:t>	</a:t>
            </a:r>
            <a:r>
              <a:rPr lang="es-ES_tradnl" altLang="es-PE" sz="2000" dirty="0" smtClean="0">
                <a:sym typeface="Symbol" panose="05050102010706020507" pitchFamily="18" charset="2"/>
              </a:rPr>
              <a:t>= </a:t>
            </a:r>
            <a:r>
              <a:rPr lang="es-ES_tradnl" altLang="es-PE" sz="2000" dirty="0">
                <a:sym typeface="Symbol" panose="05050102010706020507" pitchFamily="18" charset="2"/>
              </a:rPr>
              <a:t>Rendimiento del </a:t>
            </a:r>
            <a:r>
              <a:rPr lang="es-ES_tradnl" altLang="es-PE" sz="2000" dirty="0" smtClean="0">
                <a:sym typeface="Symbol" panose="05050102010706020507" pitchFamily="18" charset="2"/>
              </a:rPr>
              <a:t>mercado</a:t>
            </a:r>
            <a:endParaRPr lang="es-ES_tradnl" altLang="es-PE" sz="2000" dirty="0">
              <a:sym typeface="Symbol" panose="05050102010706020507" pitchFamily="18" charset="2"/>
            </a:endParaRPr>
          </a:p>
        </p:txBody>
      </p:sp>
      <p:sp>
        <p:nvSpPr>
          <p:cNvPr id="43017" name="Text Box 9"/>
          <p:cNvSpPr txBox="1">
            <a:spLocks noChangeArrowheads="1"/>
          </p:cNvSpPr>
          <p:nvPr/>
        </p:nvSpPr>
        <p:spPr bwMode="auto">
          <a:xfrm>
            <a:off x="3734804" y="3346626"/>
            <a:ext cx="6467475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s-ES_tradnl" altLang="es-PE" sz="2000" dirty="0" err="1"/>
              <a:t>K</a:t>
            </a:r>
            <a:r>
              <a:rPr lang="es-ES_tradnl" altLang="es-PE" sz="2000" baseline="-25000" dirty="0" err="1"/>
              <a:t>f</a:t>
            </a:r>
            <a:r>
              <a:rPr lang="es-ES_tradnl" altLang="es-PE" sz="2000" dirty="0" smtClean="0">
                <a:sym typeface="Symbol" panose="05050102010706020507" pitchFamily="18" charset="2"/>
              </a:rPr>
              <a:t> 	= Tasa libre </a:t>
            </a:r>
            <a:r>
              <a:rPr lang="es-ES_tradnl" altLang="es-PE" sz="2000" dirty="0">
                <a:sym typeface="Symbol" panose="05050102010706020507" pitchFamily="18" charset="2"/>
              </a:rPr>
              <a:t>de riesgo</a:t>
            </a:r>
          </a:p>
        </p:txBody>
      </p:sp>
      <p:sp>
        <p:nvSpPr>
          <p:cNvPr id="43018" name="Text Box 10"/>
          <p:cNvSpPr txBox="1">
            <a:spLocks noChangeArrowheads="1"/>
          </p:cNvSpPr>
          <p:nvPr/>
        </p:nvSpPr>
        <p:spPr bwMode="auto">
          <a:xfrm>
            <a:off x="2743254" y="5138004"/>
            <a:ext cx="8232690" cy="160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s-MX" altLang="es-PE" sz="2000" dirty="0"/>
              <a:t>Si:</a:t>
            </a:r>
          </a:p>
          <a:p>
            <a:r>
              <a:rPr lang="es-ES_tradnl" altLang="es-PE" sz="2400" dirty="0" smtClean="0">
                <a:sym typeface="Symbol" panose="05050102010706020507" pitchFamily="18" charset="2"/>
              </a:rPr>
              <a:t> </a:t>
            </a:r>
            <a:r>
              <a:rPr lang="es-ES_tradnl" altLang="es-PE" sz="2400" dirty="0">
                <a:sym typeface="Symbol" panose="05050102010706020507" pitchFamily="18" charset="2"/>
              </a:rPr>
              <a:t>&gt; 1.  </a:t>
            </a:r>
            <a:r>
              <a:rPr lang="es-ES_tradnl" altLang="es-PE" sz="2400" dirty="0" smtClean="0">
                <a:sym typeface="Symbol" panose="05050102010706020507" pitchFamily="18" charset="2"/>
              </a:rPr>
              <a:t>El riesgo de la empresa es mayor que la del mercado.</a:t>
            </a:r>
            <a:endParaRPr lang="es-ES_tradnl" altLang="es-PE" sz="2400" dirty="0">
              <a:sym typeface="Symbol" panose="05050102010706020507" pitchFamily="18" charset="2"/>
            </a:endParaRPr>
          </a:p>
          <a:p>
            <a:r>
              <a:rPr lang="es-ES_tradnl" altLang="es-PE" sz="2400" dirty="0" smtClean="0">
                <a:sym typeface="Symbol" panose="05050102010706020507" pitchFamily="18" charset="2"/>
              </a:rPr>
              <a:t> </a:t>
            </a:r>
            <a:r>
              <a:rPr lang="es-ES_tradnl" altLang="es-PE" sz="2400" dirty="0">
                <a:sym typeface="Symbol" panose="05050102010706020507" pitchFamily="18" charset="2"/>
              </a:rPr>
              <a:t>&lt; 1. </a:t>
            </a:r>
            <a:r>
              <a:rPr lang="es-ES_tradnl" altLang="es-PE" sz="2400" dirty="0" smtClean="0">
                <a:sym typeface="Symbol" panose="05050102010706020507" pitchFamily="18" charset="2"/>
              </a:rPr>
              <a:t> El riesgo de la empresa es menor que la del mercado</a:t>
            </a:r>
            <a:r>
              <a:rPr lang="es-MX" altLang="es-PE" sz="2400" dirty="0" smtClean="0"/>
              <a:t>.</a:t>
            </a:r>
            <a:endParaRPr lang="es-ES" altLang="es-PE" sz="2000" dirty="0"/>
          </a:p>
          <a:p>
            <a:pPr>
              <a:spcBef>
                <a:spcPct val="50000"/>
              </a:spcBef>
            </a:pPr>
            <a:endParaRPr lang="es-ES" altLang="es-PE" sz="2000" dirty="0"/>
          </a:p>
        </p:txBody>
      </p:sp>
      <p:sp>
        <p:nvSpPr>
          <p:cNvPr id="9" name="Text Box 9"/>
          <p:cNvSpPr txBox="1">
            <a:spLocks noChangeArrowheads="1"/>
          </p:cNvSpPr>
          <p:nvPr/>
        </p:nvSpPr>
        <p:spPr bwMode="auto">
          <a:xfrm>
            <a:off x="3719513" y="2970822"/>
            <a:ext cx="6467475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s-ES_tradnl" altLang="es-PE" sz="2000" dirty="0" err="1" smtClean="0"/>
              <a:t>Ke</a:t>
            </a:r>
            <a:r>
              <a:rPr lang="es-ES_tradnl" altLang="es-PE" sz="2000" dirty="0" smtClean="0">
                <a:sym typeface="Symbol" panose="05050102010706020507" pitchFamily="18" charset="2"/>
              </a:rPr>
              <a:t> 	=  Costo del capital de los inversionistas</a:t>
            </a:r>
            <a:endParaRPr lang="es-ES_tradnl" altLang="es-PE" sz="2000" dirty="0">
              <a:sym typeface="Symbol" panose="05050102010706020507" pitchFamily="18" charset="2"/>
            </a:endParaRPr>
          </a:p>
        </p:txBody>
      </p:sp>
      <p:sp>
        <p:nvSpPr>
          <p:cNvPr id="10" name="Text Box 7"/>
          <p:cNvSpPr txBox="1">
            <a:spLocks noChangeArrowheads="1"/>
          </p:cNvSpPr>
          <p:nvPr/>
        </p:nvSpPr>
        <p:spPr bwMode="auto">
          <a:xfrm>
            <a:off x="3734803" y="4651405"/>
            <a:ext cx="6925175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s-ES_tradnl" altLang="es-PE" sz="2000" dirty="0" err="1" smtClean="0">
                <a:sym typeface="Symbol" panose="05050102010706020507" pitchFamily="18" charset="2"/>
              </a:rPr>
              <a:t>r</a:t>
            </a:r>
            <a:r>
              <a:rPr lang="es-ES_tradnl" altLang="es-PE" sz="2000" baseline="-25000" dirty="0" err="1" smtClean="0">
                <a:sym typeface="Symbol" panose="05050102010706020507" pitchFamily="18" charset="2"/>
              </a:rPr>
              <a:t>pais</a:t>
            </a:r>
            <a:r>
              <a:rPr lang="es-ES_tradnl" altLang="es-PE" sz="2000" baseline="-25000" dirty="0" smtClean="0">
                <a:sym typeface="Symbol" panose="05050102010706020507" pitchFamily="18" charset="2"/>
              </a:rPr>
              <a:t> 	</a:t>
            </a:r>
            <a:r>
              <a:rPr lang="es-ES_tradnl" altLang="es-PE" sz="2000" dirty="0" smtClean="0">
                <a:sym typeface="Symbol" panose="05050102010706020507" pitchFamily="18" charset="2"/>
              </a:rPr>
              <a:t>= Riesgo país </a:t>
            </a:r>
            <a:endParaRPr lang="es-ES_tradnl" altLang="es-PE" sz="2000" dirty="0">
              <a:sym typeface="Symbol" panose="05050102010706020507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7052946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 smtClean="0"/>
              <a:t>Costo de la Deuda (</a:t>
            </a:r>
            <a:r>
              <a:rPr lang="es-PE" dirty="0" err="1" smtClean="0"/>
              <a:t>kd</a:t>
            </a:r>
            <a:r>
              <a:rPr lang="es-PE" dirty="0" smtClean="0"/>
              <a:t>)</a:t>
            </a:r>
            <a:endParaRPr lang="es-PE" dirty="0"/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283855"/>
            <a:ext cx="5115446" cy="3761820"/>
          </a:xfrm>
          <a:prstGeom prst="rect">
            <a:avLst/>
          </a:prstGeom>
        </p:spPr>
      </p:pic>
      <p:sp>
        <p:nvSpPr>
          <p:cNvPr id="4" name="Rectángulo 3"/>
          <p:cNvSpPr/>
          <p:nvPr/>
        </p:nvSpPr>
        <p:spPr>
          <a:xfrm>
            <a:off x="5440218" y="4655127"/>
            <a:ext cx="6456218" cy="92363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5" name="CuadroTexto 4"/>
          <p:cNvSpPr txBox="1"/>
          <p:nvPr/>
        </p:nvSpPr>
        <p:spPr>
          <a:xfrm>
            <a:off x="1001486" y="3621965"/>
            <a:ext cx="3562963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dirty="0" smtClean="0"/>
              <a:t>Lo que ofrece el mercado financiero</a:t>
            </a:r>
          </a:p>
          <a:p>
            <a:r>
              <a:rPr lang="es-MX" dirty="0" smtClean="0"/>
              <a:t>“i” Tasa de interés </a:t>
            </a:r>
          </a:p>
          <a:p>
            <a:r>
              <a:rPr lang="es-MX" dirty="0" err="1" smtClean="0"/>
              <a:t>Kd</a:t>
            </a:r>
            <a:r>
              <a:rPr lang="es-MX" dirty="0" smtClean="0"/>
              <a:t> = i * (1-T)</a:t>
            </a:r>
          </a:p>
          <a:p>
            <a:endParaRPr lang="es-MX" dirty="0"/>
          </a:p>
          <a:p>
            <a:r>
              <a:rPr lang="es-MX" dirty="0" smtClean="0"/>
              <a:t>T: Tasa del impuesto a la renta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1200270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 smtClean="0"/>
              <a:t>Promedio ponderado de capital (WACC)</a:t>
            </a:r>
            <a:endParaRPr lang="es-PE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PE" dirty="0" smtClean="0"/>
              <a:t>Calcula el costo del capital que se financia con deuda, para lo cual  pondera el capital de los inversionistas y de la deuda.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42486789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0" name="Rectangle 2"/>
          <p:cNvSpPr>
            <a:spLocks noGrp="1" noChangeArrowheads="1"/>
          </p:cNvSpPr>
          <p:nvPr>
            <p:ph type="title"/>
          </p:nvPr>
        </p:nvSpPr>
        <p:spPr>
          <a:xfrm>
            <a:off x="1054101" y="130017"/>
            <a:ext cx="10515600" cy="1325563"/>
          </a:xfrm>
        </p:spPr>
        <p:txBody>
          <a:bodyPr/>
          <a:lstStyle/>
          <a:p>
            <a:r>
              <a:rPr lang="es-PE" altLang="es-PE" b="1" dirty="0" smtClean="0"/>
              <a:t>Costo promedio ponderado de capital (WACC)</a:t>
            </a:r>
            <a:endParaRPr lang="es-PE" altLang="es-PE" b="1" dirty="0"/>
          </a:p>
        </p:txBody>
      </p:sp>
      <p:sp>
        <p:nvSpPr>
          <p:cNvPr id="1505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8200" y="1752600"/>
            <a:ext cx="10515600" cy="4449128"/>
          </a:xfrm>
        </p:spPr>
        <p:txBody>
          <a:bodyPr/>
          <a:lstStyle/>
          <a:p>
            <a:endParaRPr lang="es-MX" altLang="es-PE" dirty="0">
              <a:solidFill>
                <a:schemeClr val="accent2"/>
              </a:solidFill>
            </a:endParaRPr>
          </a:p>
          <a:p>
            <a:endParaRPr lang="es-MX" altLang="es-PE" dirty="0">
              <a:solidFill>
                <a:schemeClr val="accent2"/>
              </a:solidFill>
            </a:endParaRPr>
          </a:p>
          <a:p>
            <a:endParaRPr lang="es-MX" altLang="es-PE" dirty="0">
              <a:solidFill>
                <a:schemeClr val="accent2"/>
              </a:solidFill>
            </a:endParaRPr>
          </a:p>
          <a:p>
            <a:pPr marL="0" indent="0">
              <a:buNone/>
            </a:pPr>
            <a:r>
              <a:rPr lang="es-MX" altLang="es-PE" dirty="0" smtClean="0"/>
              <a:t>                         WACC </a:t>
            </a:r>
            <a:r>
              <a:rPr lang="es-MX" altLang="es-PE" dirty="0"/>
              <a:t>= </a:t>
            </a:r>
            <a:r>
              <a:rPr lang="es-MX" altLang="es-PE" dirty="0" err="1" smtClean="0"/>
              <a:t>We</a:t>
            </a:r>
            <a:r>
              <a:rPr lang="es-MX" altLang="es-PE" dirty="0" smtClean="0"/>
              <a:t> * </a:t>
            </a:r>
            <a:r>
              <a:rPr lang="es-MX" altLang="es-PE" dirty="0" err="1" smtClean="0"/>
              <a:t>Ke</a:t>
            </a:r>
            <a:r>
              <a:rPr lang="es-MX" altLang="es-PE" dirty="0" smtClean="0"/>
              <a:t> </a:t>
            </a:r>
            <a:r>
              <a:rPr lang="es-MX" altLang="es-PE" dirty="0"/>
              <a:t>+ </a:t>
            </a:r>
            <a:r>
              <a:rPr lang="es-MX" altLang="es-PE" dirty="0" err="1"/>
              <a:t>Wd</a:t>
            </a:r>
            <a:r>
              <a:rPr lang="es-MX" altLang="es-PE" dirty="0"/>
              <a:t> </a:t>
            </a:r>
            <a:r>
              <a:rPr lang="es-MX" altLang="es-PE" dirty="0" smtClean="0"/>
              <a:t>* </a:t>
            </a:r>
            <a:r>
              <a:rPr lang="es-MX" altLang="es-PE" dirty="0" err="1" smtClean="0"/>
              <a:t>Kd</a:t>
            </a:r>
            <a:r>
              <a:rPr lang="es-MX" altLang="es-PE" dirty="0" smtClean="0"/>
              <a:t> </a:t>
            </a:r>
            <a:endParaRPr lang="es-MX" altLang="es-PE" dirty="0"/>
          </a:p>
          <a:p>
            <a:endParaRPr lang="es-MX" altLang="es-PE" b="1" dirty="0">
              <a:solidFill>
                <a:schemeClr val="bg1"/>
              </a:solidFill>
            </a:endParaRPr>
          </a:p>
        </p:txBody>
      </p:sp>
      <p:sp>
        <p:nvSpPr>
          <p:cNvPr id="150532" name="Text Box 4"/>
          <p:cNvSpPr txBox="1">
            <a:spLocks noChangeArrowheads="1"/>
          </p:cNvSpPr>
          <p:nvPr/>
        </p:nvSpPr>
        <p:spPr bwMode="auto">
          <a:xfrm>
            <a:off x="3935413" y="1459671"/>
            <a:ext cx="1944687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s-MX" altLang="es-PE" sz="1600" b="1" dirty="0" smtClean="0"/>
              <a:t>Costo de oportunidad de los inversionistas (cok)</a:t>
            </a:r>
            <a:endParaRPr lang="es-ES" altLang="es-PE" sz="1600" b="1" dirty="0"/>
          </a:p>
        </p:txBody>
      </p:sp>
      <p:sp>
        <p:nvSpPr>
          <p:cNvPr id="150534" name="Line 6"/>
          <p:cNvSpPr>
            <a:spLocks noChangeShapeType="1"/>
          </p:cNvSpPr>
          <p:nvPr/>
        </p:nvSpPr>
        <p:spPr bwMode="auto">
          <a:xfrm flipV="1">
            <a:off x="5123447" y="2554289"/>
            <a:ext cx="0" cy="649288"/>
          </a:xfrm>
          <a:prstGeom prst="line">
            <a:avLst/>
          </a:prstGeom>
          <a:noFill/>
          <a:ln w="38100">
            <a:solidFill>
              <a:schemeClr val="tx1"/>
            </a:solidFill>
            <a:prstDash val="sysDot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PE"/>
          </a:p>
        </p:txBody>
      </p:sp>
      <p:sp>
        <p:nvSpPr>
          <p:cNvPr id="150535" name="Line 7"/>
          <p:cNvSpPr>
            <a:spLocks noChangeShapeType="1"/>
          </p:cNvSpPr>
          <p:nvPr/>
        </p:nvSpPr>
        <p:spPr bwMode="auto">
          <a:xfrm flipV="1">
            <a:off x="6670425" y="2554289"/>
            <a:ext cx="0" cy="649288"/>
          </a:xfrm>
          <a:prstGeom prst="line">
            <a:avLst/>
          </a:prstGeom>
          <a:noFill/>
          <a:ln w="38100">
            <a:solidFill>
              <a:schemeClr val="tx1"/>
            </a:solidFill>
            <a:prstDash val="sysDot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PE"/>
          </a:p>
        </p:txBody>
      </p:sp>
      <p:sp>
        <p:nvSpPr>
          <p:cNvPr id="150536" name="Text Box 8"/>
          <p:cNvSpPr txBox="1">
            <a:spLocks noChangeArrowheads="1"/>
          </p:cNvSpPr>
          <p:nvPr/>
        </p:nvSpPr>
        <p:spPr bwMode="auto">
          <a:xfrm>
            <a:off x="3636244" y="4735267"/>
            <a:ext cx="1513941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s-MX" altLang="es-PE" b="1" dirty="0"/>
              <a:t>Peso del </a:t>
            </a:r>
          </a:p>
          <a:p>
            <a:r>
              <a:rPr lang="es-MX" altLang="es-PE" b="1" dirty="0"/>
              <a:t>Aporte de los </a:t>
            </a:r>
          </a:p>
          <a:p>
            <a:r>
              <a:rPr lang="es-MX" altLang="es-PE" b="1" dirty="0" smtClean="0"/>
              <a:t>Inversionistas</a:t>
            </a:r>
            <a:endParaRPr lang="es-MX" altLang="es-PE" b="1" dirty="0"/>
          </a:p>
        </p:txBody>
      </p:sp>
      <p:sp>
        <p:nvSpPr>
          <p:cNvPr id="150541" name="Line 13"/>
          <p:cNvSpPr>
            <a:spLocks noChangeShapeType="1"/>
          </p:cNvSpPr>
          <p:nvPr/>
        </p:nvSpPr>
        <p:spPr bwMode="auto">
          <a:xfrm flipV="1">
            <a:off x="4367213" y="3933826"/>
            <a:ext cx="0" cy="576263"/>
          </a:xfrm>
          <a:prstGeom prst="line">
            <a:avLst/>
          </a:prstGeom>
          <a:noFill/>
          <a:ln w="38100">
            <a:solidFill>
              <a:schemeClr val="tx1"/>
            </a:solidFill>
            <a:prstDash val="sysDot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PE"/>
          </a:p>
        </p:txBody>
      </p:sp>
      <p:sp>
        <p:nvSpPr>
          <p:cNvPr id="16" name="Line 13"/>
          <p:cNvSpPr>
            <a:spLocks noChangeShapeType="1"/>
          </p:cNvSpPr>
          <p:nvPr/>
        </p:nvSpPr>
        <p:spPr bwMode="auto">
          <a:xfrm flipV="1">
            <a:off x="5880100" y="3987718"/>
            <a:ext cx="0" cy="576263"/>
          </a:xfrm>
          <a:prstGeom prst="line">
            <a:avLst/>
          </a:prstGeom>
          <a:noFill/>
          <a:ln w="38100">
            <a:solidFill>
              <a:schemeClr val="tx1"/>
            </a:solidFill>
            <a:prstDash val="sysDot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PE"/>
          </a:p>
        </p:txBody>
      </p:sp>
      <p:sp>
        <p:nvSpPr>
          <p:cNvPr id="17" name="Text Box 8"/>
          <p:cNvSpPr txBox="1">
            <a:spLocks noChangeArrowheads="1"/>
          </p:cNvSpPr>
          <p:nvPr/>
        </p:nvSpPr>
        <p:spPr bwMode="auto">
          <a:xfrm>
            <a:off x="5386350" y="4736659"/>
            <a:ext cx="1412951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s-MX" altLang="es-PE" b="1" dirty="0"/>
              <a:t>Peso del </a:t>
            </a:r>
          </a:p>
          <a:p>
            <a:r>
              <a:rPr lang="es-MX" altLang="es-PE" b="1" dirty="0"/>
              <a:t>Aporte de </a:t>
            </a:r>
            <a:r>
              <a:rPr lang="es-MX" altLang="es-PE" b="1" dirty="0" smtClean="0"/>
              <a:t>la </a:t>
            </a:r>
          </a:p>
          <a:p>
            <a:r>
              <a:rPr lang="es-MX" altLang="es-PE" b="1" dirty="0" smtClean="0"/>
              <a:t>deuda</a:t>
            </a:r>
            <a:endParaRPr lang="es-MX" altLang="es-PE" b="1" dirty="0"/>
          </a:p>
        </p:txBody>
      </p:sp>
      <p:sp>
        <p:nvSpPr>
          <p:cNvPr id="18" name="Text Box 8"/>
          <p:cNvSpPr txBox="1">
            <a:spLocks noChangeArrowheads="1"/>
          </p:cNvSpPr>
          <p:nvPr/>
        </p:nvSpPr>
        <p:spPr bwMode="auto">
          <a:xfrm>
            <a:off x="6311901" y="1523133"/>
            <a:ext cx="1287532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s-MX" altLang="es-PE" b="1" dirty="0" smtClean="0"/>
              <a:t>Costo de la </a:t>
            </a:r>
          </a:p>
          <a:p>
            <a:r>
              <a:rPr lang="es-MX" altLang="es-PE" b="1" dirty="0" smtClean="0"/>
              <a:t>Deuda</a:t>
            </a:r>
            <a:endParaRPr lang="es-MX" altLang="es-PE" b="1" dirty="0"/>
          </a:p>
        </p:txBody>
      </p:sp>
    </p:spTree>
    <p:extLst>
      <p:ext uri="{BB962C8B-B14F-4D97-AF65-F5344CB8AC3E}">
        <p14:creationId xmlns:p14="http://schemas.microsoft.com/office/powerpoint/2010/main" val="8928057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Resultado de imagen para automovil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2047" y="1595075"/>
            <a:ext cx="4370243" cy="43702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 smtClean="0"/>
              <a:t>Las cuentas de la empresa (proyecto)</a:t>
            </a:r>
            <a:endParaRPr lang="es-PE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065357"/>
          </a:xfrm>
        </p:spPr>
        <p:txBody>
          <a:bodyPr/>
          <a:lstStyle/>
          <a:p>
            <a:pPr marL="0" indent="0">
              <a:buNone/>
            </a:pPr>
            <a:r>
              <a:rPr lang="es-PE" dirty="0" smtClean="0"/>
              <a:t>Suponga que tiene una empresa de transportes y va iniciar su operación, para el cual decide adquirir una unidad de transporte.</a:t>
            </a:r>
            <a:endParaRPr lang="es-PE" dirty="0"/>
          </a:p>
        </p:txBody>
      </p:sp>
      <p:sp>
        <p:nvSpPr>
          <p:cNvPr id="5" name="Marcador de contenido 2"/>
          <p:cNvSpPr txBox="1">
            <a:spLocks/>
          </p:cNvSpPr>
          <p:nvPr/>
        </p:nvSpPr>
        <p:spPr>
          <a:xfrm>
            <a:off x="999836" y="4858327"/>
            <a:ext cx="10515600" cy="1717964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PE" dirty="0" smtClean="0"/>
              <a:t>El valor del vehículo es de $ 19 500 dólares. Para cuyo propósito dispone de un capital de  $ 14 000 dólares, la diferencia espera tomarlo prestado.</a:t>
            </a:r>
          </a:p>
          <a:p>
            <a:pPr marL="0" indent="0">
              <a:buNone/>
            </a:pPr>
            <a:r>
              <a:rPr lang="es-PE" dirty="0" smtClean="0"/>
              <a:t>En el mismo sentido conoce que para iniciar la operación requiere de 500  dólares en efectivo para combustibles, trámites y seguros, los cuales también los tomará prestados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34360274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48360" y="0"/>
            <a:ext cx="10515600" cy="1325563"/>
          </a:xfrm>
        </p:spPr>
        <p:txBody>
          <a:bodyPr/>
          <a:lstStyle/>
          <a:p>
            <a:r>
              <a:rPr lang="es-PE" dirty="0" smtClean="0"/>
              <a:t>La contabilidad</a:t>
            </a:r>
            <a:endParaRPr lang="es-PE" dirty="0"/>
          </a:p>
        </p:txBody>
      </p:sp>
      <p:sp>
        <p:nvSpPr>
          <p:cNvPr id="4" name="Rectángulo 3"/>
          <p:cNvSpPr/>
          <p:nvPr/>
        </p:nvSpPr>
        <p:spPr>
          <a:xfrm>
            <a:off x="4393872" y="2219036"/>
            <a:ext cx="1533236" cy="322349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 smtClean="0"/>
              <a:t>Bienes </a:t>
            </a:r>
          </a:p>
          <a:p>
            <a:pPr algn="ctr"/>
            <a:r>
              <a:rPr lang="es-MX" dirty="0" smtClean="0"/>
              <a:t>19500</a:t>
            </a:r>
            <a:endParaRPr lang="es-PE" dirty="0"/>
          </a:p>
        </p:txBody>
      </p:sp>
      <p:sp>
        <p:nvSpPr>
          <p:cNvPr id="5" name="Rectángulo 4"/>
          <p:cNvSpPr/>
          <p:nvPr/>
        </p:nvSpPr>
        <p:spPr>
          <a:xfrm>
            <a:off x="5927108" y="2219036"/>
            <a:ext cx="1468581" cy="1681019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 smtClean="0"/>
              <a:t>Deuda LP</a:t>
            </a:r>
          </a:p>
          <a:p>
            <a:pPr algn="ctr"/>
            <a:r>
              <a:rPr lang="es-PE" dirty="0" smtClean="0"/>
              <a:t>5500</a:t>
            </a:r>
            <a:endParaRPr lang="es-PE" dirty="0"/>
          </a:p>
        </p:txBody>
      </p:sp>
      <p:sp>
        <p:nvSpPr>
          <p:cNvPr id="6" name="Rectángulo 5"/>
          <p:cNvSpPr/>
          <p:nvPr/>
        </p:nvSpPr>
        <p:spPr>
          <a:xfrm>
            <a:off x="5927108" y="3900056"/>
            <a:ext cx="1468581" cy="1542472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 smtClean="0"/>
              <a:t>Capital propio</a:t>
            </a:r>
          </a:p>
          <a:p>
            <a:pPr algn="ctr"/>
            <a:r>
              <a:rPr lang="es-PE" dirty="0" smtClean="0"/>
              <a:t>14 000</a:t>
            </a:r>
            <a:endParaRPr lang="es-PE" dirty="0"/>
          </a:p>
        </p:txBody>
      </p:sp>
      <p:sp>
        <p:nvSpPr>
          <p:cNvPr id="17" name="Rectángulo 16"/>
          <p:cNvSpPr/>
          <p:nvPr/>
        </p:nvSpPr>
        <p:spPr>
          <a:xfrm>
            <a:off x="5927108" y="1745673"/>
            <a:ext cx="1468581" cy="473362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 smtClean="0"/>
              <a:t>Deuda CP</a:t>
            </a:r>
          </a:p>
          <a:p>
            <a:pPr algn="ctr"/>
            <a:r>
              <a:rPr lang="es-PE" dirty="0" smtClean="0"/>
              <a:t>500</a:t>
            </a:r>
            <a:endParaRPr lang="es-PE" dirty="0"/>
          </a:p>
        </p:txBody>
      </p:sp>
      <p:sp>
        <p:nvSpPr>
          <p:cNvPr id="18" name="Rectángulo 17"/>
          <p:cNvSpPr/>
          <p:nvPr/>
        </p:nvSpPr>
        <p:spPr>
          <a:xfrm>
            <a:off x="4393873" y="1745673"/>
            <a:ext cx="1533236" cy="47336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 smtClean="0"/>
              <a:t>Efectivo</a:t>
            </a:r>
          </a:p>
          <a:p>
            <a:pPr algn="ctr"/>
            <a:r>
              <a:rPr lang="es-PE" dirty="0" smtClean="0"/>
              <a:t>500</a:t>
            </a:r>
            <a:endParaRPr lang="es-PE" dirty="0"/>
          </a:p>
        </p:txBody>
      </p:sp>
      <p:sp>
        <p:nvSpPr>
          <p:cNvPr id="8" name="Cerrar llave 7"/>
          <p:cNvSpPr/>
          <p:nvPr/>
        </p:nvSpPr>
        <p:spPr>
          <a:xfrm>
            <a:off x="7664533" y="1745674"/>
            <a:ext cx="565067" cy="2154382"/>
          </a:xfrm>
          <a:prstGeom prst="rightBrace">
            <a:avLst>
              <a:gd name="adj1" fmla="val 8333"/>
              <a:gd name="adj2" fmla="val 51329"/>
            </a:avLst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9" name="CuadroTexto 8"/>
          <p:cNvSpPr txBox="1"/>
          <p:nvPr/>
        </p:nvSpPr>
        <p:spPr>
          <a:xfrm>
            <a:off x="9133113" y="2638199"/>
            <a:ext cx="7755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dirty="0" smtClean="0"/>
              <a:t>Pasivo</a:t>
            </a:r>
            <a:endParaRPr lang="es-PE" dirty="0"/>
          </a:p>
        </p:txBody>
      </p:sp>
      <p:sp>
        <p:nvSpPr>
          <p:cNvPr id="19" name="Cerrar llave 18"/>
          <p:cNvSpPr/>
          <p:nvPr/>
        </p:nvSpPr>
        <p:spPr>
          <a:xfrm>
            <a:off x="7664533" y="3900055"/>
            <a:ext cx="565067" cy="1542473"/>
          </a:xfrm>
          <a:prstGeom prst="rightBrace">
            <a:avLst>
              <a:gd name="adj1" fmla="val 8333"/>
              <a:gd name="adj2" fmla="val 51329"/>
            </a:avLst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0" name="CuadroTexto 19"/>
          <p:cNvSpPr txBox="1"/>
          <p:nvPr/>
        </p:nvSpPr>
        <p:spPr>
          <a:xfrm>
            <a:off x="9046027" y="4486625"/>
            <a:ext cx="12195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dirty="0" smtClean="0"/>
              <a:t>Patrimonio</a:t>
            </a:r>
            <a:endParaRPr lang="es-PE" dirty="0"/>
          </a:p>
        </p:txBody>
      </p:sp>
      <p:sp>
        <p:nvSpPr>
          <p:cNvPr id="21" name="Cerrar llave 20"/>
          <p:cNvSpPr/>
          <p:nvPr/>
        </p:nvSpPr>
        <p:spPr>
          <a:xfrm rot="10800000">
            <a:off x="3489696" y="1745673"/>
            <a:ext cx="565067" cy="3696854"/>
          </a:xfrm>
          <a:prstGeom prst="rightBrace">
            <a:avLst>
              <a:gd name="adj1" fmla="val 8333"/>
              <a:gd name="adj2" fmla="val 47095"/>
            </a:avLst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3" name="CuadroTexto 22"/>
          <p:cNvSpPr txBox="1"/>
          <p:nvPr/>
        </p:nvSpPr>
        <p:spPr>
          <a:xfrm>
            <a:off x="2156041" y="3409434"/>
            <a:ext cx="7692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dirty="0" smtClean="0"/>
              <a:t>Activo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33080301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48360" y="0"/>
            <a:ext cx="10515600" cy="1325563"/>
          </a:xfrm>
        </p:spPr>
        <p:txBody>
          <a:bodyPr/>
          <a:lstStyle/>
          <a:p>
            <a:r>
              <a:rPr lang="es-PE" dirty="0" smtClean="0"/>
              <a:t>Composición de cuentas</a:t>
            </a:r>
            <a:endParaRPr lang="es-PE" dirty="0"/>
          </a:p>
        </p:txBody>
      </p:sp>
      <p:grpSp>
        <p:nvGrpSpPr>
          <p:cNvPr id="11" name="Grupo 10"/>
          <p:cNvGrpSpPr/>
          <p:nvPr/>
        </p:nvGrpSpPr>
        <p:grpSpPr>
          <a:xfrm>
            <a:off x="4883399" y="2246745"/>
            <a:ext cx="3001817" cy="3223492"/>
            <a:chOff x="2706256" y="2475345"/>
            <a:chExt cx="3001817" cy="3223492"/>
          </a:xfrm>
        </p:grpSpPr>
        <p:sp>
          <p:nvSpPr>
            <p:cNvPr id="4" name="Rectángulo 3"/>
            <p:cNvSpPr/>
            <p:nvPr/>
          </p:nvSpPr>
          <p:spPr>
            <a:xfrm>
              <a:off x="2706256" y="2475345"/>
              <a:ext cx="1533236" cy="3223491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MX" dirty="0" smtClean="0"/>
                <a:t>Activo</a:t>
              </a:r>
              <a:endParaRPr lang="es-PE" dirty="0"/>
            </a:p>
          </p:txBody>
        </p:sp>
        <p:sp>
          <p:nvSpPr>
            <p:cNvPr id="5" name="Rectángulo 4"/>
            <p:cNvSpPr/>
            <p:nvPr/>
          </p:nvSpPr>
          <p:spPr>
            <a:xfrm>
              <a:off x="4239492" y="2475345"/>
              <a:ext cx="1468581" cy="1681019"/>
            </a:xfrm>
            <a:prstGeom prst="rect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PE" dirty="0" smtClean="0"/>
                <a:t>Pasivo</a:t>
              </a:r>
              <a:endParaRPr lang="es-PE" dirty="0"/>
            </a:p>
          </p:txBody>
        </p:sp>
        <p:sp>
          <p:nvSpPr>
            <p:cNvPr id="6" name="Rectángulo 5"/>
            <p:cNvSpPr/>
            <p:nvPr/>
          </p:nvSpPr>
          <p:spPr>
            <a:xfrm>
              <a:off x="4239492" y="4156365"/>
              <a:ext cx="1468581" cy="1542472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PE" dirty="0" smtClean="0"/>
                <a:t>Patrimonio</a:t>
              </a:r>
              <a:endParaRPr lang="es-PE" dirty="0"/>
            </a:p>
          </p:txBody>
        </p:sp>
      </p:grpSp>
      <p:sp>
        <p:nvSpPr>
          <p:cNvPr id="3" name="CuadroTexto 2"/>
          <p:cNvSpPr txBox="1"/>
          <p:nvPr/>
        </p:nvSpPr>
        <p:spPr>
          <a:xfrm>
            <a:off x="2895600" y="2721429"/>
            <a:ext cx="197483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dirty="0" smtClean="0"/>
              <a:t>Efectivo</a:t>
            </a:r>
          </a:p>
          <a:p>
            <a:r>
              <a:rPr lang="es-PE" dirty="0" smtClean="0"/>
              <a:t>Cuentas por cobrar</a:t>
            </a:r>
          </a:p>
          <a:p>
            <a:r>
              <a:rPr lang="es-PE" dirty="0" smtClean="0"/>
              <a:t>Inventario</a:t>
            </a:r>
            <a:endParaRPr lang="es-PE" dirty="0"/>
          </a:p>
        </p:txBody>
      </p:sp>
      <p:sp>
        <p:nvSpPr>
          <p:cNvPr id="12" name="CuadroTexto 11"/>
          <p:cNvSpPr txBox="1"/>
          <p:nvPr/>
        </p:nvSpPr>
        <p:spPr>
          <a:xfrm>
            <a:off x="2895600" y="4386944"/>
            <a:ext cx="168334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dirty="0" smtClean="0"/>
              <a:t>Fijos tangibles</a:t>
            </a:r>
          </a:p>
          <a:p>
            <a:r>
              <a:rPr lang="es-PE" dirty="0" smtClean="0"/>
              <a:t>Fijos intangibles</a:t>
            </a:r>
            <a:endParaRPr lang="es-PE" dirty="0"/>
          </a:p>
        </p:txBody>
      </p:sp>
      <p:sp>
        <p:nvSpPr>
          <p:cNvPr id="13" name="CuadroTexto 12"/>
          <p:cNvSpPr txBox="1"/>
          <p:nvPr/>
        </p:nvSpPr>
        <p:spPr>
          <a:xfrm>
            <a:off x="8080500" y="2426754"/>
            <a:ext cx="189705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dirty="0" smtClean="0"/>
              <a:t>Cuentas por pagar</a:t>
            </a:r>
          </a:p>
          <a:p>
            <a:r>
              <a:rPr lang="es-PE" dirty="0" smtClean="0"/>
              <a:t>Deuda corriente</a:t>
            </a:r>
            <a:endParaRPr lang="es-PE" dirty="0"/>
          </a:p>
        </p:txBody>
      </p:sp>
      <p:sp>
        <p:nvSpPr>
          <p:cNvPr id="14" name="CuadroTexto 13"/>
          <p:cNvSpPr txBox="1"/>
          <p:nvPr/>
        </p:nvSpPr>
        <p:spPr>
          <a:xfrm>
            <a:off x="8080500" y="3229932"/>
            <a:ext cx="122982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dirty="0" smtClean="0"/>
              <a:t>Deuda a LP</a:t>
            </a:r>
          </a:p>
          <a:p>
            <a:r>
              <a:rPr lang="es-PE" dirty="0" smtClean="0"/>
              <a:t>Bonos</a:t>
            </a:r>
            <a:endParaRPr lang="es-PE" dirty="0"/>
          </a:p>
        </p:txBody>
      </p:sp>
      <p:sp>
        <p:nvSpPr>
          <p:cNvPr id="15" name="CuadroTexto 14"/>
          <p:cNvSpPr txBox="1"/>
          <p:nvPr/>
        </p:nvSpPr>
        <p:spPr>
          <a:xfrm>
            <a:off x="8080500" y="4481380"/>
            <a:ext cx="205825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dirty="0" smtClean="0"/>
              <a:t>Acciones</a:t>
            </a:r>
          </a:p>
          <a:p>
            <a:r>
              <a:rPr lang="es-PE" dirty="0" smtClean="0"/>
              <a:t>Utilidades retenidas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42231603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48360" y="0"/>
            <a:ext cx="10515600" cy="1325563"/>
          </a:xfrm>
        </p:spPr>
        <p:txBody>
          <a:bodyPr/>
          <a:lstStyle/>
          <a:p>
            <a:r>
              <a:rPr lang="es-PE" dirty="0" smtClean="0"/>
              <a:t>Composición de cuentas</a:t>
            </a:r>
            <a:endParaRPr lang="es-PE" dirty="0"/>
          </a:p>
        </p:txBody>
      </p:sp>
      <p:grpSp>
        <p:nvGrpSpPr>
          <p:cNvPr id="11" name="Grupo 10"/>
          <p:cNvGrpSpPr/>
          <p:nvPr/>
        </p:nvGrpSpPr>
        <p:grpSpPr>
          <a:xfrm>
            <a:off x="4883399" y="2246745"/>
            <a:ext cx="3001817" cy="3223492"/>
            <a:chOff x="2706256" y="2475345"/>
            <a:chExt cx="3001817" cy="3223492"/>
          </a:xfrm>
        </p:grpSpPr>
        <p:sp>
          <p:nvSpPr>
            <p:cNvPr id="4" name="Rectángulo 3"/>
            <p:cNvSpPr/>
            <p:nvPr/>
          </p:nvSpPr>
          <p:spPr>
            <a:xfrm>
              <a:off x="2706256" y="2475345"/>
              <a:ext cx="1533236" cy="3223491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MX" dirty="0" smtClean="0"/>
                <a:t>Activo</a:t>
              </a:r>
              <a:endParaRPr lang="es-PE" dirty="0"/>
            </a:p>
          </p:txBody>
        </p:sp>
        <p:sp>
          <p:nvSpPr>
            <p:cNvPr id="5" name="Rectángulo 4"/>
            <p:cNvSpPr/>
            <p:nvPr/>
          </p:nvSpPr>
          <p:spPr>
            <a:xfrm>
              <a:off x="4239492" y="2475345"/>
              <a:ext cx="1468581" cy="1681019"/>
            </a:xfrm>
            <a:prstGeom prst="rect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PE" dirty="0" smtClean="0"/>
                <a:t>Pasivo</a:t>
              </a:r>
              <a:endParaRPr lang="es-PE" dirty="0"/>
            </a:p>
          </p:txBody>
        </p:sp>
        <p:sp>
          <p:nvSpPr>
            <p:cNvPr id="6" name="Rectángulo 5"/>
            <p:cNvSpPr/>
            <p:nvPr/>
          </p:nvSpPr>
          <p:spPr>
            <a:xfrm>
              <a:off x="4239492" y="4156365"/>
              <a:ext cx="1468581" cy="1542472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PE" dirty="0" smtClean="0"/>
                <a:t>Patrimonio</a:t>
              </a:r>
              <a:endParaRPr lang="es-PE" dirty="0"/>
            </a:p>
          </p:txBody>
        </p:sp>
      </p:grpSp>
      <p:sp>
        <p:nvSpPr>
          <p:cNvPr id="13" name="CuadroTexto 12"/>
          <p:cNvSpPr txBox="1"/>
          <p:nvPr/>
        </p:nvSpPr>
        <p:spPr>
          <a:xfrm>
            <a:off x="8080500" y="2580306"/>
            <a:ext cx="84959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dirty="0" smtClean="0"/>
              <a:t>Bancos</a:t>
            </a:r>
          </a:p>
          <a:p>
            <a:r>
              <a:rPr lang="es-PE" dirty="0" smtClean="0"/>
              <a:t>Bonos</a:t>
            </a:r>
            <a:endParaRPr lang="es-PE" dirty="0"/>
          </a:p>
        </p:txBody>
      </p:sp>
      <p:sp>
        <p:nvSpPr>
          <p:cNvPr id="15" name="CuadroTexto 14"/>
          <p:cNvSpPr txBox="1"/>
          <p:nvPr/>
        </p:nvSpPr>
        <p:spPr>
          <a:xfrm>
            <a:off x="8080500" y="4481380"/>
            <a:ext cx="10150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dirty="0" smtClean="0"/>
              <a:t>Acciones</a:t>
            </a:r>
          </a:p>
        </p:txBody>
      </p:sp>
      <p:sp>
        <p:nvSpPr>
          <p:cNvPr id="3" name="CuadroTexto 2"/>
          <p:cNvSpPr txBox="1"/>
          <p:nvPr/>
        </p:nvSpPr>
        <p:spPr>
          <a:xfrm>
            <a:off x="932873" y="6345382"/>
            <a:ext cx="36572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dirty="0" smtClean="0"/>
              <a:t>La diferencia entre bonos y acciones!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42855839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61274" y="-92633"/>
            <a:ext cx="10515600" cy="1325563"/>
          </a:xfrm>
        </p:spPr>
        <p:txBody>
          <a:bodyPr/>
          <a:lstStyle/>
          <a:p>
            <a:r>
              <a:rPr lang="es-PE" dirty="0" smtClean="0"/>
              <a:t>Decisiones</a:t>
            </a:r>
            <a:endParaRPr lang="es-PE" dirty="0"/>
          </a:p>
        </p:txBody>
      </p:sp>
      <p:grpSp>
        <p:nvGrpSpPr>
          <p:cNvPr id="11" name="Grupo 10"/>
          <p:cNvGrpSpPr/>
          <p:nvPr/>
        </p:nvGrpSpPr>
        <p:grpSpPr>
          <a:xfrm>
            <a:off x="2716104" y="2312023"/>
            <a:ext cx="8560770" cy="3223492"/>
            <a:chOff x="2706256" y="2475345"/>
            <a:chExt cx="8560770" cy="3223492"/>
          </a:xfrm>
        </p:grpSpPr>
        <p:sp>
          <p:nvSpPr>
            <p:cNvPr id="4" name="Rectángulo 3"/>
            <p:cNvSpPr/>
            <p:nvPr/>
          </p:nvSpPr>
          <p:spPr>
            <a:xfrm>
              <a:off x="2706256" y="2475345"/>
              <a:ext cx="1533236" cy="3223491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MX" dirty="0" smtClean="0"/>
                <a:t>Activo</a:t>
              </a:r>
              <a:endParaRPr lang="es-PE" dirty="0"/>
            </a:p>
          </p:txBody>
        </p:sp>
        <p:sp>
          <p:nvSpPr>
            <p:cNvPr id="5" name="Rectángulo 4"/>
            <p:cNvSpPr/>
            <p:nvPr/>
          </p:nvSpPr>
          <p:spPr>
            <a:xfrm>
              <a:off x="4239492" y="2475345"/>
              <a:ext cx="1468581" cy="1681019"/>
            </a:xfrm>
            <a:prstGeom prst="rect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PE" dirty="0" smtClean="0"/>
                <a:t>Pasivo</a:t>
              </a:r>
              <a:endParaRPr lang="es-PE" dirty="0"/>
            </a:p>
          </p:txBody>
        </p:sp>
        <p:sp>
          <p:nvSpPr>
            <p:cNvPr id="6" name="Rectángulo 5"/>
            <p:cNvSpPr/>
            <p:nvPr/>
          </p:nvSpPr>
          <p:spPr>
            <a:xfrm>
              <a:off x="4239492" y="4156365"/>
              <a:ext cx="1468581" cy="1542472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PE" dirty="0" smtClean="0"/>
                <a:t>Patrimonio</a:t>
              </a:r>
              <a:endParaRPr lang="es-PE" dirty="0"/>
            </a:p>
          </p:txBody>
        </p:sp>
        <p:sp>
          <p:nvSpPr>
            <p:cNvPr id="7" name="CuadroTexto 6"/>
            <p:cNvSpPr txBox="1"/>
            <p:nvPr/>
          </p:nvSpPr>
          <p:spPr>
            <a:xfrm>
              <a:off x="5772728" y="3131188"/>
              <a:ext cx="119083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PE" dirty="0" err="1" smtClean="0"/>
                <a:t>K</a:t>
              </a:r>
              <a:r>
                <a:rPr lang="es-PE" baseline="-25000" dirty="0" err="1"/>
                <a:t>d</a:t>
              </a:r>
              <a:r>
                <a:rPr lang="es-PE" dirty="0" smtClean="0"/>
                <a:t> = i (1-T)</a:t>
              </a:r>
              <a:endParaRPr lang="es-PE" dirty="0"/>
            </a:p>
          </p:txBody>
        </p:sp>
        <p:sp>
          <p:nvSpPr>
            <p:cNvPr id="8" name="CuadroTexto 7"/>
            <p:cNvSpPr txBox="1"/>
            <p:nvPr/>
          </p:nvSpPr>
          <p:spPr>
            <a:xfrm>
              <a:off x="5809671" y="4742935"/>
              <a:ext cx="242091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dirty="0" err="1"/>
                <a:t>K</a:t>
              </a:r>
              <a:r>
                <a:rPr lang="es-ES_tradnl" baseline="-25000" dirty="0" err="1"/>
                <a:t>e</a:t>
              </a:r>
              <a:r>
                <a:rPr lang="es-ES_tradnl" dirty="0"/>
                <a:t> = </a:t>
              </a:r>
              <a:r>
                <a:rPr lang="es-ES_tradnl" dirty="0" err="1"/>
                <a:t>K</a:t>
              </a:r>
              <a:r>
                <a:rPr lang="es-ES_tradnl" baseline="-25000" dirty="0" err="1"/>
                <a:t>f</a:t>
              </a:r>
              <a:r>
                <a:rPr lang="es-ES_tradnl" baseline="-25000" dirty="0"/>
                <a:t> </a:t>
              </a:r>
              <a:r>
                <a:rPr lang="es-ES_tradnl" dirty="0"/>
                <a:t> + </a:t>
              </a:r>
              <a:r>
                <a:rPr lang="es-ES_tradnl" dirty="0">
                  <a:sym typeface="Symbol" panose="05050102010706020507" pitchFamily="18" charset="2"/>
                </a:rPr>
                <a:t></a:t>
              </a:r>
              <a:r>
                <a:rPr lang="es-ES_tradnl" dirty="0"/>
                <a:t>(K</a:t>
              </a:r>
              <a:r>
                <a:rPr lang="es-ES_tradnl" baseline="-25000" dirty="0"/>
                <a:t>m</a:t>
              </a:r>
              <a:r>
                <a:rPr lang="es-ES_tradnl" dirty="0"/>
                <a:t> - </a:t>
              </a:r>
              <a:r>
                <a:rPr lang="es-ES_tradnl" dirty="0" err="1"/>
                <a:t>K</a:t>
              </a:r>
              <a:r>
                <a:rPr lang="es-ES_tradnl" baseline="-25000" dirty="0" err="1"/>
                <a:t>f</a:t>
              </a:r>
              <a:r>
                <a:rPr lang="es-ES_tradnl" dirty="0"/>
                <a:t>) + </a:t>
              </a:r>
              <a:r>
                <a:rPr lang="es-ES_tradnl" dirty="0" err="1"/>
                <a:t>r</a:t>
              </a:r>
              <a:r>
                <a:rPr lang="es-ES_tradnl" baseline="-25000" dirty="0" err="1"/>
                <a:t>pais</a:t>
              </a:r>
              <a:endParaRPr lang="es-PE" dirty="0"/>
            </a:p>
          </p:txBody>
        </p:sp>
        <p:sp>
          <p:nvSpPr>
            <p:cNvPr id="9" name="Cerrar llave 8"/>
            <p:cNvSpPr/>
            <p:nvPr/>
          </p:nvSpPr>
          <p:spPr>
            <a:xfrm>
              <a:off x="7953499" y="2475345"/>
              <a:ext cx="554182" cy="3223491"/>
            </a:xfrm>
            <a:prstGeom prst="rightBrace">
              <a:avLst/>
            </a:prstGeom>
            <a:ln w="158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10" name="CuadroTexto 9"/>
            <p:cNvSpPr txBox="1"/>
            <p:nvPr/>
          </p:nvSpPr>
          <p:spPr>
            <a:xfrm>
              <a:off x="8507681" y="3902424"/>
              <a:ext cx="275934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WACC = W</a:t>
              </a:r>
              <a:r>
                <a:rPr lang="en-US" baseline="-25000" dirty="0"/>
                <a:t>e</a:t>
              </a:r>
              <a:r>
                <a:rPr lang="en-US" dirty="0"/>
                <a:t> * </a:t>
              </a:r>
              <a:r>
                <a:rPr lang="en-US" dirty="0" err="1"/>
                <a:t>K</a:t>
              </a:r>
              <a:r>
                <a:rPr lang="en-US" baseline="-25000" dirty="0" err="1"/>
                <a:t>e</a:t>
              </a:r>
              <a:r>
                <a:rPr lang="en-US" dirty="0"/>
                <a:t> + </a:t>
              </a:r>
              <a:r>
                <a:rPr lang="en-US" dirty="0" err="1"/>
                <a:t>W</a:t>
              </a:r>
              <a:r>
                <a:rPr lang="en-US" baseline="-25000" dirty="0" err="1"/>
                <a:t>d</a:t>
              </a:r>
              <a:r>
                <a:rPr lang="en-US" dirty="0"/>
                <a:t> * </a:t>
              </a:r>
              <a:r>
                <a:rPr lang="en-US" dirty="0" err="1"/>
                <a:t>K</a:t>
              </a:r>
              <a:r>
                <a:rPr lang="en-US" baseline="-25000" dirty="0" err="1"/>
                <a:t>d</a:t>
              </a:r>
              <a:r>
                <a:rPr lang="en-US" dirty="0"/>
                <a:t> </a:t>
              </a:r>
              <a:r>
                <a:rPr lang="en-US" dirty="0" smtClean="0"/>
                <a:t> </a:t>
              </a:r>
              <a:endParaRPr lang="es-PE" dirty="0"/>
            </a:p>
          </p:txBody>
        </p:sp>
      </p:grpSp>
      <p:sp>
        <p:nvSpPr>
          <p:cNvPr id="3" name="CuadroTexto 2"/>
          <p:cNvSpPr txBox="1"/>
          <p:nvPr/>
        </p:nvSpPr>
        <p:spPr>
          <a:xfrm>
            <a:off x="5717921" y="2598534"/>
            <a:ext cx="18646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dirty="0" smtClean="0"/>
              <a:t>Costo de la deuda</a:t>
            </a:r>
            <a:endParaRPr lang="es-PE" dirty="0"/>
          </a:p>
        </p:txBody>
      </p:sp>
      <p:sp>
        <p:nvSpPr>
          <p:cNvPr id="12" name="CuadroTexto 11"/>
          <p:cNvSpPr txBox="1"/>
          <p:nvPr/>
        </p:nvSpPr>
        <p:spPr>
          <a:xfrm>
            <a:off x="5782576" y="4227764"/>
            <a:ext cx="23979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dirty="0" smtClean="0"/>
              <a:t>Costo del capital propio</a:t>
            </a:r>
            <a:endParaRPr lang="es-PE" dirty="0"/>
          </a:p>
        </p:txBody>
      </p:sp>
      <p:sp>
        <p:nvSpPr>
          <p:cNvPr id="13" name="CuadroTexto 12"/>
          <p:cNvSpPr txBox="1"/>
          <p:nvPr/>
        </p:nvSpPr>
        <p:spPr>
          <a:xfrm>
            <a:off x="925286" y="1611086"/>
            <a:ext cx="48075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dirty="0" smtClean="0"/>
              <a:t>Composición del capital de la empresa (proyecto)</a:t>
            </a:r>
            <a:endParaRPr lang="es-PE" dirty="0"/>
          </a:p>
        </p:txBody>
      </p:sp>
      <p:sp>
        <p:nvSpPr>
          <p:cNvPr id="14" name="CuadroTexto 13"/>
          <p:cNvSpPr txBox="1"/>
          <p:nvPr/>
        </p:nvSpPr>
        <p:spPr>
          <a:xfrm>
            <a:off x="1229360" y="5867120"/>
            <a:ext cx="661072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dirty="0" err="1" smtClean="0"/>
              <a:t>K</a:t>
            </a:r>
            <a:r>
              <a:rPr lang="es-PE" baseline="-25000" dirty="0" err="1" smtClean="0"/>
              <a:t>e</a:t>
            </a:r>
            <a:r>
              <a:rPr lang="es-PE" dirty="0" smtClean="0"/>
              <a:t> 	Costo del capital de propietario para la inversión específica</a:t>
            </a:r>
          </a:p>
          <a:p>
            <a:r>
              <a:rPr lang="es-PE" dirty="0" err="1"/>
              <a:t>K</a:t>
            </a:r>
            <a:r>
              <a:rPr lang="es-PE" baseline="-25000" dirty="0" err="1"/>
              <a:t>d</a:t>
            </a:r>
            <a:r>
              <a:rPr lang="es-PE" dirty="0"/>
              <a:t> </a:t>
            </a:r>
            <a:r>
              <a:rPr lang="es-PE" dirty="0" smtClean="0"/>
              <a:t>	Costo de la deuda</a:t>
            </a:r>
          </a:p>
          <a:p>
            <a:r>
              <a:rPr lang="es-PE" dirty="0" smtClean="0"/>
              <a:t>WACC	Costo del capital de la empresa 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4831196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 smtClean="0"/>
              <a:t>Interrelación</a:t>
            </a:r>
            <a:endParaRPr lang="es-PE" dirty="0"/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>
          <a:xfrm>
            <a:off x="1066799" y="1778905"/>
            <a:ext cx="10635343" cy="15378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s-MX" altLang="es-PE" dirty="0" smtClean="0"/>
              <a:t>En general los proyectos que son razonablemente rentables, buscarán mejorar su rentabilidad vía el endeudamiento. Por lo que es racional que la empresa adquiera un crédito.</a:t>
            </a:r>
          </a:p>
          <a:p>
            <a:endParaRPr lang="es-MX" altLang="es-PE" b="1" dirty="0">
              <a:solidFill>
                <a:schemeClr val="bg1"/>
              </a:solidFill>
            </a:endParaRP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>
          <a:xfrm>
            <a:off x="1066799" y="3316763"/>
            <a:ext cx="10635343" cy="318200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s-MX" altLang="es-PE" dirty="0" smtClean="0"/>
              <a:t>El flujo de caja económico si todo el capital de inversión lo pone el propietario, luego </a:t>
            </a:r>
            <a:r>
              <a:rPr lang="es-MX" altLang="es-PE" dirty="0" err="1" smtClean="0"/>
              <a:t>Wd</a:t>
            </a:r>
            <a:r>
              <a:rPr lang="es-MX" altLang="es-PE" dirty="0" smtClean="0"/>
              <a:t>=0, por lo que WACC = </a:t>
            </a:r>
            <a:r>
              <a:rPr lang="es-MX" altLang="es-PE" dirty="0" err="1" smtClean="0"/>
              <a:t>Ke</a:t>
            </a:r>
            <a:r>
              <a:rPr lang="es-MX" altLang="es-PE" dirty="0" smtClean="0"/>
              <a:t>. Sin embargo, lo mas probable es que el proyecto asuma un crédito, en general el flujo de caja económico se </a:t>
            </a:r>
            <a:r>
              <a:rPr lang="es-MX" altLang="es-PE" dirty="0" err="1" smtClean="0"/>
              <a:t>deb</a:t>
            </a:r>
            <a:r>
              <a:rPr lang="es-MX" altLang="es-PE" dirty="0" smtClean="0"/>
              <a:t> evaluar al WACC.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s-MX" altLang="es-PE" dirty="0" smtClean="0"/>
              <a:t>En el flujo de caja financiero, la inversión neta es (Inversión total menos el préstamo) es a riesgo del propietario y como tal el flujo de caja libre financiero debe retribuir la expectativa del capital del propietario.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s-MX" altLang="es-PE" dirty="0" smtClean="0"/>
              <a:t>El flujo de caja financiero se actualiza según el </a:t>
            </a:r>
            <a:r>
              <a:rPr lang="es-MX" altLang="es-PE" dirty="0" err="1" smtClean="0"/>
              <a:t>Ke</a:t>
            </a:r>
            <a:r>
              <a:rPr lang="es-MX" altLang="es-PE" dirty="0" smtClean="0"/>
              <a:t>.</a:t>
            </a:r>
          </a:p>
          <a:p>
            <a:endParaRPr lang="es-MX" altLang="es-PE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05752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 smtClean="0"/>
              <a:t>Ejemplo de calculo de CAPM(</a:t>
            </a:r>
            <a:r>
              <a:rPr lang="es-PE" dirty="0" err="1" smtClean="0"/>
              <a:t>Ke</a:t>
            </a:r>
            <a:r>
              <a:rPr lang="es-PE" dirty="0" smtClean="0"/>
              <a:t>) y WACC</a:t>
            </a:r>
            <a:endParaRPr lang="es-PE" dirty="0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7366" y="1491660"/>
            <a:ext cx="4654958" cy="5049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93474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 smtClean="0"/>
              <a:t>Síntesis</a:t>
            </a:r>
            <a:endParaRPr lang="es-PE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PE" dirty="0" smtClean="0"/>
              <a:t>Flujo de caja económico.</a:t>
            </a:r>
          </a:p>
          <a:p>
            <a:pPr lvl="1"/>
            <a:r>
              <a:rPr lang="es-PE" dirty="0" smtClean="0"/>
              <a:t>El flujo de actualiza con el WACC</a:t>
            </a:r>
          </a:p>
          <a:p>
            <a:pPr lvl="1"/>
            <a:r>
              <a:rPr lang="es-PE" dirty="0" smtClean="0"/>
              <a:t>Con capital 100% propio, WACC=</a:t>
            </a:r>
            <a:r>
              <a:rPr lang="es-PE" dirty="0" err="1" smtClean="0"/>
              <a:t>Ke</a:t>
            </a:r>
            <a:r>
              <a:rPr lang="es-PE" dirty="0" smtClean="0"/>
              <a:t>=cok</a:t>
            </a:r>
          </a:p>
          <a:p>
            <a:pPr lvl="1"/>
            <a:r>
              <a:rPr lang="es-PE" dirty="0" smtClean="0"/>
              <a:t>En estas condiciones el flujo de caja económico se actualizará con el cok</a:t>
            </a:r>
          </a:p>
          <a:p>
            <a:r>
              <a:rPr lang="es-PE" dirty="0" smtClean="0"/>
              <a:t>Flujo de caja económico financiero</a:t>
            </a:r>
          </a:p>
          <a:p>
            <a:pPr lvl="1"/>
            <a:r>
              <a:rPr lang="es-PE" dirty="0" smtClean="0"/>
              <a:t>El flujo se actualiza con el cok, dado que el capital neto es solo de los inversionistas.</a:t>
            </a:r>
          </a:p>
          <a:p>
            <a:pPr lvl="1"/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36929989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2781"/>
          </a:xfrm>
        </p:spPr>
        <p:txBody>
          <a:bodyPr>
            <a:normAutofit fontScale="90000"/>
          </a:bodyPr>
          <a:lstStyle/>
          <a:p>
            <a:r>
              <a:rPr lang="es-PE" dirty="0" smtClean="0"/>
              <a:t>WACC regulación servicios públicos (Perú)</a:t>
            </a:r>
            <a:endParaRPr lang="es-PE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9499" y="1027906"/>
            <a:ext cx="4573002" cy="5856142"/>
          </a:xfrm>
          <a:prstGeom prst="rect">
            <a:avLst/>
          </a:prstGeom>
        </p:spPr>
      </p:pic>
      <p:sp>
        <p:nvSpPr>
          <p:cNvPr id="5" name="CuadroTexto 4"/>
          <p:cNvSpPr txBox="1"/>
          <p:nvPr/>
        </p:nvSpPr>
        <p:spPr>
          <a:xfrm>
            <a:off x="9107906" y="6424863"/>
            <a:ext cx="29498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1400" dirty="0" smtClean="0"/>
              <a:t>Fuente: PUCP. CDA. RDA 12.  </a:t>
            </a:r>
            <a:r>
              <a:rPr lang="es-PE" sz="1400" dirty="0" err="1" smtClean="0"/>
              <a:t>Davila</a:t>
            </a:r>
            <a:r>
              <a:rPr lang="es-PE" sz="1400" dirty="0" smtClean="0"/>
              <a:t>, S.</a:t>
            </a:r>
            <a:endParaRPr lang="es-PE" sz="1400" dirty="0"/>
          </a:p>
        </p:txBody>
      </p:sp>
    </p:spTree>
    <p:extLst>
      <p:ext uri="{BB962C8B-B14F-4D97-AF65-F5344CB8AC3E}">
        <p14:creationId xmlns:p14="http://schemas.microsoft.com/office/powerpoint/2010/main" val="16639652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3458</TotalTime>
  <Words>1129</Words>
  <Application>Microsoft Office PowerPoint</Application>
  <PresentationFormat>Panorámica</PresentationFormat>
  <Paragraphs>230</Paragraphs>
  <Slides>27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27</vt:i4>
      </vt:variant>
    </vt:vector>
  </HeadingPairs>
  <TitlesOfParts>
    <vt:vector size="32" baseType="lpstr">
      <vt:lpstr>Arial</vt:lpstr>
      <vt:lpstr>Calibri</vt:lpstr>
      <vt:lpstr>Calibri Light</vt:lpstr>
      <vt:lpstr>Symbol</vt:lpstr>
      <vt:lpstr>Tema de Office</vt:lpstr>
      <vt:lpstr>Capítulo VI</vt:lpstr>
      <vt:lpstr>Flujo de caja económico (Capital propio)</vt:lpstr>
      <vt:lpstr>Estructura flujo de caja económico</vt:lpstr>
      <vt:lpstr>Flujo de caja financiero (Capital propio + préstamo)</vt:lpstr>
      <vt:lpstr>Estructura flujo de caja financiero</vt:lpstr>
      <vt:lpstr>Proyección de ingresos</vt:lpstr>
      <vt:lpstr>Dado el flujo: ¿A que tasa actualizar?</vt:lpstr>
      <vt:lpstr>Dado el flujo: ¿A que tasa actualizar?</vt:lpstr>
      <vt:lpstr>Fuentes de financiamiento</vt:lpstr>
      <vt:lpstr>La tasa de actualización</vt:lpstr>
      <vt:lpstr>Costo de oportunidad de capital (cok) de los inversionistas</vt:lpstr>
      <vt:lpstr>¿En que círculo te mueves?</vt:lpstr>
      <vt:lpstr>Presentación de PowerPoint</vt:lpstr>
      <vt:lpstr>Costo de los activos financieros (CAPM)</vt:lpstr>
      <vt:lpstr>CAPM (Capital asset pricing model)</vt:lpstr>
      <vt:lpstr>Costo de la Deuda (kd)</vt:lpstr>
      <vt:lpstr>Promedio ponderado de capital (WACC)</vt:lpstr>
      <vt:lpstr>Costo promedio ponderado de capital (WACC)</vt:lpstr>
      <vt:lpstr>Las cuentas de la empresa (proyecto)</vt:lpstr>
      <vt:lpstr>La contabilidad</vt:lpstr>
      <vt:lpstr>Composición de cuentas</vt:lpstr>
      <vt:lpstr>Composición de cuentas</vt:lpstr>
      <vt:lpstr>Decisiones</vt:lpstr>
      <vt:lpstr>Interrelación</vt:lpstr>
      <vt:lpstr>Ejemplo de calculo de CAPM(Ke) y WACC</vt:lpstr>
      <vt:lpstr>Síntesis</vt:lpstr>
      <vt:lpstr>WACC regulación servicios públicos (Perú)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Flujos de caja  Económico - Financiero</dc:title>
  <dc:creator>Julio Salvador Jacome</dc:creator>
  <cp:lastModifiedBy>Julio Salvador Jacome</cp:lastModifiedBy>
  <cp:revision>71</cp:revision>
  <dcterms:created xsi:type="dcterms:W3CDTF">2018-05-07T21:59:44Z</dcterms:created>
  <dcterms:modified xsi:type="dcterms:W3CDTF">2021-01-28T23:25:14Z</dcterms:modified>
</cp:coreProperties>
</file>