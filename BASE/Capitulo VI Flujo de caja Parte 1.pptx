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332" r:id="rId2"/>
    <p:sldId id="257" r:id="rId3"/>
    <p:sldId id="261" r:id="rId4"/>
    <p:sldId id="258" r:id="rId5"/>
    <p:sldId id="330" r:id="rId6"/>
    <p:sldId id="259" r:id="rId7"/>
    <p:sldId id="260" r:id="rId8"/>
    <p:sldId id="331" r:id="rId9"/>
    <p:sldId id="262" r:id="rId10"/>
    <p:sldId id="263" r:id="rId11"/>
    <p:sldId id="264" r:id="rId12"/>
    <p:sldId id="333" r:id="rId13"/>
    <p:sldId id="334" r:id="rId14"/>
    <p:sldId id="265" r:id="rId15"/>
    <p:sldId id="266" r:id="rId16"/>
    <p:sldId id="275" r:id="rId17"/>
    <p:sldId id="316" r:id="rId18"/>
    <p:sldId id="317" r:id="rId19"/>
    <p:sldId id="318" r:id="rId20"/>
    <p:sldId id="319" r:id="rId21"/>
    <p:sldId id="320" r:id="rId22"/>
    <p:sldId id="321" r:id="rId23"/>
    <p:sldId id="322" r:id="rId24"/>
    <p:sldId id="276" r:id="rId25"/>
    <p:sldId id="277" r:id="rId26"/>
    <p:sldId id="278" r:id="rId27"/>
    <p:sldId id="279" r:id="rId28"/>
    <p:sldId id="280" r:id="rId29"/>
    <p:sldId id="281" r:id="rId30"/>
    <p:sldId id="282" r:id="rId31"/>
    <p:sldId id="283" r:id="rId32"/>
    <p:sldId id="284" r:id="rId33"/>
    <p:sldId id="286" r:id="rId34"/>
    <p:sldId id="287" r:id="rId35"/>
    <p:sldId id="288" r:id="rId36"/>
    <p:sldId id="289" r:id="rId37"/>
    <p:sldId id="299" r:id="rId38"/>
    <p:sldId id="323" r:id="rId39"/>
    <p:sldId id="324" r:id="rId40"/>
    <p:sldId id="325" r:id="rId41"/>
    <p:sldId id="326" r:id="rId42"/>
    <p:sldId id="329" r:id="rId43"/>
    <p:sldId id="327" r:id="rId44"/>
    <p:sldId id="328" r:id="rId45"/>
    <p:sldId id="315" r:id="rId46"/>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C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8" autoAdjust="0"/>
    <p:restoredTop sz="94660"/>
  </p:normalViewPr>
  <p:slideViewPr>
    <p:cSldViewPr snapToGrid="0">
      <p:cViewPr varScale="1">
        <p:scale>
          <a:sx n="69" d="100"/>
          <a:sy n="69" d="100"/>
        </p:scale>
        <p:origin x="448" y="44"/>
      </p:cViewPr>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oleObject" Target="file:///D:\UNI\Ingenieria%20economica\Sesiones\Sesion%206%20.%20Flujo%20de%20fondos\ajuste%20curva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oleObject" Target="file:///D:\UNI\Ingenieria%20economica\Sesiones\Sesion%206%20.%20Flujo%20de%20fondos\ajuste%20curva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spPr>
            <a:ln w="57150" cap="rnd">
              <a:solidFill>
                <a:schemeClr val="accent1"/>
              </a:solidFill>
              <a:round/>
            </a:ln>
            <a:effectLst/>
          </c:spPr>
          <c:marker>
            <c:symbol val="none"/>
          </c:marker>
          <c:val>
            <c:numRef>
              <c:f>Enunciado!$C$5:$C$14</c:f>
              <c:numCache>
                <c:formatCode>0.0</c:formatCode>
                <c:ptCount val="10"/>
                <c:pt idx="0">
                  <c:v>1</c:v>
                </c:pt>
                <c:pt idx="1">
                  <c:v>3.5</c:v>
                </c:pt>
                <c:pt idx="2">
                  <c:v>4.5</c:v>
                </c:pt>
                <c:pt idx="3">
                  <c:v>5</c:v>
                </c:pt>
                <c:pt idx="4">
                  <c:v>5.5</c:v>
                </c:pt>
                <c:pt idx="5">
                  <c:v>5.5</c:v>
                </c:pt>
                <c:pt idx="6">
                  <c:v>6</c:v>
                </c:pt>
                <c:pt idx="7">
                  <c:v>6.5</c:v>
                </c:pt>
                <c:pt idx="8">
                  <c:v>8</c:v>
                </c:pt>
                <c:pt idx="9">
                  <c:v>10</c:v>
                </c:pt>
              </c:numCache>
            </c:numRef>
          </c:val>
          <c:smooth val="0"/>
          <c:extLst>
            <c:ext xmlns:c16="http://schemas.microsoft.com/office/drawing/2014/chart" uri="{C3380CC4-5D6E-409C-BE32-E72D297353CC}">
              <c16:uniqueId val="{00000000-8934-411D-AEA3-7423A1F86560}"/>
            </c:ext>
          </c:extLst>
        </c:ser>
        <c:dLbls>
          <c:showLegendKey val="0"/>
          <c:showVal val="0"/>
          <c:showCatName val="0"/>
          <c:showSerName val="0"/>
          <c:showPercent val="0"/>
          <c:showBubbleSize val="0"/>
        </c:dLbls>
        <c:smooth val="0"/>
        <c:axId val="199494880"/>
        <c:axId val="199496960"/>
      </c:lineChart>
      <c:catAx>
        <c:axId val="199494880"/>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PE"/>
          </a:p>
        </c:txPr>
        <c:crossAx val="199496960"/>
        <c:crosses val="autoZero"/>
        <c:auto val="1"/>
        <c:lblAlgn val="ctr"/>
        <c:lblOffset val="100"/>
        <c:noMultiLvlLbl val="0"/>
      </c:catAx>
      <c:valAx>
        <c:axId val="199496960"/>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040" b="0" i="0" u="none" strike="noStrike" kern="1200" baseline="0">
                <a:solidFill>
                  <a:schemeClr val="tx1">
                    <a:lumMod val="65000"/>
                    <a:lumOff val="35000"/>
                  </a:schemeClr>
                </a:solidFill>
                <a:latin typeface="+mn-lt"/>
                <a:ea typeface="+mn-ea"/>
                <a:cs typeface="+mn-cs"/>
              </a:defRPr>
            </a:pPr>
            <a:endParaRPr lang="es-PE"/>
          </a:p>
        </c:txPr>
        <c:crossAx val="1994948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P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v>Lorigen</c:v>
          </c:tx>
          <c:spPr>
            <a:ln w="44450"/>
          </c:spPr>
          <c:marker>
            <c:symbol val="none"/>
          </c:marker>
          <c:val>
            <c:numRef>
              <c:f>Proyecciones!$B$4:$B$23</c:f>
              <c:numCache>
                <c:formatCode>0.0</c:formatCode>
                <c:ptCount val="20"/>
                <c:pt idx="0">
                  <c:v>1</c:v>
                </c:pt>
                <c:pt idx="1">
                  <c:v>3.5</c:v>
                </c:pt>
                <c:pt idx="2">
                  <c:v>4.5</c:v>
                </c:pt>
                <c:pt idx="3">
                  <c:v>5</c:v>
                </c:pt>
                <c:pt idx="4">
                  <c:v>5.5</c:v>
                </c:pt>
                <c:pt idx="5">
                  <c:v>5.5</c:v>
                </c:pt>
                <c:pt idx="6">
                  <c:v>6</c:v>
                </c:pt>
                <c:pt idx="7">
                  <c:v>6.5</c:v>
                </c:pt>
                <c:pt idx="8">
                  <c:v>8</c:v>
                </c:pt>
                <c:pt idx="9">
                  <c:v>10</c:v>
                </c:pt>
                <c:pt idx="10">
                  <c:v>10.5138</c:v>
                </c:pt>
                <c:pt idx="11">
                  <c:v>11.4696</c:v>
                </c:pt>
                <c:pt idx="12">
                  <c:v>12.4254</c:v>
                </c:pt>
                <c:pt idx="13">
                  <c:v>13.3812</c:v>
                </c:pt>
                <c:pt idx="14">
                  <c:v>14.337</c:v>
                </c:pt>
                <c:pt idx="15">
                  <c:v>15.2928</c:v>
                </c:pt>
                <c:pt idx="16">
                  <c:v>16.2486</c:v>
                </c:pt>
                <c:pt idx="17">
                  <c:v>17.2044</c:v>
                </c:pt>
                <c:pt idx="18">
                  <c:v>18.1602</c:v>
                </c:pt>
                <c:pt idx="19">
                  <c:v>19.116</c:v>
                </c:pt>
              </c:numCache>
            </c:numRef>
          </c:val>
          <c:smooth val="0"/>
          <c:extLst>
            <c:ext xmlns:c16="http://schemas.microsoft.com/office/drawing/2014/chart" uri="{C3380CC4-5D6E-409C-BE32-E72D297353CC}">
              <c16:uniqueId val="{00000000-ACDE-4F1A-AA25-D5730D2E9401}"/>
            </c:ext>
          </c:extLst>
        </c:ser>
        <c:ser>
          <c:idx val="1"/>
          <c:order val="1"/>
          <c:tx>
            <c:v>lajustado</c:v>
          </c:tx>
          <c:spPr>
            <a:ln w="50800"/>
          </c:spPr>
          <c:marker>
            <c:symbol val="none"/>
          </c:marker>
          <c:val>
            <c:numRef>
              <c:f>Proyecciones!$C$4:$C$23</c:f>
              <c:numCache>
                <c:formatCode>0.0</c:formatCode>
                <c:ptCount val="20"/>
                <c:pt idx="0">
                  <c:v>1</c:v>
                </c:pt>
                <c:pt idx="1">
                  <c:v>3.5</c:v>
                </c:pt>
                <c:pt idx="2">
                  <c:v>4.5</c:v>
                </c:pt>
                <c:pt idx="3">
                  <c:v>5</c:v>
                </c:pt>
                <c:pt idx="4">
                  <c:v>5.5</c:v>
                </c:pt>
                <c:pt idx="5">
                  <c:v>5.5</c:v>
                </c:pt>
                <c:pt idx="6">
                  <c:v>6</c:v>
                </c:pt>
                <c:pt idx="7">
                  <c:v>6.5</c:v>
                </c:pt>
                <c:pt idx="8">
                  <c:v>8</c:v>
                </c:pt>
                <c:pt idx="9">
                  <c:v>10</c:v>
                </c:pt>
                <c:pt idx="10">
                  <c:v>9.7332999999999998</c:v>
                </c:pt>
                <c:pt idx="11">
                  <c:v>10.4939</c:v>
                </c:pt>
                <c:pt idx="12">
                  <c:v>11.2545</c:v>
                </c:pt>
                <c:pt idx="13">
                  <c:v>12.0151</c:v>
                </c:pt>
                <c:pt idx="14">
                  <c:v>12.775700000000001</c:v>
                </c:pt>
                <c:pt idx="15">
                  <c:v>13.536300000000001</c:v>
                </c:pt>
                <c:pt idx="16">
                  <c:v>14.296900000000001</c:v>
                </c:pt>
                <c:pt idx="17">
                  <c:v>15.057500000000001</c:v>
                </c:pt>
                <c:pt idx="18">
                  <c:v>15.818100000000001</c:v>
                </c:pt>
                <c:pt idx="19">
                  <c:v>16.578700000000001</c:v>
                </c:pt>
              </c:numCache>
            </c:numRef>
          </c:val>
          <c:smooth val="0"/>
          <c:extLst>
            <c:ext xmlns:c16="http://schemas.microsoft.com/office/drawing/2014/chart" uri="{C3380CC4-5D6E-409C-BE32-E72D297353CC}">
              <c16:uniqueId val="{00000001-ACDE-4F1A-AA25-D5730D2E9401}"/>
            </c:ext>
          </c:extLst>
        </c:ser>
        <c:ser>
          <c:idx val="2"/>
          <c:order val="2"/>
          <c:tx>
            <c:v>Polinom</c:v>
          </c:tx>
          <c:spPr>
            <a:ln w="63500"/>
          </c:spPr>
          <c:marker>
            <c:symbol val="none"/>
          </c:marker>
          <c:val>
            <c:numRef>
              <c:f>Proyecciones!$D$4:$D$23</c:f>
              <c:numCache>
                <c:formatCode>0.0</c:formatCode>
                <c:ptCount val="20"/>
                <c:pt idx="0">
                  <c:v>1</c:v>
                </c:pt>
                <c:pt idx="1">
                  <c:v>3.5</c:v>
                </c:pt>
                <c:pt idx="2">
                  <c:v>4.5</c:v>
                </c:pt>
                <c:pt idx="3">
                  <c:v>5</c:v>
                </c:pt>
                <c:pt idx="4">
                  <c:v>5.5</c:v>
                </c:pt>
                <c:pt idx="5">
                  <c:v>5.5</c:v>
                </c:pt>
                <c:pt idx="6">
                  <c:v>6</c:v>
                </c:pt>
                <c:pt idx="7">
                  <c:v>6.5</c:v>
                </c:pt>
                <c:pt idx="8">
                  <c:v>8</c:v>
                </c:pt>
                <c:pt idx="9">
                  <c:v>10</c:v>
                </c:pt>
                <c:pt idx="10">
                  <c:v>13.425199999999991</c:v>
                </c:pt>
                <c:pt idx="11">
                  <c:v>18.134499999999989</c:v>
                </c:pt>
                <c:pt idx="12">
                  <c:v>24.474800000000002</c:v>
                </c:pt>
                <c:pt idx="13">
                  <c:v>32.695699999999995</c:v>
                </c:pt>
                <c:pt idx="14">
                  <c:v>43.046800000000012</c:v>
                </c:pt>
                <c:pt idx="15">
                  <c:v>55.777699999999982</c:v>
                </c:pt>
                <c:pt idx="16">
                  <c:v>71.137999999999991</c:v>
                </c:pt>
                <c:pt idx="17">
                  <c:v>89.377299999999991</c:v>
                </c:pt>
                <c:pt idx="18">
                  <c:v>110.74519999999997</c:v>
                </c:pt>
                <c:pt idx="19">
                  <c:v>135.49129999999997</c:v>
                </c:pt>
              </c:numCache>
            </c:numRef>
          </c:val>
          <c:smooth val="0"/>
          <c:extLst>
            <c:ext xmlns:c16="http://schemas.microsoft.com/office/drawing/2014/chart" uri="{C3380CC4-5D6E-409C-BE32-E72D297353CC}">
              <c16:uniqueId val="{00000002-ACDE-4F1A-AA25-D5730D2E9401}"/>
            </c:ext>
          </c:extLst>
        </c:ser>
        <c:ser>
          <c:idx val="3"/>
          <c:order val="3"/>
          <c:tx>
            <c:v>Logarit</c:v>
          </c:tx>
          <c:spPr>
            <a:ln w="47625"/>
          </c:spPr>
          <c:marker>
            <c:symbol val="none"/>
          </c:marker>
          <c:val>
            <c:numRef>
              <c:f>Proyecciones!$E$4:$E$23</c:f>
              <c:numCache>
                <c:formatCode>0.0</c:formatCode>
                <c:ptCount val="20"/>
                <c:pt idx="0">
                  <c:v>1</c:v>
                </c:pt>
                <c:pt idx="1">
                  <c:v>3.5</c:v>
                </c:pt>
                <c:pt idx="2">
                  <c:v>4.5</c:v>
                </c:pt>
                <c:pt idx="3">
                  <c:v>5</c:v>
                </c:pt>
                <c:pt idx="4">
                  <c:v>5.5</c:v>
                </c:pt>
                <c:pt idx="5">
                  <c:v>5.5</c:v>
                </c:pt>
                <c:pt idx="6">
                  <c:v>6</c:v>
                </c:pt>
                <c:pt idx="7">
                  <c:v>6.5</c:v>
                </c:pt>
                <c:pt idx="8">
                  <c:v>8</c:v>
                </c:pt>
                <c:pt idx="9">
                  <c:v>10</c:v>
                </c:pt>
                <c:pt idx="10" formatCode="0.00">
                  <c:v>8.2979429226928758</c:v>
                </c:pt>
                <c:pt idx="11" formatCode="0.00">
                  <c:v>8.5673649504035652</c:v>
                </c:pt>
                <c:pt idx="12" formatCode="0.00">
                  <c:v>8.8152091904439018</c:v>
                </c:pt>
                <c:pt idx="13" formatCode="0.00">
                  <c:v>9.0446771154206864</c:v>
                </c:pt>
                <c:pt idx="14" formatCode="0.00">
                  <c:v>9.2583066426928831</c:v>
                </c:pt>
                <c:pt idx="15" formatCode="0.00">
                  <c:v>9.4581437195432585</c:v>
                </c:pt>
                <c:pt idx="16" formatCode="0.00">
                  <c:v>9.6458617985356696</c:v>
                </c:pt>
                <c:pt idx="17" formatCode="0.00">
                  <c:v>9.8228471111496845</c:v>
                </c:pt>
                <c:pt idx="18" formatCode="0.00">
                  <c:v>9.9902608550909662</c:v>
                </c:pt>
                <c:pt idx="19" formatCode="0.00">
                  <c:v>10.149085411832576</c:v>
                </c:pt>
              </c:numCache>
            </c:numRef>
          </c:val>
          <c:smooth val="0"/>
          <c:extLst>
            <c:ext xmlns:c16="http://schemas.microsoft.com/office/drawing/2014/chart" uri="{C3380CC4-5D6E-409C-BE32-E72D297353CC}">
              <c16:uniqueId val="{00000003-ACDE-4F1A-AA25-D5730D2E9401}"/>
            </c:ext>
          </c:extLst>
        </c:ser>
        <c:ser>
          <c:idx val="4"/>
          <c:order val="4"/>
          <c:tx>
            <c:v>Expon</c:v>
          </c:tx>
          <c:spPr>
            <a:ln w="60325"/>
          </c:spPr>
          <c:marker>
            <c:symbol val="none"/>
          </c:marker>
          <c:val>
            <c:numRef>
              <c:f>Proyecciones!$F$4:$F$23</c:f>
              <c:numCache>
                <c:formatCode>0.0</c:formatCode>
                <c:ptCount val="20"/>
                <c:pt idx="0">
                  <c:v>1</c:v>
                </c:pt>
                <c:pt idx="1">
                  <c:v>3.5</c:v>
                </c:pt>
                <c:pt idx="2">
                  <c:v>4.5</c:v>
                </c:pt>
                <c:pt idx="3">
                  <c:v>5</c:v>
                </c:pt>
                <c:pt idx="4">
                  <c:v>5.5</c:v>
                </c:pt>
                <c:pt idx="5">
                  <c:v>5.5</c:v>
                </c:pt>
                <c:pt idx="6">
                  <c:v>6</c:v>
                </c:pt>
                <c:pt idx="7">
                  <c:v>6.5</c:v>
                </c:pt>
                <c:pt idx="8">
                  <c:v>8</c:v>
                </c:pt>
                <c:pt idx="9">
                  <c:v>10</c:v>
                </c:pt>
                <c:pt idx="10">
                  <c:v>12.744021789236024</c:v>
                </c:pt>
                <c:pt idx="11">
                  <c:v>15.182785943535819</c:v>
                </c:pt>
                <c:pt idx="12">
                  <c:v>18.08824504693882</c:v>
                </c:pt>
                <c:pt idx="13">
                  <c:v>21.549708340412192</c:v>
                </c:pt>
                <c:pt idx="14">
                  <c:v>25.673575758828083</c:v>
                </c:pt>
                <c:pt idx="15">
                  <c:v>30.586608497536513</c:v>
                </c:pt>
                <c:pt idx="16">
                  <c:v>36.43982545204593</c:v>
                </c:pt>
                <c:pt idx="17">
                  <c:v>43.413145301236057</c:v>
                </c:pt>
                <c:pt idx="18">
                  <c:v>51.720916924436509</c:v>
                </c:pt>
                <c:pt idx="19">
                  <c:v>61.618508148689664</c:v>
                </c:pt>
              </c:numCache>
            </c:numRef>
          </c:val>
          <c:smooth val="0"/>
          <c:extLst>
            <c:ext xmlns:c16="http://schemas.microsoft.com/office/drawing/2014/chart" uri="{C3380CC4-5D6E-409C-BE32-E72D297353CC}">
              <c16:uniqueId val="{00000004-ACDE-4F1A-AA25-D5730D2E9401}"/>
            </c:ext>
          </c:extLst>
        </c:ser>
        <c:dLbls>
          <c:showLegendKey val="0"/>
          <c:showVal val="0"/>
          <c:showCatName val="0"/>
          <c:showSerName val="0"/>
          <c:showPercent val="0"/>
          <c:showBubbleSize val="0"/>
        </c:dLbls>
        <c:smooth val="0"/>
        <c:axId val="117380992"/>
        <c:axId val="117388800"/>
      </c:lineChart>
      <c:catAx>
        <c:axId val="117380992"/>
        <c:scaling>
          <c:orientation val="minMax"/>
        </c:scaling>
        <c:delete val="0"/>
        <c:axPos val="b"/>
        <c:majorTickMark val="out"/>
        <c:minorTickMark val="none"/>
        <c:tickLblPos val="nextTo"/>
        <c:txPr>
          <a:bodyPr/>
          <a:lstStyle/>
          <a:p>
            <a:pPr>
              <a:defRPr sz="2000" baseline="0"/>
            </a:pPr>
            <a:endParaRPr lang="es-PE"/>
          </a:p>
        </c:txPr>
        <c:crossAx val="117388800"/>
        <c:crosses val="autoZero"/>
        <c:auto val="1"/>
        <c:lblAlgn val="ctr"/>
        <c:lblOffset val="100"/>
        <c:noMultiLvlLbl val="0"/>
      </c:catAx>
      <c:valAx>
        <c:axId val="117388800"/>
        <c:scaling>
          <c:orientation val="minMax"/>
        </c:scaling>
        <c:delete val="0"/>
        <c:axPos val="l"/>
        <c:majorGridlines/>
        <c:numFmt formatCode="0.0" sourceLinked="1"/>
        <c:majorTickMark val="out"/>
        <c:minorTickMark val="none"/>
        <c:tickLblPos val="nextTo"/>
        <c:txPr>
          <a:bodyPr/>
          <a:lstStyle/>
          <a:p>
            <a:pPr>
              <a:defRPr sz="2000" baseline="0"/>
            </a:pPr>
            <a:endParaRPr lang="es-PE"/>
          </a:p>
        </c:txPr>
        <c:crossAx val="117380992"/>
        <c:crosses val="autoZero"/>
        <c:crossBetween val="between"/>
      </c:valAx>
    </c:plotArea>
    <c:legend>
      <c:legendPos val="r"/>
      <c:layout>
        <c:manualLayout>
          <c:xMode val="edge"/>
          <c:yMode val="edge"/>
          <c:x val="0.87798318943126452"/>
          <c:y val="0.37887801501288493"/>
          <c:w val="0.11504177469810314"/>
          <c:h val="0.24224381185731403"/>
        </c:manualLayout>
      </c:layout>
      <c:overlay val="0"/>
      <c:txPr>
        <a:bodyPr/>
        <a:lstStyle/>
        <a:p>
          <a:pPr>
            <a:defRPr sz="1500" baseline="0"/>
          </a:pPr>
          <a:endParaRPr lang="es-PE"/>
        </a:p>
      </c:txPr>
    </c:legend>
    <c:plotVisOnly val="1"/>
    <c:dispBlanksAs val="gap"/>
    <c:showDLblsOverMax val="0"/>
  </c:chart>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11.wmf"/><Relationship Id="rId2" Type="http://schemas.openxmlformats.org/officeDocument/2006/relationships/image" Target="../media/image6.wmf"/><Relationship Id="rId1" Type="http://schemas.openxmlformats.org/officeDocument/2006/relationships/image" Target="../media/image5.wmf"/><Relationship Id="rId6" Type="http://schemas.openxmlformats.org/officeDocument/2006/relationships/image" Target="../media/image10.wmf"/><Relationship Id="rId5" Type="http://schemas.openxmlformats.org/officeDocument/2006/relationships/image" Target="../media/image9.wmf"/><Relationship Id="rId4"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 Id="rId5" Type="http://schemas.openxmlformats.org/officeDocument/2006/relationships/image" Target="../media/image19.wmf"/><Relationship Id="rId4"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 Id="rId5" Type="http://schemas.openxmlformats.org/officeDocument/2006/relationships/image" Target="../media/image24.wmf"/><Relationship Id="rId4" Type="http://schemas.openxmlformats.org/officeDocument/2006/relationships/image" Target="../media/image2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1-06-26T15:27:28.399"/>
    </inkml:context>
    <inkml:brush xml:id="br0">
      <inkml:brushProperty name="width" value="0.05292" units="cm"/>
      <inkml:brushProperty name="height" value="0.05292" units="cm"/>
      <inkml:brushProperty name="color" value="#FF0000"/>
    </inkml:brush>
  </inkml:definitions>
  <inkml:trace contextRef="#ctx0" brushRef="#br0">8255 7285 0,'0'-18'16,"-35"1"15,17 17-15,0 0-1,-17 0-15,18 0 16,-19 35-16,1 0 15,17 0-15,18-17 16,-17 0-16,-1-1 16,18 1-1,-18 17-15,1 36 16,-1-36 0,18-17-16,0 17 15,0-17-15,-35 52 16,17-52-16,18-1 15,-17 1-15,17 0 16,0-1-16,-18 19 16,18-19-16,0 1 15,0 17 1,0-17 0,0 17-1,0-17-15,0 17 16,0-17-1,0-1-15,0 19 16,0-19-16,0 19 16,0-1-16,0-18 15,0 19-15,0-19 16,0 19-16,0-1 16,0 0-16,53 53 15,-35-70 1,-1 17-16,18 1 15,1-1-15,-19 35 16,1-70-16,0 36 16,-1-19-16,-17 1 15,18 0-15,17 35 16,-17-18 0,35 0-1,-36-17-15,1 35 0,0-36 16,-1 19-16,1-19 15,0-17-15,-1 18 16,1-1 0,-1 1-16,1 0 0,-18-1 15,35-17 1,1 18-16,34 0 16,-35-1-16,18 1 15,-17 35-15,-19-53 16,36 35-16,-35-35 15,0 18 1,-1-1 0,1-17-16,-1 18 15,1-18 1,0 18-16,35-1 16,-36 1-16,1-18 15,0 0-15,17 0 16,18 0-1,35 35-15,-53-35 16,18 18-16,-18-18 16,71 35-1,-35-35-15,-18 18 16,-36-18-16,1 0 16,0 0-16,-1 0 15,1 0-15,0 0 16,17 0-16,-18 0 15,1 17-15,17-17 16,36 0-16,-18 36 16,-18-19-1,53-17-15,18 0 16,-88 0 0,17 18-16,-17-18 15,-1 18-15,1-18 16,35 0-16,-18 17 15,-17-17-15,35 0 16,-18 0-16,0 0 16,1 0-16,17 0 15,-18 0-15,35 0 16,1 18-16,-18-18 16,0 18-1,-18-18 1,-17 17-16,17-17 0,-17 0 15,-1 0 1,1 0-16,35 0 16,-36 0-1,36 0-15,-35 0 16,35 0-16,-36 0 16,54 0-1,35 0 1,-18-17-16,-53 17 15,1 0-15,-1-18 16,-17 18-16,-18-18 16,52 18-1,-34 0-15,0-17 16,-1 17 0,1-36-16,0 19 15,-1-1-15,1 18 16,0-18-16,-1 1 15,1-1 1,0-17 0,17 0-16,-18 17 15,1 0-15,0 1 16,-1-1-16,19 18 16,-19-18-1,1-34 1,-18 16-1,0 19-15,0-1 16,0 0-16,0 1 16,18-1-1,-1 0-15,-17-17 16,18 0-16,-18 0 16,0-36-16,0 36 15,17 17-15,-17-17 16,0-18-1,0 35-15,0-35 0,0 36 16,0-36-16,0 35 16,0 0-1,0-17-15,0 18 16,0-19-16,0 19 16,0-19-1,0 1 1,0-71-1,0 53 1,0 36-16,-17-19 0,-18-16 16,35 34-16,-18-35 15,18 18 1,-18 17-16,-17 0 16,35 1-16,-18-1 15,1 1 1,-1-36-16,18 35 15,-35-17-15,17 17 16,1-17 0,-1-1-16,-17 19 15,17 17-15,0-18 16,1 18 0,-1 0-16,-17 0 15,-1-17-15,19-1 16,-36-17-16,35 17 15,-52 18-15,34-35 16,1 17-16,0 18 16,-18-18-16,35 1 15,1-1-15,-1 18 16,-17-17-16,17 17 16,0-36-1,-17 19-15,0 17 16,-71 0-16,18-18 15,0 0-15,35 18 16,-53 0-16,71-17 16,-1 17-1,19 0-15,-1 0 16,1 0-16,-19 0 16,19 0-1,-1 0-15,-17 0 16,-36 0-16,18 0 15,0 0-15,-17 0 16,-36 0-16,0 0 16,53 0-1,-35 0-15,35 0 0,18 0 16,-36 0-16,54 0 16,-19-18-16,1 18 15,0 0-15,-18-18 16,18 1-16,-1 17 15,-34 0-15,-1 0 16,36 0-16,-18 0 16,0 0-1,0 0-15,-35 0 16,53 0-16,-36 0 16,18 0-16,0 0 15,-35 0-15,70 0 16,1 0-16,-1 0 15,0 0 17,1 0-17,-1 0 1,-17 0 0,17 0-16,1 0 15,-1 0 1,0 0 62,1 0-62,-19 0-16,19 0 15,-1 0 1,1 0-1,-1 0 1,0 0 0,1 0-16,-1 0 0,0 0 15,1 0-15,-1 0 16,0 0 250,18 17-235,18 1-16,0 0-15,-1-18 16,1 0-16,17 0 16,-17 0-16,0 0 15,17 0 1,-18 0-16</inkml:trace>
  <inkml:trace contextRef="#ctx0" brushRef="#br0" timeOffset="689785.127">29139 11112 0,'-35'0'110,"18"0"-110,-36 0 15,35 0 1,0 0-16,1 0 16,-36 0-16,35 0 15,0 0-15,1 0 16,-1 0-16,-17 0 16,0 0-16,17 0 15,0 0-15,-35 0 31,36 0-15,-1 0 0,1 0-1,-1 0 1,-17 18-16,-1-18 16,19 18-16,-1-18 15,-17 35-15,-36-35 16,54 0-1,-19 0-15,-52 18 0,53-18 16,-18 0-16,-53 35 16,36-35-16,17 18 15,0-18-15,17 0 16,1 17-16,-18 1 16,36-18-16,-19 18 15,19-18-15,-1 17 16,-35 1-1,35-1-15,1 19 16,-1-19-16,-17 1 16,0 17-1,-18 36-15,17-54 16,19 1-16,-1 17 16,1 1-16,-1-19 15,0 19 1,1-19-16,-19 19 15,19-36-15,17 17 16,-18 36 0,-52 88-1,70-106-15,-18 1 16,-35 17-16,53-18 16,-18 53-16,-35-53 15,36 1-15,-18 52 16,35-53-16,-36 71 15,1-53-15,35-18 16,-18 53-16,1-35 16,-1 53-16,18-71 15,0 18-15,-18 18 16,1-1-16,17-17 16,0 18-16,0-1 15,0 19-15,-53-36 16,53 17-16,0 1 15,0-1-15,0-17 16,0 18 0,-18-1-16,1-17 0,-1 18 15,18-1 1,0 18-16,0 36 16,0-71-16,0 53 15,-18 52-15,-17-52 16,35-18-16,-18-17 15,18 88-15,0-106 16,0 17-16,0-34 16,0 16-16,-17 37 15,17-1-15,0-71 16,0 72-16,0-36 16,0 35-16,0-53 15,0 18-15,0 0 16,0-35-16,0 52 15,0-17-15,0-18 16,0 18 0,0 0-16,0 0 0,0 18 15,0-1-15,0-17 16,0 18-16,0-18 16,17-1-1,1 1-15,-18-35 0,18 35 16,-18-18-1,70 36-15,-35 35 16,-17-53 0,-18-1-16,18 19 15,-1-18-15,1-18 16,-18 18-16,18-18 16,35 36-16,-53-53 15,17-1-15,-17 1 16,18 17-1,17 0-15,-17-17 0,17 17 16,-17-17-16,35 52 16,-36-52-16,1 0 15,0-1-15,34 1 16,-34-18 0,0 18-16,-18-1 15,17-17-15,19 0 16,17 36-16,-18-19 15,88 1-15,-35 17 16,18 0 0,-17 36-16,-1-53 15,-53-18-15,0 17 16,1 1-16,16 0 16,-34-18-1,17 17-15,-17-17 16,17 18-16,18-18 15,35 35-15,54-17 16,-90-18 0,54 35-16,-53-17 15,18-1-15,-54-17 0,19 0 16,-19 0 0,1 0-16,0 0 15,-1 18 1,18 0-16,18 17 0,36-35 15,16 35 1,-16 0-16,-36-35 16,-1 18-16,-16-18 15,-19 0-15,1 18 16,0-18 31,35 0-32,0 0-15,88 17 16,-71 1-16,71-18 16,-70 0-16,-18 18 15,0-18-15,-18 0 16,35 17 0,-52 1-16,17-18 15,-17 0-15,0 0 16,35 0-1,-18 0-15,0 0 16,18 0-16,18 0 16,-36 0-16,0 0 31,-17 0-31,35 0 16,-36 0-16,19 0 0,17 0 15,-36 0-15,19 0 16,-19-18-1,18 1 1,-17 17 0,0 0-16,-1-18 15,36-35-15,-35 53 16,0-53-16,70 0 16,-18 18-16,-34 0 15,-1-1 1,0 1-16,36-35 0,-71 52 15,53-35-15,-36 35 16,18 1-16,-17-1 16,17-17-16,-17 17 15,17-17-15,-17 17 16,0-17 0,-1 17-16,19-52 15,-36 52-15,35-17 16,-18-18-1,1 35-15,0-17 0,-1 35 16,1-35 0,0-1-16,-18-34 15,35 17 1,-35 0-16,18 0 0,52-35 16,-70 53-16,18-36 15,17 18 1,18 18-16,-53 17 15,18-17-15,-18-18 16,0 0-16,0-35 16,17 35-16,19 0 15,-19 18-15,1-36 16,-18 36-16,35-18 16,-35 18-1,0 0-15,0 17 0,18-17 16,-18-18-16,17 17 15,-17 1-15,0-18 16,0 0 0,0 18-16,0 0 0,0 0 15,0-18-15,0 17 16,0-17-16,0 18 16,0-18-1,0-17-15,0 34 0,0-34 16,0 35-1,0-18-15,0 0 16,-17-18-16,17 36 16,-18 0-16,18-36 15,-18 18-15,18-17 16,0-1-16,-35 18 16,35-35-16,-17 17 15,-1 1 1,18 35-16,0-36 0,-18-17 15,18 35-15,0 0 16,0 18-16,0-18 16,0-18-16,0 18 15,0 0-15,0 0 16,0 18-16,-35-18 16,35-17-16,0-1 15,0 36-15,0-18 16,-18-18-16,18 18 15,0 1-15,-53-37 16,36 54 0,17 0-16,-18-18 0,18 35 15,-18 1 1,18-19-16,-17-34 0,17 35 16,-18-1-16,18 1 15,-17 0-15,17-1 16,0 19-1,0-19-15,-18 1 16,18-35-16,0 34 16,0 19-16,-18-19 15,18 1 1,-17 0-16,17 17 0,0 1 16,-18-54-16,18 53 15,0 1 1,0-19-16,0 19 15,0-1-15,0-35 16,0 18-16,0 0 16,0-36-16,0 54 15,0-19-15,0 1 16,0 0-16,0 17 16,0 0-16,0 1 15,0-18-15,-18 17 16,18-35-16,0 35 15,-17-35 17,17 36-32,0-1 0,-36 1 15,36-19 1,0 19 0,-17-36-1,17 35 1,-18 0-1,18-17 1,-35 0-16,35 17 16,0 1-16,-18-19 15,-17 1 1,17 17-16,1 1 16,-1-1-16,0 0 15,1 1-15,-1-1 47,0 1-31,-17 17-1,18 0-15,-1-36 16,0 19-16,1-1 16,-19 18-1,-17-18-15,18 18 16,-35-35-1,-1 35-15,36 0 16,35-18-16,-18 1 16,1 17-16,-1 0 15,-17-18 1,17 18-16,0 0 16,1 0-16,-19 0 31,19 0-31,-36 0 15,35 0-15,1 0 16,-1 0-16,0 0 31,-17 0-31,17 0 16,1 0-16,-19 0 16,-16 0-1,-37 0-15,72 0 16,-1 0-16,0 0 15,-17 0 1,0 0-16,17 0 31,1 0-31,-1 0 16,-17 0-16,17 0 16,-53 0-1,36 0-15,0 0 16,0 0-1,17 0 1,0 0 0,1 0 31,-1 0-32,0 0 16,1 0-31,-1 0 16,-17 0 0,17 0-16,1 0 47,-1 0-32,18 18-15,-35-18 16,17 0-16,0 0 31,1 0 16,-1 0-31,1 0-1,-1 0 1,0 0-16,-17 0 15,-53 0-15,70 0 16,1 0 15,-1 0 1,0 0 14,1 0-30,-1 0-16,0 0 16,1 0-1,-19 0 1,19 0-16,-19 0 16,19 0-1,-1 0-15,-17 0 16,-18 0-16,35 0 15,-17 0-15,17 0 16,1 0 0,-1 0-16,1 0 31,-19 0 16,19 0-32,-19 0-15,1 0 16,17 0-16,1 0 16,-19 0-1,19 0-15,-1 0 16,-17 0-16,17 0 703,1 17-672,-36-17-15,35 0 0,0 18-16,-17-18 125,18 0-110,-1 0 204,-17 0-141,17 0-78,0 0 94,-17 0 78,17 18-157,-17-18 17,18 0-17,-1 0 126,0 17 140,18 1-265,0 0-1</inkml:trace>
  <inkml:trace contextRef="#ctx0" brushRef="#br0" timeOffset="808464.4278">32120 8696 0,'-17'0'125,"-1"0"-78,-17 0-31,17 0 0,-17 18-16,17-1 15,1 1 1,17 0 15,0-1-15,0 36-1,0-35 1,0-1 0,0 1-16,0 0 78,0-1-63,17-17 17,1 0-17,0 0 1,-1 0-1,1 0 17,17 0-1,-17 0-15,-1 0-16,1-17 15,-18-1 157,0-17-156,0 17 31,0 0-32,0 1-15,0-1 31,-18 1-15,1 17-16,-1 0 250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37207C-F2D6-4185-B8E8-5A17D4FF530A}" type="datetimeFigureOut">
              <a:rPr lang="es-PE" smtClean="0"/>
              <a:t>26/06/2021</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1ED0BA-7AA3-45AB-B246-3D0C5F35625F}" type="slidenum">
              <a:rPr lang="es-PE" smtClean="0"/>
              <a:t>‹Nº›</a:t>
            </a:fld>
            <a:endParaRPr lang="es-PE"/>
          </a:p>
        </p:txBody>
      </p:sp>
    </p:spTree>
    <p:extLst>
      <p:ext uri="{BB962C8B-B14F-4D97-AF65-F5344CB8AC3E}">
        <p14:creationId xmlns:p14="http://schemas.microsoft.com/office/powerpoint/2010/main" val="4081561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BO" altLang="es-PE" smtClean="0"/>
          </a:p>
        </p:txBody>
      </p:sp>
      <p:sp>
        <p:nvSpPr>
          <p:cNvPr id="665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B4A4937F-FE96-4D56-A02A-21D0CA34FFAF}" type="slidenum">
              <a:rPr lang="es-BO" altLang="es-PE"/>
              <a:pPr eaLnBrk="1" hangingPunct="1"/>
              <a:t>9</a:t>
            </a:fld>
            <a:endParaRPr lang="es-BO" altLang="es-PE"/>
          </a:p>
        </p:txBody>
      </p:sp>
    </p:spTree>
    <p:extLst>
      <p:ext uri="{BB962C8B-B14F-4D97-AF65-F5344CB8AC3E}">
        <p14:creationId xmlns:p14="http://schemas.microsoft.com/office/powerpoint/2010/main" val="5839652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BO" altLang="es-PE" smtClean="0"/>
          </a:p>
        </p:txBody>
      </p:sp>
      <p:sp>
        <p:nvSpPr>
          <p:cNvPr id="696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420B3373-39FE-4DA2-BB97-889C95ACB9F1}" type="slidenum">
              <a:rPr lang="es-BO" altLang="es-PE"/>
              <a:pPr eaLnBrk="1" hangingPunct="1"/>
              <a:t>10</a:t>
            </a:fld>
            <a:endParaRPr lang="es-BO" altLang="es-PE"/>
          </a:p>
        </p:txBody>
      </p:sp>
    </p:spTree>
    <p:extLst>
      <p:ext uri="{BB962C8B-B14F-4D97-AF65-F5344CB8AC3E}">
        <p14:creationId xmlns:p14="http://schemas.microsoft.com/office/powerpoint/2010/main" val="30984247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BO" altLang="es-PE" smtClean="0"/>
          </a:p>
        </p:txBody>
      </p:sp>
      <p:sp>
        <p:nvSpPr>
          <p:cNvPr id="706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A43FF1AE-0077-4AC8-9825-A7508824776D}" type="slidenum">
              <a:rPr lang="es-BO" altLang="es-PE"/>
              <a:pPr eaLnBrk="1" hangingPunct="1"/>
              <a:t>11</a:t>
            </a:fld>
            <a:endParaRPr lang="es-BO" altLang="es-PE"/>
          </a:p>
        </p:txBody>
      </p:sp>
    </p:spTree>
    <p:extLst>
      <p:ext uri="{BB962C8B-B14F-4D97-AF65-F5344CB8AC3E}">
        <p14:creationId xmlns:p14="http://schemas.microsoft.com/office/powerpoint/2010/main" val="20804312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BO" altLang="es-PE" smtClean="0"/>
          </a:p>
        </p:txBody>
      </p:sp>
      <p:sp>
        <p:nvSpPr>
          <p:cNvPr id="716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4C2B202E-52B3-459A-B5CF-C753577F65A6}" type="slidenum">
              <a:rPr lang="es-BO" altLang="es-PE"/>
              <a:pPr eaLnBrk="1" hangingPunct="1"/>
              <a:t>14</a:t>
            </a:fld>
            <a:endParaRPr lang="es-BO" altLang="es-PE"/>
          </a:p>
        </p:txBody>
      </p:sp>
    </p:spTree>
    <p:extLst>
      <p:ext uri="{BB962C8B-B14F-4D97-AF65-F5344CB8AC3E}">
        <p14:creationId xmlns:p14="http://schemas.microsoft.com/office/powerpoint/2010/main" val="14100154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BO" altLang="es-PE" smtClean="0"/>
          </a:p>
        </p:txBody>
      </p:sp>
      <p:sp>
        <p:nvSpPr>
          <p:cNvPr id="727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C22B357C-EC30-48C7-AB31-1CB4585BCD7E}" type="slidenum">
              <a:rPr lang="es-BO" altLang="es-PE"/>
              <a:pPr eaLnBrk="1" hangingPunct="1"/>
              <a:t>15</a:t>
            </a:fld>
            <a:endParaRPr lang="es-BO" altLang="es-PE"/>
          </a:p>
        </p:txBody>
      </p:sp>
    </p:spTree>
    <p:extLst>
      <p:ext uri="{BB962C8B-B14F-4D97-AF65-F5344CB8AC3E}">
        <p14:creationId xmlns:p14="http://schemas.microsoft.com/office/powerpoint/2010/main" val="1341478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BO" altLang="es-PE" smtClean="0"/>
          </a:p>
        </p:txBody>
      </p:sp>
      <p:sp>
        <p:nvSpPr>
          <p:cNvPr id="809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A1116606-26F7-4738-B7FB-EA57ED73566F}" type="slidenum">
              <a:rPr lang="es-BO" altLang="es-PE"/>
              <a:pPr eaLnBrk="1" hangingPunct="1"/>
              <a:t>32</a:t>
            </a:fld>
            <a:endParaRPr lang="es-BO" altLang="es-PE"/>
          </a:p>
        </p:txBody>
      </p:sp>
    </p:spTree>
    <p:extLst>
      <p:ext uri="{BB962C8B-B14F-4D97-AF65-F5344CB8AC3E}">
        <p14:creationId xmlns:p14="http://schemas.microsoft.com/office/powerpoint/2010/main" val="32751429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BO" altLang="es-PE" smtClean="0"/>
          </a:p>
        </p:txBody>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D91DABE6-A06A-484D-A560-F0AB8A587274}" type="slidenum">
              <a:rPr lang="es-BO" altLang="es-PE"/>
              <a:pPr eaLnBrk="1" hangingPunct="1"/>
              <a:t>33</a:t>
            </a:fld>
            <a:endParaRPr lang="es-BO" altLang="es-PE"/>
          </a:p>
        </p:txBody>
      </p:sp>
    </p:spTree>
    <p:extLst>
      <p:ext uri="{BB962C8B-B14F-4D97-AF65-F5344CB8AC3E}">
        <p14:creationId xmlns:p14="http://schemas.microsoft.com/office/powerpoint/2010/main" val="1763609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BO" altLang="es-PE" smtClean="0"/>
          </a:p>
        </p:txBody>
      </p:sp>
      <p:sp>
        <p:nvSpPr>
          <p:cNvPr id="839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93956913-E49A-48BB-ADDC-03ACB39D2DA7}" type="slidenum">
              <a:rPr lang="es-BO" altLang="es-PE"/>
              <a:pPr eaLnBrk="1" hangingPunct="1"/>
              <a:t>34</a:t>
            </a:fld>
            <a:endParaRPr lang="es-BO" altLang="es-PE"/>
          </a:p>
        </p:txBody>
      </p:sp>
    </p:spTree>
    <p:extLst>
      <p:ext uri="{BB962C8B-B14F-4D97-AF65-F5344CB8AC3E}">
        <p14:creationId xmlns:p14="http://schemas.microsoft.com/office/powerpoint/2010/main" val="17718176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BO" altLang="es-PE" smtClean="0"/>
          </a:p>
        </p:txBody>
      </p:sp>
      <p:sp>
        <p:nvSpPr>
          <p:cNvPr id="849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EF97119C-B782-45A4-9784-D26735A63D26}" type="slidenum">
              <a:rPr lang="es-BO" altLang="es-PE"/>
              <a:pPr eaLnBrk="1" hangingPunct="1"/>
              <a:t>35</a:t>
            </a:fld>
            <a:endParaRPr lang="es-BO" altLang="es-PE"/>
          </a:p>
        </p:txBody>
      </p:sp>
    </p:spTree>
    <p:extLst>
      <p:ext uri="{BB962C8B-B14F-4D97-AF65-F5344CB8AC3E}">
        <p14:creationId xmlns:p14="http://schemas.microsoft.com/office/powerpoint/2010/main" val="16357976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BO" altLang="es-PE" smtClean="0"/>
          </a:p>
        </p:txBody>
      </p:sp>
      <p:sp>
        <p:nvSpPr>
          <p:cNvPr id="860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FA46515B-0B36-48EE-B577-FE9953BBDA63}" type="slidenum">
              <a:rPr lang="es-BO" altLang="es-PE"/>
              <a:pPr eaLnBrk="1" hangingPunct="1"/>
              <a:t>36</a:t>
            </a:fld>
            <a:endParaRPr lang="es-BO" altLang="es-PE"/>
          </a:p>
        </p:txBody>
      </p:sp>
    </p:spTree>
    <p:extLst>
      <p:ext uri="{BB962C8B-B14F-4D97-AF65-F5344CB8AC3E}">
        <p14:creationId xmlns:p14="http://schemas.microsoft.com/office/powerpoint/2010/main" val="26498627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BO" altLang="es-PE" smtClean="0"/>
          </a:p>
        </p:txBody>
      </p:sp>
      <p:sp>
        <p:nvSpPr>
          <p:cNvPr id="962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C7FA0695-DFB7-4CFC-A889-AB7707E02873}" type="slidenum">
              <a:rPr lang="es-BO" altLang="es-PE"/>
              <a:pPr eaLnBrk="1" hangingPunct="1"/>
              <a:t>37</a:t>
            </a:fld>
            <a:endParaRPr lang="es-BO" altLang="es-PE"/>
          </a:p>
        </p:txBody>
      </p:sp>
    </p:spTree>
    <p:extLst>
      <p:ext uri="{BB962C8B-B14F-4D97-AF65-F5344CB8AC3E}">
        <p14:creationId xmlns:p14="http://schemas.microsoft.com/office/powerpoint/2010/main" val="1923269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PE"/>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PE"/>
          </a:p>
        </p:txBody>
      </p:sp>
      <p:sp>
        <p:nvSpPr>
          <p:cNvPr id="4" name="Marcador de fecha 3"/>
          <p:cNvSpPr>
            <a:spLocks noGrp="1"/>
          </p:cNvSpPr>
          <p:nvPr>
            <p:ph type="dt" sz="half" idx="10"/>
          </p:nvPr>
        </p:nvSpPr>
        <p:spPr/>
        <p:txBody>
          <a:bodyPr/>
          <a:lstStyle/>
          <a:p>
            <a:fld id="{D0450F24-9436-46E1-9777-3253B06234B3}" type="datetimeFigureOut">
              <a:rPr lang="es-PE" smtClean="0"/>
              <a:t>26/06/2021</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5685C8E6-2F2A-4F5F-AC05-93877270FD46}" type="slidenum">
              <a:rPr lang="es-PE" smtClean="0"/>
              <a:t>‹Nº›</a:t>
            </a:fld>
            <a:endParaRPr lang="es-PE"/>
          </a:p>
        </p:txBody>
      </p:sp>
    </p:spTree>
    <p:extLst>
      <p:ext uri="{BB962C8B-B14F-4D97-AF65-F5344CB8AC3E}">
        <p14:creationId xmlns:p14="http://schemas.microsoft.com/office/powerpoint/2010/main" val="108157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D0450F24-9436-46E1-9777-3253B06234B3}" type="datetimeFigureOut">
              <a:rPr lang="es-PE" smtClean="0"/>
              <a:t>26/06/2021</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5685C8E6-2F2A-4F5F-AC05-93877270FD46}" type="slidenum">
              <a:rPr lang="es-PE" smtClean="0"/>
              <a:t>‹Nº›</a:t>
            </a:fld>
            <a:endParaRPr lang="es-PE"/>
          </a:p>
        </p:txBody>
      </p:sp>
    </p:spTree>
    <p:extLst>
      <p:ext uri="{BB962C8B-B14F-4D97-AF65-F5344CB8AC3E}">
        <p14:creationId xmlns:p14="http://schemas.microsoft.com/office/powerpoint/2010/main" val="43000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D0450F24-9436-46E1-9777-3253B06234B3}" type="datetimeFigureOut">
              <a:rPr lang="es-PE" smtClean="0"/>
              <a:t>26/06/2021</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5685C8E6-2F2A-4F5F-AC05-93877270FD46}" type="slidenum">
              <a:rPr lang="es-PE" smtClean="0"/>
              <a:t>‹Nº›</a:t>
            </a:fld>
            <a:endParaRPr lang="es-PE"/>
          </a:p>
        </p:txBody>
      </p:sp>
    </p:spTree>
    <p:extLst>
      <p:ext uri="{BB962C8B-B14F-4D97-AF65-F5344CB8AC3E}">
        <p14:creationId xmlns:p14="http://schemas.microsoft.com/office/powerpoint/2010/main" val="1707356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fecha 4"/>
          <p:cNvSpPr>
            <a:spLocks noGrp="1"/>
          </p:cNvSpPr>
          <p:nvPr>
            <p:ph type="dt" sz="half" idx="10"/>
          </p:nvPr>
        </p:nvSpPr>
        <p:spPr/>
        <p:txBody>
          <a:bodyPr/>
          <a:lstStyle/>
          <a:p>
            <a:fld id="{D0450F24-9436-46E1-9777-3253B06234B3}" type="datetimeFigureOut">
              <a:rPr lang="es-PE" smtClean="0"/>
              <a:t>26/06/2021</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5685C8E6-2F2A-4F5F-AC05-93877270FD46}" type="slidenum">
              <a:rPr lang="es-PE" smtClean="0"/>
              <a:t>‹Nº›</a:t>
            </a:fld>
            <a:endParaRPr lang="es-PE"/>
          </a:p>
        </p:txBody>
      </p:sp>
    </p:spTree>
    <p:extLst>
      <p:ext uri="{BB962C8B-B14F-4D97-AF65-F5344CB8AC3E}">
        <p14:creationId xmlns:p14="http://schemas.microsoft.com/office/powerpoint/2010/main" val="4108375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7" name="Marcador de fecha 6"/>
          <p:cNvSpPr>
            <a:spLocks noGrp="1"/>
          </p:cNvSpPr>
          <p:nvPr>
            <p:ph type="dt" sz="half" idx="10"/>
          </p:nvPr>
        </p:nvSpPr>
        <p:spPr/>
        <p:txBody>
          <a:bodyPr/>
          <a:lstStyle/>
          <a:p>
            <a:fld id="{D0450F24-9436-46E1-9777-3253B06234B3}" type="datetimeFigureOut">
              <a:rPr lang="es-PE" smtClean="0"/>
              <a:t>26/06/2021</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5685C8E6-2F2A-4F5F-AC05-93877270FD46}" type="slidenum">
              <a:rPr lang="es-PE" smtClean="0"/>
              <a:t>‹Nº›</a:t>
            </a:fld>
            <a:endParaRPr lang="es-PE"/>
          </a:p>
        </p:txBody>
      </p:sp>
    </p:spTree>
    <p:extLst>
      <p:ext uri="{BB962C8B-B14F-4D97-AF65-F5344CB8AC3E}">
        <p14:creationId xmlns:p14="http://schemas.microsoft.com/office/powerpoint/2010/main" val="3206181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fecha 2"/>
          <p:cNvSpPr>
            <a:spLocks noGrp="1"/>
          </p:cNvSpPr>
          <p:nvPr>
            <p:ph type="dt" sz="half" idx="10"/>
          </p:nvPr>
        </p:nvSpPr>
        <p:spPr/>
        <p:txBody>
          <a:bodyPr/>
          <a:lstStyle/>
          <a:p>
            <a:fld id="{D0450F24-9436-46E1-9777-3253B06234B3}" type="datetimeFigureOut">
              <a:rPr lang="es-PE" smtClean="0"/>
              <a:t>26/06/2021</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5685C8E6-2F2A-4F5F-AC05-93877270FD46}" type="slidenum">
              <a:rPr lang="es-PE" smtClean="0"/>
              <a:t>‹Nº›</a:t>
            </a:fld>
            <a:endParaRPr lang="es-PE"/>
          </a:p>
        </p:txBody>
      </p:sp>
    </p:spTree>
    <p:extLst>
      <p:ext uri="{BB962C8B-B14F-4D97-AF65-F5344CB8AC3E}">
        <p14:creationId xmlns:p14="http://schemas.microsoft.com/office/powerpoint/2010/main" val="3084838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D0450F24-9436-46E1-9777-3253B06234B3}" type="datetimeFigureOut">
              <a:rPr lang="es-PE" smtClean="0"/>
              <a:t>26/06/2021</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5685C8E6-2F2A-4F5F-AC05-93877270FD46}" type="slidenum">
              <a:rPr lang="es-PE" smtClean="0"/>
              <a:t>‹Nº›</a:t>
            </a:fld>
            <a:endParaRPr lang="es-PE"/>
          </a:p>
        </p:txBody>
      </p:sp>
    </p:spTree>
    <p:extLst>
      <p:ext uri="{BB962C8B-B14F-4D97-AF65-F5344CB8AC3E}">
        <p14:creationId xmlns:p14="http://schemas.microsoft.com/office/powerpoint/2010/main" val="1192241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D0450F24-9436-46E1-9777-3253B06234B3}" type="datetimeFigureOut">
              <a:rPr lang="es-PE" smtClean="0"/>
              <a:t>26/06/2021</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5685C8E6-2F2A-4F5F-AC05-93877270FD46}" type="slidenum">
              <a:rPr lang="es-PE" smtClean="0"/>
              <a:t>‹Nº›</a:t>
            </a:fld>
            <a:endParaRPr lang="es-PE"/>
          </a:p>
        </p:txBody>
      </p:sp>
    </p:spTree>
    <p:extLst>
      <p:ext uri="{BB962C8B-B14F-4D97-AF65-F5344CB8AC3E}">
        <p14:creationId xmlns:p14="http://schemas.microsoft.com/office/powerpoint/2010/main" val="1432832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D0450F24-9436-46E1-9777-3253B06234B3}" type="datetimeFigureOut">
              <a:rPr lang="es-PE" smtClean="0"/>
              <a:t>26/06/2021</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5685C8E6-2F2A-4F5F-AC05-93877270FD46}" type="slidenum">
              <a:rPr lang="es-PE" smtClean="0"/>
              <a:t>‹Nº›</a:t>
            </a:fld>
            <a:endParaRPr lang="es-PE"/>
          </a:p>
        </p:txBody>
      </p:sp>
    </p:spTree>
    <p:extLst>
      <p:ext uri="{BB962C8B-B14F-4D97-AF65-F5344CB8AC3E}">
        <p14:creationId xmlns:p14="http://schemas.microsoft.com/office/powerpoint/2010/main" val="1681849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D0450F24-9436-46E1-9777-3253B06234B3}" type="datetimeFigureOut">
              <a:rPr lang="es-PE" smtClean="0"/>
              <a:t>26/06/2021</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5685C8E6-2F2A-4F5F-AC05-93877270FD46}" type="slidenum">
              <a:rPr lang="es-PE" smtClean="0"/>
              <a:t>‹Nº›</a:t>
            </a:fld>
            <a:endParaRPr lang="es-PE"/>
          </a:p>
        </p:txBody>
      </p:sp>
    </p:spTree>
    <p:extLst>
      <p:ext uri="{BB962C8B-B14F-4D97-AF65-F5344CB8AC3E}">
        <p14:creationId xmlns:p14="http://schemas.microsoft.com/office/powerpoint/2010/main" val="3635181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D0450F24-9436-46E1-9777-3253B06234B3}" type="datetimeFigureOut">
              <a:rPr lang="es-PE" smtClean="0"/>
              <a:t>26/06/2021</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5685C8E6-2F2A-4F5F-AC05-93877270FD46}" type="slidenum">
              <a:rPr lang="es-PE" smtClean="0"/>
              <a:t>‹Nº›</a:t>
            </a:fld>
            <a:endParaRPr lang="es-PE"/>
          </a:p>
        </p:txBody>
      </p:sp>
    </p:spTree>
    <p:extLst>
      <p:ext uri="{BB962C8B-B14F-4D97-AF65-F5344CB8AC3E}">
        <p14:creationId xmlns:p14="http://schemas.microsoft.com/office/powerpoint/2010/main" val="3742292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ítulo y texto e imágenes prediseñadas">
    <p:spTree>
      <p:nvGrpSpPr>
        <p:cNvPr id="1" name=""/>
        <p:cNvGrpSpPr/>
        <p:nvPr/>
      </p:nvGrpSpPr>
      <p:grpSpPr>
        <a:xfrm>
          <a:off x="0" y="0"/>
          <a:ext cx="0" cy="0"/>
          <a:chOff x="0" y="0"/>
          <a:chExt cx="0" cy="0"/>
        </a:xfrm>
      </p:grpSpPr>
      <p:sp>
        <p:nvSpPr>
          <p:cNvPr id="2" name="1 Título"/>
          <p:cNvSpPr>
            <a:spLocks noGrp="1"/>
          </p:cNvSpPr>
          <p:nvPr>
            <p:ph type="title"/>
          </p:nvPr>
        </p:nvSpPr>
        <p:spPr>
          <a:xfrm>
            <a:off x="914400" y="609600"/>
            <a:ext cx="10363200" cy="1143000"/>
          </a:xfrm>
        </p:spPr>
        <p:txBody>
          <a:bodyPr/>
          <a:lstStyle/>
          <a:p>
            <a:r>
              <a:rPr lang="es-ES" smtClean="0"/>
              <a:t>Haga clic para modificar el estilo de título del patrón</a:t>
            </a:r>
            <a:endParaRPr lang="es-AR"/>
          </a:p>
        </p:txBody>
      </p:sp>
      <p:sp>
        <p:nvSpPr>
          <p:cNvPr id="3" name="2 Marcador de texto"/>
          <p:cNvSpPr>
            <a:spLocks noGrp="1"/>
          </p:cNvSpPr>
          <p:nvPr>
            <p:ph type="body" sz="half" idx="1"/>
          </p:nvPr>
        </p:nvSpPr>
        <p:spPr>
          <a:xfrm>
            <a:off x="914400" y="1981200"/>
            <a:ext cx="5080000" cy="41148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imágenes prediseñadas"/>
          <p:cNvSpPr>
            <a:spLocks noGrp="1"/>
          </p:cNvSpPr>
          <p:nvPr>
            <p:ph type="clipArt" sz="half" idx="2"/>
          </p:nvPr>
        </p:nvSpPr>
        <p:spPr>
          <a:xfrm>
            <a:off x="6197600" y="1981200"/>
            <a:ext cx="5080000" cy="4114800"/>
          </a:xfrm>
        </p:spPr>
        <p:txBody>
          <a:bodyPr/>
          <a:lstStyle/>
          <a:p>
            <a:pPr lvl="0"/>
            <a:endParaRPr lang="es-AR" noProof="0" smtClean="0"/>
          </a:p>
        </p:txBody>
      </p:sp>
      <p:sp>
        <p:nvSpPr>
          <p:cNvPr id="5" name="Rectangle 4"/>
          <p:cNvSpPr>
            <a:spLocks noGrp="1" noChangeArrowheads="1"/>
          </p:cNvSpPr>
          <p:nvPr>
            <p:ph type="dt" sz="half" idx="10"/>
          </p:nvPr>
        </p:nvSpPr>
        <p:spPr>
          <a:ln/>
        </p:spPr>
        <p:txBody>
          <a:bodyPr/>
          <a:lstStyle>
            <a:lvl1pPr>
              <a:defRPr/>
            </a:lvl1pPr>
          </a:lstStyle>
          <a:p>
            <a:pPr>
              <a:defRPr/>
            </a:pPr>
            <a:endParaRPr lang="es-ES"/>
          </a:p>
        </p:txBody>
      </p:sp>
      <p:sp>
        <p:nvSpPr>
          <p:cNvPr id="6" name="Rectangle 5"/>
          <p:cNvSpPr>
            <a:spLocks noGrp="1" noChangeArrowheads="1"/>
          </p:cNvSpPr>
          <p:nvPr>
            <p:ph type="ftr" sz="quarter" idx="11"/>
          </p:nvPr>
        </p:nvSpPr>
        <p:spPr>
          <a:ln/>
        </p:spPr>
        <p:txBody>
          <a:bodyPr/>
          <a:lstStyle>
            <a:lvl1pPr>
              <a:defRPr/>
            </a:lvl1pPr>
          </a:lstStyle>
          <a:p>
            <a:pPr>
              <a:defRPr/>
            </a:pPr>
            <a:endParaRPr lang="es-ES"/>
          </a:p>
        </p:txBody>
      </p:sp>
      <p:sp>
        <p:nvSpPr>
          <p:cNvPr id="7" name="Rectangle 6"/>
          <p:cNvSpPr>
            <a:spLocks noGrp="1" noChangeArrowheads="1"/>
          </p:cNvSpPr>
          <p:nvPr>
            <p:ph type="sldNum" sz="quarter" idx="12"/>
          </p:nvPr>
        </p:nvSpPr>
        <p:spPr>
          <a:ln/>
        </p:spPr>
        <p:txBody>
          <a:bodyPr/>
          <a:lstStyle>
            <a:lvl1pPr>
              <a:defRPr/>
            </a:lvl1pPr>
          </a:lstStyle>
          <a:p>
            <a:pPr>
              <a:defRPr/>
            </a:pPr>
            <a:fld id="{9A0FE0E3-F3AF-4283-B5DD-9C684E119CCA}" type="slidenum">
              <a:rPr lang="es-ES"/>
              <a:pPr>
                <a:defRPr/>
              </a:pPr>
              <a:t>‹Nº›</a:t>
            </a:fld>
            <a:endParaRPr lang="es-ES"/>
          </a:p>
        </p:txBody>
      </p:sp>
    </p:spTree>
    <p:extLst>
      <p:ext uri="{BB962C8B-B14F-4D97-AF65-F5344CB8AC3E}">
        <p14:creationId xmlns:p14="http://schemas.microsoft.com/office/powerpoint/2010/main" val="1180588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450F24-9436-46E1-9777-3253B06234B3}" type="datetimeFigureOut">
              <a:rPr lang="es-PE" smtClean="0"/>
              <a:t>26/06/2021</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85C8E6-2F2A-4F5F-AC05-93877270FD46}" type="slidenum">
              <a:rPr lang="es-PE" smtClean="0"/>
              <a:t>‹Nº›</a:t>
            </a:fld>
            <a:endParaRPr lang="es-PE"/>
          </a:p>
        </p:txBody>
      </p:sp>
    </p:spTree>
    <p:extLst>
      <p:ext uri="{BB962C8B-B14F-4D97-AF65-F5344CB8AC3E}">
        <p14:creationId xmlns:p14="http://schemas.microsoft.com/office/powerpoint/2010/main" val="25356348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7.wmf"/><Relationship Id="rId13"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9.wmf"/><Relationship Id="rId2" Type="http://schemas.openxmlformats.org/officeDocument/2006/relationships/slideLayout" Target="../slideLayouts/slideLayout2.xml"/><Relationship Id="rId16" Type="http://schemas.openxmlformats.org/officeDocument/2006/relationships/image" Target="../media/image11.wmf"/><Relationship Id="rId1" Type="http://schemas.openxmlformats.org/officeDocument/2006/relationships/vmlDrawing" Target="../drawings/vmlDrawing1.vml"/><Relationship Id="rId6" Type="http://schemas.openxmlformats.org/officeDocument/2006/relationships/image" Target="../media/image6.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8.wmf"/><Relationship Id="rId4" Type="http://schemas.openxmlformats.org/officeDocument/2006/relationships/image" Target="../media/image5.wmf"/><Relationship Id="rId9" Type="http://schemas.openxmlformats.org/officeDocument/2006/relationships/oleObject" Target="../embeddings/oleObject4.bin"/><Relationship Id="rId14" Type="http://schemas.openxmlformats.org/officeDocument/2006/relationships/image" Target="../media/image10.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3.wmf"/><Relationship Id="rId5" Type="http://schemas.openxmlformats.org/officeDocument/2006/relationships/oleObject" Target="../embeddings/oleObject9.bin"/><Relationship Id="rId4" Type="http://schemas.openxmlformats.org/officeDocument/2006/relationships/image" Target="../media/image12.wmf"/></Relationships>
</file>

<file path=ppt/slides/_rels/slide25.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11.bin"/><Relationship Id="rId7" Type="http://schemas.openxmlformats.org/officeDocument/2006/relationships/oleObject" Target="../embeddings/oleObject13.bin"/><Relationship Id="rId12" Type="http://schemas.openxmlformats.org/officeDocument/2006/relationships/image" Target="../media/image19.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6.wmf"/><Relationship Id="rId11" Type="http://schemas.openxmlformats.org/officeDocument/2006/relationships/oleObject" Target="../embeddings/oleObject15.bin"/><Relationship Id="rId5" Type="http://schemas.openxmlformats.org/officeDocument/2006/relationships/oleObject" Target="../embeddings/oleObject12.bin"/><Relationship Id="rId10" Type="http://schemas.openxmlformats.org/officeDocument/2006/relationships/image" Target="../media/image18.wmf"/><Relationship Id="rId4" Type="http://schemas.openxmlformats.org/officeDocument/2006/relationships/image" Target="../media/image15.wmf"/><Relationship Id="rId9" Type="http://schemas.openxmlformats.org/officeDocument/2006/relationships/oleObject" Target="../embeddings/oleObject14.bin"/></Relationships>
</file>

<file path=ppt/slides/_rels/slide26.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16.bin"/><Relationship Id="rId7" Type="http://schemas.openxmlformats.org/officeDocument/2006/relationships/oleObject" Target="../embeddings/oleObject18.bin"/><Relationship Id="rId12" Type="http://schemas.openxmlformats.org/officeDocument/2006/relationships/image" Target="../media/image24.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21.wmf"/><Relationship Id="rId11" Type="http://schemas.openxmlformats.org/officeDocument/2006/relationships/oleObject" Target="../embeddings/oleObject20.bin"/><Relationship Id="rId5" Type="http://schemas.openxmlformats.org/officeDocument/2006/relationships/oleObject" Target="../embeddings/oleObject17.bin"/><Relationship Id="rId10" Type="http://schemas.openxmlformats.org/officeDocument/2006/relationships/image" Target="../media/image23.wmf"/><Relationship Id="rId4" Type="http://schemas.openxmlformats.org/officeDocument/2006/relationships/image" Target="../media/image20.wmf"/><Relationship Id="rId9" Type="http://schemas.openxmlformats.org/officeDocument/2006/relationships/oleObject" Target="../embeddings/oleObject19.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25.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27.wmf"/><Relationship Id="rId5" Type="http://schemas.openxmlformats.org/officeDocument/2006/relationships/oleObject" Target="../embeddings/oleObject23.bin"/><Relationship Id="rId4" Type="http://schemas.openxmlformats.org/officeDocument/2006/relationships/image" Target="../media/image26.wmf"/></Relationships>
</file>

<file path=ppt/slides/_rels/slide29.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9.wmf"/><Relationship Id="rId5" Type="http://schemas.openxmlformats.org/officeDocument/2006/relationships/oleObject" Target="../embeddings/oleObject25.bin"/><Relationship Id="rId4" Type="http://schemas.openxmlformats.org/officeDocument/2006/relationships/image" Target="../media/image28.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32.wmf"/><Relationship Id="rId5" Type="http://schemas.openxmlformats.org/officeDocument/2006/relationships/oleObject" Target="../embeddings/oleObject28.bin"/><Relationship Id="rId4" Type="http://schemas.openxmlformats.org/officeDocument/2006/relationships/image" Target="../media/image31.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34.wmf"/><Relationship Id="rId5" Type="http://schemas.openxmlformats.org/officeDocument/2006/relationships/oleObject" Target="../embeddings/oleObject30.bin"/><Relationship Id="rId4" Type="http://schemas.openxmlformats.org/officeDocument/2006/relationships/image" Target="../media/image33.w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PE" dirty="0" smtClean="0"/>
              <a:t>Capítulo VI</a:t>
            </a:r>
            <a:endParaRPr lang="es-PE" dirty="0"/>
          </a:p>
        </p:txBody>
      </p:sp>
      <p:sp>
        <p:nvSpPr>
          <p:cNvPr id="3" name="Subtítulo 2"/>
          <p:cNvSpPr>
            <a:spLocks noGrp="1"/>
          </p:cNvSpPr>
          <p:nvPr>
            <p:ph type="subTitle" idx="1"/>
          </p:nvPr>
        </p:nvSpPr>
        <p:spPr/>
        <p:txBody>
          <a:bodyPr/>
          <a:lstStyle/>
          <a:p>
            <a:endParaRPr lang="es-PE" dirty="0" smtClean="0"/>
          </a:p>
          <a:p>
            <a:r>
              <a:rPr lang="es-PE" sz="3200" dirty="0" smtClean="0"/>
              <a:t>Flujos de caja</a:t>
            </a:r>
          </a:p>
          <a:p>
            <a:r>
              <a:rPr lang="es-PE" sz="3200" smtClean="0"/>
              <a:t>Parte I</a:t>
            </a:r>
            <a:endParaRPr lang="es-PE" sz="3200" dirty="0" smtClean="0"/>
          </a:p>
        </p:txBody>
      </p:sp>
      <p:pic>
        <p:nvPicPr>
          <p:cNvPr id="4" name="Imagen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43420" y="6219"/>
            <a:ext cx="728907" cy="916601"/>
          </a:xfrm>
          <a:prstGeom prst="rect">
            <a:avLst/>
          </a:prstGeom>
        </p:spPr>
      </p:pic>
      <p:sp>
        <p:nvSpPr>
          <p:cNvPr id="5" name="Rectángulo 4"/>
          <p:cNvSpPr/>
          <p:nvPr/>
        </p:nvSpPr>
        <p:spPr>
          <a:xfrm>
            <a:off x="9423753" y="928142"/>
            <a:ext cx="2768243" cy="569387"/>
          </a:xfrm>
          <a:prstGeom prst="rect">
            <a:avLst/>
          </a:prstGeom>
        </p:spPr>
        <p:txBody>
          <a:bodyPr wrap="square" anchor="ctr">
            <a:spAutoFit/>
          </a:bodyPr>
          <a:lstStyle/>
          <a:p>
            <a:pPr algn="ctr"/>
            <a:r>
              <a:rPr lang="es-ES" sz="1000" b="1" i="0" dirty="0" smtClean="0">
                <a:solidFill>
                  <a:srgbClr val="222222"/>
                </a:solidFill>
                <a:effectLst/>
                <a:latin typeface="Arial" panose="020B0604020202020204" pitchFamily="34" charset="0"/>
                <a:cs typeface="Arial" panose="020B0604020202020204" pitchFamily="34" charset="0"/>
              </a:rPr>
              <a:t>UNIVERSIDAD</a:t>
            </a:r>
            <a:r>
              <a:rPr lang="es-ES" sz="1000" b="1" i="0" baseline="0" dirty="0" smtClean="0">
                <a:solidFill>
                  <a:srgbClr val="222222"/>
                </a:solidFill>
                <a:effectLst/>
                <a:latin typeface="Arial" panose="020B0604020202020204" pitchFamily="34" charset="0"/>
                <a:cs typeface="Arial" panose="020B0604020202020204" pitchFamily="34" charset="0"/>
              </a:rPr>
              <a:t> NACIONAL DE INGENIERÍA</a:t>
            </a:r>
            <a:endParaRPr lang="es-ES" sz="1000" b="1" i="0" dirty="0" smtClean="0">
              <a:solidFill>
                <a:srgbClr val="222222"/>
              </a:solidFill>
              <a:effectLst/>
              <a:latin typeface="Arial" panose="020B0604020202020204" pitchFamily="34" charset="0"/>
              <a:cs typeface="Arial" panose="020B0604020202020204" pitchFamily="34" charset="0"/>
            </a:endParaRPr>
          </a:p>
          <a:p>
            <a:pPr algn="ctr"/>
            <a:r>
              <a:rPr lang="es-ES" sz="1050" b="0" i="0" dirty="0" smtClean="0">
                <a:solidFill>
                  <a:srgbClr val="222222"/>
                </a:solidFill>
                <a:effectLst/>
                <a:latin typeface="Arial" panose="020B0604020202020204" pitchFamily="34" charset="0"/>
                <a:cs typeface="Arial" panose="020B0604020202020204" pitchFamily="34" charset="0"/>
              </a:rPr>
              <a:t>Facultad de Ingeniería </a:t>
            </a:r>
          </a:p>
          <a:p>
            <a:pPr algn="ctr"/>
            <a:r>
              <a:rPr lang="es-ES" sz="1050" b="0" i="0" dirty="0" smtClean="0">
                <a:solidFill>
                  <a:srgbClr val="222222"/>
                </a:solidFill>
                <a:effectLst/>
                <a:latin typeface="Arial" panose="020B0604020202020204" pitchFamily="34" charset="0"/>
                <a:cs typeface="Arial" panose="020B0604020202020204" pitchFamily="34" charset="0"/>
              </a:rPr>
              <a:t>Eléctrica y Electrónica</a:t>
            </a:r>
            <a:endParaRPr lang="en-US" sz="1050" b="0" dirty="0">
              <a:latin typeface="Arial" panose="020B0604020202020204" pitchFamily="34" charset="0"/>
              <a:cs typeface="Arial" panose="020B0604020202020204" pitchFamily="34" charset="0"/>
            </a:endParaRPr>
          </a:p>
        </p:txBody>
      </p:sp>
      <p:sp>
        <p:nvSpPr>
          <p:cNvPr id="6" name="Rectángulo 5"/>
          <p:cNvSpPr/>
          <p:nvPr/>
        </p:nvSpPr>
        <p:spPr>
          <a:xfrm>
            <a:off x="0" y="6474554"/>
            <a:ext cx="12192005" cy="383446"/>
          </a:xfrm>
          <a:prstGeom prst="rect">
            <a:avLst/>
          </a:prstGeom>
          <a:solidFill>
            <a:srgbClr val="991636"/>
          </a:solidFill>
          <a:ln>
            <a:solidFill>
              <a:srgbClr val="9916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Ingeniería</a:t>
            </a:r>
            <a:r>
              <a:rPr lang="en-US" dirty="0" smtClean="0"/>
              <a:t> </a:t>
            </a:r>
            <a:r>
              <a:rPr lang="en-US" dirty="0" err="1" smtClean="0"/>
              <a:t>Economica</a:t>
            </a:r>
            <a:r>
              <a:rPr lang="en-US" dirty="0" smtClean="0"/>
              <a:t> – Julio Salvador </a:t>
            </a:r>
            <a:r>
              <a:rPr lang="en-US" dirty="0" err="1" smtClean="0"/>
              <a:t>Jácome</a:t>
            </a:r>
            <a:endParaRPr lang="en-US" dirty="0"/>
          </a:p>
        </p:txBody>
      </p:sp>
    </p:spTree>
    <p:extLst>
      <p:ext uri="{BB962C8B-B14F-4D97-AF65-F5344CB8AC3E}">
        <p14:creationId xmlns:p14="http://schemas.microsoft.com/office/powerpoint/2010/main" val="12924847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Contenido</a:t>
            </a:r>
            <a:endParaRPr lang="es-PE" dirty="0"/>
          </a:p>
        </p:txBody>
      </p:sp>
      <p:sp>
        <p:nvSpPr>
          <p:cNvPr id="3" name="Marcador de contenido 2"/>
          <p:cNvSpPr>
            <a:spLocks noGrp="1"/>
          </p:cNvSpPr>
          <p:nvPr>
            <p:ph idx="1"/>
          </p:nvPr>
        </p:nvSpPr>
        <p:spPr/>
        <p:txBody>
          <a:bodyPr/>
          <a:lstStyle/>
          <a:p>
            <a:r>
              <a:rPr lang="es-PE" dirty="0" smtClean="0"/>
              <a:t>Introducción</a:t>
            </a:r>
          </a:p>
          <a:p>
            <a:r>
              <a:rPr lang="es-PE" dirty="0" smtClean="0"/>
              <a:t>Modelo de flujo</a:t>
            </a:r>
          </a:p>
          <a:p>
            <a:r>
              <a:rPr lang="es-PE" dirty="0" smtClean="0"/>
              <a:t>El arte de la proyección</a:t>
            </a:r>
            <a:endParaRPr lang="es-PE" dirty="0"/>
          </a:p>
        </p:txBody>
      </p:sp>
    </p:spTree>
    <p:extLst>
      <p:ext uri="{BB962C8B-B14F-4D97-AF65-F5344CB8AC3E}">
        <p14:creationId xmlns:p14="http://schemas.microsoft.com/office/powerpoint/2010/main" val="35434474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El reto de la formulación</a:t>
            </a:r>
            <a:endParaRPr lang="es-PE" dirty="0"/>
          </a:p>
        </p:txBody>
      </p:sp>
      <p:pic>
        <p:nvPicPr>
          <p:cNvPr id="5" name="Imagen 4"/>
          <p:cNvPicPr>
            <a:picLocks noChangeAspect="1"/>
          </p:cNvPicPr>
          <p:nvPr/>
        </p:nvPicPr>
        <p:blipFill>
          <a:blip r:embed="rId2"/>
          <a:stretch>
            <a:fillRect/>
          </a:stretch>
        </p:blipFill>
        <p:spPr>
          <a:xfrm>
            <a:off x="3481405" y="1501850"/>
            <a:ext cx="5229190" cy="3901779"/>
          </a:xfrm>
          <a:prstGeom prst="rect">
            <a:avLst/>
          </a:prstGeom>
        </p:spPr>
      </p:pic>
      <p:sp>
        <p:nvSpPr>
          <p:cNvPr id="6" name="CuadroTexto 5"/>
          <p:cNvSpPr txBox="1"/>
          <p:nvPr/>
        </p:nvSpPr>
        <p:spPr>
          <a:xfrm>
            <a:off x="3192378" y="5630779"/>
            <a:ext cx="6603667" cy="954107"/>
          </a:xfrm>
          <a:prstGeom prst="rect">
            <a:avLst/>
          </a:prstGeom>
          <a:noFill/>
        </p:spPr>
        <p:txBody>
          <a:bodyPr wrap="none" rtlCol="0">
            <a:spAutoFit/>
          </a:bodyPr>
          <a:lstStyle/>
          <a:p>
            <a:pPr algn="ctr"/>
            <a:r>
              <a:rPr lang="es-PE" sz="2800" dirty="0" smtClean="0"/>
              <a:t>Los proyectos son del futuro</a:t>
            </a:r>
          </a:p>
          <a:p>
            <a:r>
              <a:rPr lang="es-PE" sz="2800" dirty="0" smtClean="0"/>
              <a:t>No nos contratan para proyectos del pasado</a:t>
            </a:r>
            <a:endParaRPr lang="es-PE" sz="2800" dirty="0"/>
          </a:p>
        </p:txBody>
      </p:sp>
    </p:spTree>
    <p:extLst>
      <p:ext uri="{BB962C8B-B14F-4D97-AF65-F5344CB8AC3E}">
        <p14:creationId xmlns:p14="http://schemas.microsoft.com/office/powerpoint/2010/main" val="30259519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Introducción</a:t>
            </a:r>
            <a:endParaRPr lang="es-PE" dirty="0"/>
          </a:p>
        </p:txBody>
      </p:sp>
      <p:sp>
        <p:nvSpPr>
          <p:cNvPr id="5" name="Rectángulo 4"/>
          <p:cNvSpPr/>
          <p:nvPr/>
        </p:nvSpPr>
        <p:spPr>
          <a:xfrm>
            <a:off x="838201" y="3320716"/>
            <a:ext cx="1311442" cy="5614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smtClean="0"/>
              <a:t>Etapas</a:t>
            </a:r>
            <a:endParaRPr lang="es-PE" dirty="0"/>
          </a:p>
        </p:txBody>
      </p:sp>
      <p:sp>
        <p:nvSpPr>
          <p:cNvPr id="8" name="Rectángulo 7"/>
          <p:cNvSpPr/>
          <p:nvPr/>
        </p:nvSpPr>
        <p:spPr>
          <a:xfrm>
            <a:off x="2915653" y="1820779"/>
            <a:ext cx="1311442" cy="5614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smtClean="0"/>
              <a:t>Idea</a:t>
            </a:r>
            <a:endParaRPr lang="es-PE" dirty="0"/>
          </a:p>
        </p:txBody>
      </p:sp>
      <p:sp>
        <p:nvSpPr>
          <p:cNvPr id="9" name="Rectángulo 8"/>
          <p:cNvSpPr/>
          <p:nvPr/>
        </p:nvSpPr>
        <p:spPr>
          <a:xfrm>
            <a:off x="2915653" y="2759242"/>
            <a:ext cx="1311442" cy="5614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smtClean="0"/>
              <a:t>Pre</a:t>
            </a:r>
          </a:p>
          <a:p>
            <a:pPr algn="ctr"/>
            <a:r>
              <a:rPr lang="es-PE" dirty="0" smtClean="0"/>
              <a:t>Inversión</a:t>
            </a:r>
            <a:endParaRPr lang="es-PE" dirty="0"/>
          </a:p>
        </p:txBody>
      </p:sp>
      <p:sp>
        <p:nvSpPr>
          <p:cNvPr id="10" name="Rectángulo 9"/>
          <p:cNvSpPr/>
          <p:nvPr/>
        </p:nvSpPr>
        <p:spPr>
          <a:xfrm>
            <a:off x="2915653" y="4239128"/>
            <a:ext cx="1311442" cy="5614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smtClean="0"/>
              <a:t>Inversión</a:t>
            </a:r>
            <a:endParaRPr lang="es-PE" dirty="0"/>
          </a:p>
        </p:txBody>
      </p:sp>
      <p:sp>
        <p:nvSpPr>
          <p:cNvPr id="11" name="Rectángulo 10"/>
          <p:cNvSpPr/>
          <p:nvPr/>
        </p:nvSpPr>
        <p:spPr>
          <a:xfrm>
            <a:off x="2915653" y="5251785"/>
            <a:ext cx="1311442" cy="5614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smtClean="0"/>
              <a:t>Operación</a:t>
            </a:r>
            <a:endParaRPr lang="es-PE" dirty="0"/>
          </a:p>
        </p:txBody>
      </p:sp>
      <p:sp>
        <p:nvSpPr>
          <p:cNvPr id="12" name="Rectángulo 11"/>
          <p:cNvSpPr/>
          <p:nvPr/>
        </p:nvSpPr>
        <p:spPr>
          <a:xfrm>
            <a:off x="2915653" y="6095938"/>
            <a:ext cx="1311442" cy="5614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smtClean="0"/>
              <a:t>Cierre</a:t>
            </a:r>
            <a:endParaRPr lang="es-PE" dirty="0"/>
          </a:p>
        </p:txBody>
      </p:sp>
      <p:cxnSp>
        <p:nvCxnSpPr>
          <p:cNvPr id="7" name="Conector recto de flecha 6"/>
          <p:cNvCxnSpPr>
            <a:stCxn id="5" idx="3"/>
            <a:endCxn id="8" idx="1"/>
          </p:cNvCxnSpPr>
          <p:nvPr/>
        </p:nvCxnSpPr>
        <p:spPr>
          <a:xfrm flipV="1">
            <a:off x="2149643" y="2101516"/>
            <a:ext cx="766010" cy="14999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p:cNvCxnSpPr>
            <a:stCxn id="5" idx="3"/>
            <a:endCxn id="9" idx="1"/>
          </p:cNvCxnSpPr>
          <p:nvPr/>
        </p:nvCxnSpPr>
        <p:spPr>
          <a:xfrm flipV="1">
            <a:off x="2149643" y="3039979"/>
            <a:ext cx="766010" cy="5614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p:cNvCxnSpPr>
            <a:stCxn id="5" idx="3"/>
            <a:endCxn id="10" idx="1"/>
          </p:cNvCxnSpPr>
          <p:nvPr/>
        </p:nvCxnSpPr>
        <p:spPr>
          <a:xfrm>
            <a:off x="2149643" y="3601453"/>
            <a:ext cx="766010" cy="9184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p:cNvCxnSpPr>
            <a:stCxn id="5" idx="3"/>
          </p:cNvCxnSpPr>
          <p:nvPr/>
        </p:nvCxnSpPr>
        <p:spPr>
          <a:xfrm>
            <a:off x="2149643" y="3601453"/>
            <a:ext cx="766010" cy="18368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ector recto de flecha 19"/>
          <p:cNvCxnSpPr>
            <a:stCxn id="5" idx="3"/>
            <a:endCxn id="12" idx="1"/>
          </p:cNvCxnSpPr>
          <p:nvPr/>
        </p:nvCxnSpPr>
        <p:spPr>
          <a:xfrm>
            <a:off x="2149643" y="3601453"/>
            <a:ext cx="766010" cy="2775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ángulo 22"/>
          <p:cNvSpPr/>
          <p:nvPr/>
        </p:nvSpPr>
        <p:spPr>
          <a:xfrm>
            <a:off x="4760495" y="2101516"/>
            <a:ext cx="1311442" cy="561474"/>
          </a:xfrm>
          <a:prstGeom prst="rect">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smtClean="0"/>
              <a:t>Perfil</a:t>
            </a:r>
            <a:endParaRPr lang="es-PE" dirty="0"/>
          </a:p>
        </p:txBody>
      </p:sp>
      <p:sp>
        <p:nvSpPr>
          <p:cNvPr id="24" name="Rectángulo 23"/>
          <p:cNvSpPr/>
          <p:nvPr/>
        </p:nvSpPr>
        <p:spPr>
          <a:xfrm>
            <a:off x="4760495" y="2759242"/>
            <a:ext cx="1311442" cy="561474"/>
          </a:xfrm>
          <a:prstGeom prst="rect">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Pre</a:t>
            </a:r>
          </a:p>
          <a:p>
            <a:pPr algn="ctr"/>
            <a:r>
              <a:rPr lang="es-PE" dirty="0" smtClean="0"/>
              <a:t>factibilidad</a:t>
            </a:r>
            <a:endParaRPr lang="es-PE" dirty="0"/>
          </a:p>
        </p:txBody>
      </p:sp>
      <p:sp>
        <p:nvSpPr>
          <p:cNvPr id="25" name="Rectángulo 24"/>
          <p:cNvSpPr/>
          <p:nvPr/>
        </p:nvSpPr>
        <p:spPr>
          <a:xfrm>
            <a:off x="4784558" y="3421553"/>
            <a:ext cx="1311442" cy="561474"/>
          </a:xfrm>
          <a:prstGeom prst="rect">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smtClean="0"/>
              <a:t>Factibilidad</a:t>
            </a:r>
            <a:endParaRPr lang="es-PE" dirty="0"/>
          </a:p>
        </p:txBody>
      </p:sp>
      <p:cxnSp>
        <p:nvCxnSpPr>
          <p:cNvPr id="22" name="Conector recto de flecha 21"/>
          <p:cNvCxnSpPr>
            <a:stCxn id="9" idx="3"/>
            <a:endCxn id="23" idx="1"/>
          </p:cNvCxnSpPr>
          <p:nvPr/>
        </p:nvCxnSpPr>
        <p:spPr>
          <a:xfrm flipV="1">
            <a:off x="4227095" y="2382253"/>
            <a:ext cx="533400" cy="6577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ector recto de flecha 26"/>
          <p:cNvCxnSpPr>
            <a:stCxn id="9" idx="3"/>
            <a:endCxn id="24" idx="1"/>
          </p:cNvCxnSpPr>
          <p:nvPr/>
        </p:nvCxnSpPr>
        <p:spPr>
          <a:xfrm>
            <a:off x="4227095" y="3039979"/>
            <a:ext cx="533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ector recto de flecha 28"/>
          <p:cNvCxnSpPr>
            <a:stCxn id="9" idx="3"/>
          </p:cNvCxnSpPr>
          <p:nvPr/>
        </p:nvCxnSpPr>
        <p:spPr>
          <a:xfrm>
            <a:off x="4227095" y="3039979"/>
            <a:ext cx="533400" cy="5614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ctángulo 31"/>
          <p:cNvSpPr/>
          <p:nvPr/>
        </p:nvSpPr>
        <p:spPr>
          <a:xfrm>
            <a:off x="7154779" y="1137235"/>
            <a:ext cx="1443790" cy="553453"/>
          </a:xfrm>
          <a:prstGeom prst="rect">
            <a:avLst/>
          </a:prstGeom>
          <a:solidFill>
            <a:srgbClr val="C00000"/>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smtClean="0"/>
              <a:t>Identificación</a:t>
            </a:r>
            <a:endParaRPr lang="es-PE" dirty="0"/>
          </a:p>
        </p:txBody>
      </p:sp>
      <p:sp>
        <p:nvSpPr>
          <p:cNvPr id="33" name="Rectángulo 32"/>
          <p:cNvSpPr/>
          <p:nvPr/>
        </p:nvSpPr>
        <p:spPr>
          <a:xfrm>
            <a:off x="7154779" y="1820779"/>
            <a:ext cx="1443790" cy="553453"/>
          </a:xfrm>
          <a:prstGeom prst="rect">
            <a:avLst/>
          </a:prstGeom>
          <a:solidFill>
            <a:srgbClr val="C00000"/>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smtClean="0"/>
              <a:t>Selección</a:t>
            </a:r>
            <a:endParaRPr lang="es-PE" dirty="0"/>
          </a:p>
        </p:txBody>
      </p:sp>
      <p:sp>
        <p:nvSpPr>
          <p:cNvPr id="34" name="Rectángulo 33"/>
          <p:cNvSpPr/>
          <p:nvPr/>
        </p:nvSpPr>
        <p:spPr>
          <a:xfrm>
            <a:off x="7154779" y="2486526"/>
            <a:ext cx="1443790" cy="553453"/>
          </a:xfrm>
          <a:prstGeom prst="rect">
            <a:avLst/>
          </a:prstGeom>
          <a:solidFill>
            <a:srgbClr val="C00000"/>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smtClean="0"/>
              <a:t>Formulación</a:t>
            </a:r>
            <a:endParaRPr lang="es-PE" dirty="0"/>
          </a:p>
        </p:txBody>
      </p:sp>
      <p:sp>
        <p:nvSpPr>
          <p:cNvPr id="35" name="Rectángulo 34"/>
          <p:cNvSpPr/>
          <p:nvPr/>
        </p:nvSpPr>
        <p:spPr>
          <a:xfrm>
            <a:off x="7154779" y="4435611"/>
            <a:ext cx="1443790" cy="553453"/>
          </a:xfrm>
          <a:prstGeom prst="rect">
            <a:avLst/>
          </a:prstGeom>
          <a:solidFill>
            <a:srgbClr val="C00000"/>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smtClean="0"/>
              <a:t>Evaluación</a:t>
            </a:r>
            <a:endParaRPr lang="es-PE" dirty="0"/>
          </a:p>
        </p:txBody>
      </p:sp>
      <p:cxnSp>
        <p:nvCxnSpPr>
          <p:cNvPr id="31" name="Conector recto de flecha 30"/>
          <p:cNvCxnSpPr>
            <a:stCxn id="25" idx="3"/>
          </p:cNvCxnSpPr>
          <p:nvPr/>
        </p:nvCxnSpPr>
        <p:spPr>
          <a:xfrm flipV="1">
            <a:off x="6096000" y="1540042"/>
            <a:ext cx="1058779" cy="2162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ector recto de flecha 36"/>
          <p:cNvCxnSpPr>
            <a:stCxn id="25" idx="3"/>
            <a:endCxn id="33" idx="1"/>
          </p:cNvCxnSpPr>
          <p:nvPr/>
        </p:nvCxnSpPr>
        <p:spPr>
          <a:xfrm flipV="1">
            <a:off x="6096000" y="2097506"/>
            <a:ext cx="1058779" cy="1604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Conector recto de flecha 39"/>
          <p:cNvCxnSpPr>
            <a:stCxn id="25" idx="3"/>
            <a:endCxn id="34" idx="1"/>
          </p:cNvCxnSpPr>
          <p:nvPr/>
        </p:nvCxnSpPr>
        <p:spPr>
          <a:xfrm flipV="1">
            <a:off x="6096000" y="2763253"/>
            <a:ext cx="1058779" cy="9390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Conector recto de flecha 41"/>
          <p:cNvCxnSpPr>
            <a:stCxn id="25" idx="3"/>
            <a:endCxn id="35" idx="1"/>
          </p:cNvCxnSpPr>
          <p:nvPr/>
        </p:nvCxnSpPr>
        <p:spPr>
          <a:xfrm>
            <a:off x="6096000" y="3702290"/>
            <a:ext cx="1058779" cy="10100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tángulo 44"/>
          <p:cNvSpPr/>
          <p:nvPr/>
        </p:nvSpPr>
        <p:spPr>
          <a:xfrm>
            <a:off x="9910010" y="2819972"/>
            <a:ext cx="1443790" cy="553453"/>
          </a:xfrm>
          <a:prstGeom prst="rect">
            <a:avLst/>
          </a:prstGeom>
          <a:solidFill>
            <a:schemeClr val="accent1">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smtClean="0"/>
              <a:t>Estudio de mercado</a:t>
            </a:r>
            <a:endParaRPr lang="es-PE" dirty="0"/>
          </a:p>
        </p:txBody>
      </p:sp>
      <p:sp>
        <p:nvSpPr>
          <p:cNvPr id="46" name="Rectángulo 45"/>
          <p:cNvSpPr/>
          <p:nvPr/>
        </p:nvSpPr>
        <p:spPr>
          <a:xfrm>
            <a:off x="9910010" y="3423269"/>
            <a:ext cx="1443790" cy="553453"/>
          </a:xfrm>
          <a:prstGeom prst="rect">
            <a:avLst/>
          </a:prstGeom>
          <a:solidFill>
            <a:schemeClr val="accent1">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smtClean="0"/>
              <a:t>Tamaño y localización</a:t>
            </a:r>
            <a:endParaRPr lang="es-PE" dirty="0"/>
          </a:p>
        </p:txBody>
      </p:sp>
      <p:sp>
        <p:nvSpPr>
          <p:cNvPr id="47" name="Rectángulo 46"/>
          <p:cNvSpPr/>
          <p:nvPr/>
        </p:nvSpPr>
        <p:spPr>
          <a:xfrm>
            <a:off x="9910010" y="4035448"/>
            <a:ext cx="1443790" cy="553453"/>
          </a:xfrm>
          <a:prstGeom prst="rect">
            <a:avLst/>
          </a:prstGeom>
          <a:solidFill>
            <a:schemeClr val="accent1">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smtClean="0"/>
              <a:t>Procesos y tecnología</a:t>
            </a:r>
            <a:endParaRPr lang="es-PE" dirty="0"/>
          </a:p>
        </p:txBody>
      </p:sp>
      <p:sp>
        <p:nvSpPr>
          <p:cNvPr id="48" name="Rectángulo 47"/>
          <p:cNvSpPr/>
          <p:nvPr/>
        </p:nvSpPr>
        <p:spPr>
          <a:xfrm>
            <a:off x="9910010" y="4647627"/>
            <a:ext cx="1443790" cy="553453"/>
          </a:xfrm>
          <a:prstGeom prst="rect">
            <a:avLst/>
          </a:prstGeom>
          <a:solidFill>
            <a:schemeClr val="accent1">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smtClean="0"/>
              <a:t>Estudio económico</a:t>
            </a:r>
            <a:endParaRPr lang="es-PE" dirty="0"/>
          </a:p>
        </p:txBody>
      </p:sp>
      <p:sp>
        <p:nvSpPr>
          <p:cNvPr id="49" name="Rectángulo 48"/>
          <p:cNvSpPr/>
          <p:nvPr/>
        </p:nvSpPr>
        <p:spPr>
          <a:xfrm>
            <a:off x="9910010" y="5259806"/>
            <a:ext cx="1443790" cy="553453"/>
          </a:xfrm>
          <a:prstGeom prst="rect">
            <a:avLst/>
          </a:prstGeom>
          <a:solidFill>
            <a:schemeClr val="accent1">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smtClean="0"/>
              <a:t>Estudio financiero</a:t>
            </a:r>
            <a:endParaRPr lang="es-PE" dirty="0"/>
          </a:p>
        </p:txBody>
      </p:sp>
      <p:sp>
        <p:nvSpPr>
          <p:cNvPr id="50" name="Rectángulo 49"/>
          <p:cNvSpPr/>
          <p:nvPr/>
        </p:nvSpPr>
        <p:spPr>
          <a:xfrm>
            <a:off x="9910010" y="5871985"/>
            <a:ext cx="1443790" cy="553453"/>
          </a:xfrm>
          <a:prstGeom prst="rect">
            <a:avLst/>
          </a:prstGeom>
          <a:solidFill>
            <a:schemeClr val="accent1">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err="1" smtClean="0"/>
              <a:t>Analisis</a:t>
            </a:r>
            <a:r>
              <a:rPr lang="es-PE" dirty="0" smtClean="0"/>
              <a:t> sensibilidad</a:t>
            </a:r>
            <a:endParaRPr lang="es-PE" dirty="0"/>
          </a:p>
        </p:txBody>
      </p:sp>
      <p:cxnSp>
        <p:nvCxnSpPr>
          <p:cNvPr id="51" name="Conector recto de flecha 50"/>
          <p:cNvCxnSpPr>
            <a:stCxn id="35" idx="3"/>
            <a:endCxn id="45" idx="1"/>
          </p:cNvCxnSpPr>
          <p:nvPr/>
        </p:nvCxnSpPr>
        <p:spPr>
          <a:xfrm flipV="1">
            <a:off x="8598569" y="3096699"/>
            <a:ext cx="1311441" cy="16156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Conector recto de flecha 52"/>
          <p:cNvCxnSpPr>
            <a:stCxn id="35" idx="3"/>
            <a:endCxn id="46" idx="1"/>
          </p:cNvCxnSpPr>
          <p:nvPr/>
        </p:nvCxnSpPr>
        <p:spPr>
          <a:xfrm flipV="1">
            <a:off x="8598569" y="3699996"/>
            <a:ext cx="1311441" cy="10123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Conector recto de flecha 54"/>
          <p:cNvCxnSpPr>
            <a:stCxn id="35" idx="3"/>
            <a:endCxn id="47" idx="1"/>
          </p:cNvCxnSpPr>
          <p:nvPr/>
        </p:nvCxnSpPr>
        <p:spPr>
          <a:xfrm flipV="1">
            <a:off x="8598569" y="4312175"/>
            <a:ext cx="1311441" cy="4001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Conector recto de flecha 56"/>
          <p:cNvCxnSpPr>
            <a:stCxn id="35" idx="3"/>
            <a:endCxn id="48" idx="1"/>
          </p:cNvCxnSpPr>
          <p:nvPr/>
        </p:nvCxnSpPr>
        <p:spPr>
          <a:xfrm>
            <a:off x="8598569" y="4712338"/>
            <a:ext cx="1311441" cy="212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Conector recto de flecha 58"/>
          <p:cNvCxnSpPr>
            <a:stCxn id="35" idx="3"/>
            <a:endCxn id="49" idx="1"/>
          </p:cNvCxnSpPr>
          <p:nvPr/>
        </p:nvCxnSpPr>
        <p:spPr>
          <a:xfrm>
            <a:off x="8598569" y="4712338"/>
            <a:ext cx="1311441" cy="8241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Conector recto de flecha 60"/>
          <p:cNvCxnSpPr>
            <a:stCxn id="35" idx="3"/>
            <a:endCxn id="50" idx="1"/>
          </p:cNvCxnSpPr>
          <p:nvPr/>
        </p:nvCxnSpPr>
        <p:spPr>
          <a:xfrm>
            <a:off x="8598569" y="4712338"/>
            <a:ext cx="1311441" cy="14363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2">
            <p14:nvContentPartPr>
              <p14:cNvPr id="3" name="Entrada de lápiz 2"/>
              <p14:cNvContentPartPr/>
              <p14:nvPr/>
            </p14:nvContentPartPr>
            <p14:xfrm>
              <a:off x="2832120" y="2610000"/>
              <a:ext cx="8750520" cy="3969000"/>
            </p14:xfrm>
          </p:contentPart>
        </mc:Choice>
        <mc:Fallback>
          <p:pic>
            <p:nvPicPr>
              <p:cNvPr id="3" name="Entrada de lápiz 2"/>
              <p:cNvPicPr/>
              <p:nvPr/>
            </p:nvPicPr>
            <p:blipFill>
              <a:blip r:embed="rId3"/>
              <a:stretch>
                <a:fillRect/>
              </a:stretch>
            </p:blipFill>
            <p:spPr>
              <a:xfrm>
                <a:off x="2822760" y="2600640"/>
                <a:ext cx="8769240" cy="3987720"/>
              </a:xfrm>
              <a:prstGeom prst="rect">
                <a:avLst/>
              </a:prstGeom>
            </p:spPr>
          </p:pic>
        </mc:Fallback>
      </mc:AlternateContent>
    </p:spTree>
    <p:extLst>
      <p:ext uri="{BB962C8B-B14F-4D97-AF65-F5344CB8AC3E}">
        <p14:creationId xmlns:p14="http://schemas.microsoft.com/office/powerpoint/2010/main" val="23965120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Ciclo de vida del proyecto</a:t>
            </a:r>
            <a:endParaRPr lang="es-PE" dirty="0"/>
          </a:p>
        </p:txBody>
      </p:sp>
      <p:cxnSp>
        <p:nvCxnSpPr>
          <p:cNvPr id="5" name="Conector recto 4"/>
          <p:cNvCxnSpPr/>
          <p:nvPr/>
        </p:nvCxnSpPr>
        <p:spPr>
          <a:xfrm>
            <a:off x="4054764" y="1995054"/>
            <a:ext cx="18472" cy="3786909"/>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Conector recto 6"/>
          <p:cNvCxnSpPr/>
          <p:nvPr/>
        </p:nvCxnSpPr>
        <p:spPr>
          <a:xfrm flipV="1">
            <a:off x="1450109" y="4276435"/>
            <a:ext cx="8626764" cy="138545"/>
          </a:xfrm>
          <a:prstGeom prst="line">
            <a:avLst/>
          </a:prstGeom>
        </p:spPr>
        <p:style>
          <a:lnRef idx="1">
            <a:schemeClr val="accent1"/>
          </a:lnRef>
          <a:fillRef idx="0">
            <a:schemeClr val="accent1"/>
          </a:fillRef>
          <a:effectRef idx="0">
            <a:schemeClr val="accent1"/>
          </a:effectRef>
          <a:fontRef idx="minor">
            <a:schemeClr val="tx1"/>
          </a:fontRef>
        </p:style>
      </p:cxnSp>
      <p:sp>
        <p:nvSpPr>
          <p:cNvPr id="9" name="Forma libre 8"/>
          <p:cNvSpPr/>
          <p:nvPr/>
        </p:nvSpPr>
        <p:spPr>
          <a:xfrm>
            <a:off x="1681019" y="2665225"/>
            <a:ext cx="8349672" cy="2472929"/>
          </a:xfrm>
          <a:custGeom>
            <a:avLst/>
            <a:gdLst>
              <a:gd name="connsiteX0" fmla="*/ 0 w 8349672"/>
              <a:gd name="connsiteY0" fmla="*/ 1805174 h 2472929"/>
              <a:gd name="connsiteX1" fmla="*/ 748145 w 8349672"/>
              <a:gd name="connsiteY1" fmla="*/ 2137684 h 2472929"/>
              <a:gd name="connsiteX2" fmla="*/ 1828800 w 8349672"/>
              <a:gd name="connsiteY2" fmla="*/ 2460956 h 2472929"/>
              <a:gd name="connsiteX3" fmla="*/ 2401454 w 8349672"/>
              <a:gd name="connsiteY3" fmla="*/ 1694338 h 2472929"/>
              <a:gd name="connsiteX4" fmla="*/ 2687781 w 8349672"/>
              <a:gd name="connsiteY4" fmla="*/ 900011 h 2472929"/>
              <a:gd name="connsiteX5" fmla="*/ 3648363 w 8349672"/>
              <a:gd name="connsiteY5" fmla="*/ 281174 h 2472929"/>
              <a:gd name="connsiteX6" fmla="*/ 6289963 w 8349672"/>
              <a:gd name="connsiteY6" fmla="*/ 22556 h 2472929"/>
              <a:gd name="connsiteX7" fmla="*/ 8349672 w 8349672"/>
              <a:gd name="connsiteY7" fmla="*/ 826120 h 247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49672" h="2472929">
                <a:moveTo>
                  <a:pt x="0" y="1805174"/>
                </a:moveTo>
                <a:cubicBezTo>
                  <a:pt x="221672" y="1916780"/>
                  <a:pt x="443345" y="2028387"/>
                  <a:pt x="748145" y="2137684"/>
                </a:cubicBezTo>
                <a:cubicBezTo>
                  <a:pt x="1052945" y="2246981"/>
                  <a:pt x="1553249" y="2534847"/>
                  <a:pt x="1828800" y="2460956"/>
                </a:cubicBezTo>
                <a:cubicBezTo>
                  <a:pt x="2104351" y="2387065"/>
                  <a:pt x="2258290" y="1954496"/>
                  <a:pt x="2401454" y="1694338"/>
                </a:cubicBezTo>
                <a:cubicBezTo>
                  <a:pt x="2544618" y="1434180"/>
                  <a:pt x="2479963" y="1135538"/>
                  <a:pt x="2687781" y="900011"/>
                </a:cubicBezTo>
                <a:cubicBezTo>
                  <a:pt x="2895599" y="664484"/>
                  <a:pt x="3047999" y="427416"/>
                  <a:pt x="3648363" y="281174"/>
                </a:cubicBezTo>
                <a:cubicBezTo>
                  <a:pt x="4248727" y="134931"/>
                  <a:pt x="5506412" y="-68268"/>
                  <a:pt x="6289963" y="22556"/>
                </a:cubicBezTo>
                <a:cubicBezTo>
                  <a:pt x="7073514" y="113380"/>
                  <a:pt x="7711593" y="469750"/>
                  <a:pt x="8349672" y="82612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 name="CuadroTexto 10"/>
          <p:cNvSpPr txBox="1"/>
          <p:nvPr/>
        </p:nvSpPr>
        <p:spPr>
          <a:xfrm>
            <a:off x="3413242" y="2021416"/>
            <a:ext cx="641522" cy="369332"/>
          </a:xfrm>
          <a:prstGeom prst="rect">
            <a:avLst/>
          </a:prstGeom>
          <a:noFill/>
        </p:spPr>
        <p:txBody>
          <a:bodyPr wrap="none" rtlCol="0">
            <a:spAutoFit/>
          </a:bodyPr>
          <a:lstStyle/>
          <a:p>
            <a:r>
              <a:rPr lang="es-PE" dirty="0" smtClean="0"/>
              <a:t>Flujo</a:t>
            </a:r>
            <a:endParaRPr lang="es-PE" dirty="0"/>
          </a:p>
        </p:txBody>
      </p:sp>
      <p:sp>
        <p:nvSpPr>
          <p:cNvPr id="12" name="CuadroTexto 11"/>
          <p:cNvSpPr txBox="1"/>
          <p:nvPr/>
        </p:nvSpPr>
        <p:spPr>
          <a:xfrm>
            <a:off x="9620079" y="4433413"/>
            <a:ext cx="893193" cy="369332"/>
          </a:xfrm>
          <a:prstGeom prst="rect">
            <a:avLst/>
          </a:prstGeom>
          <a:noFill/>
        </p:spPr>
        <p:txBody>
          <a:bodyPr wrap="none" rtlCol="0">
            <a:spAutoFit/>
          </a:bodyPr>
          <a:lstStyle/>
          <a:p>
            <a:r>
              <a:rPr lang="es-PE" dirty="0" smtClean="0"/>
              <a:t>Tiempo</a:t>
            </a:r>
            <a:endParaRPr lang="es-PE" dirty="0"/>
          </a:p>
        </p:txBody>
      </p:sp>
      <p:sp>
        <p:nvSpPr>
          <p:cNvPr id="13" name="CuadroTexto 12"/>
          <p:cNvSpPr txBox="1"/>
          <p:nvPr/>
        </p:nvSpPr>
        <p:spPr>
          <a:xfrm>
            <a:off x="2142837" y="5523345"/>
            <a:ext cx="1040221" cy="369332"/>
          </a:xfrm>
          <a:prstGeom prst="rect">
            <a:avLst/>
          </a:prstGeom>
          <a:noFill/>
        </p:spPr>
        <p:txBody>
          <a:bodyPr wrap="none" rtlCol="0">
            <a:spAutoFit/>
          </a:bodyPr>
          <a:lstStyle/>
          <a:p>
            <a:r>
              <a:rPr lang="es-PE" dirty="0" smtClean="0"/>
              <a:t>Inversión</a:t>
            </a:r>
            <a:endParaRPr lang="es-PE" dirty="0"/>
          </a:p>
        </p:txBody>
      </p:sp>
      <p:sp>
        <p:nvSpPr>
          <p:cNvPr id="14" name="CuadroTexto 13"/>
          <p:cNvSpPr txBox="1"/>
          <p:nvPr/>
        </p:nvSpPr>
        <p:spPr>
          <a:xfrm>
            <a:off x="6591890" y="5523345"/>
            <a:ext cx="1154547" cy="369332"/>
          </a:xfrm>
          <a:prstGeom prst="rect">
            <a:avLst/>
          </a:prstGeom>
          <a:noFill/>
        </p:spPr>
        <p:txBody>
          <a:bodyPr wrap="none" rtlCol="0">
            <a:spAutoFit/>
          </a:bodyPr>
          <a:lstStyle/>
          <a:p>
            <a:r>
              <a:rPr lang="es-PE" dirty="0" smtClean="0"/>
              <a:t>Operación</a:t>
            </a:r>
            <a:endParaRPr lang="es-PE" dirty="0"/>
          </a:p>
        </p:txBody>
      </p:sp>
      <p:sp>
        <p:nvSpPr>
          <p:cNvPr id="15" name="CuadroTexto 14"/>
          <p:cNvSpPr txBox="1"/>
          <p:nvPr/>
        </p:nvSpPr>
        <p:spPr>
          <a:xfrm>
            <a:off x="9358725" y="5523345"/>
            <a:ext cx="749116" cy="369332"/>
          </a:xfrm>
          <a:prstGeom prst="rect">
            <a:avLst/>
          </a:prstGeom>
          <a:noFill/>
        </p:spPr>
        <p:txBody>
          <a:bodyPr wrap="none" rtlCol="0">
            <a:spAutoFit/>
          </a:bodyPr>
          <a:lstStyle/>
          <a:p>
            <a:r>
              <a:rPr lang="es-PE" dirty="0" smtClean="0"/>
              <a:t>Cierre</a:t>
            </a:r>
            <a:endParaRPr lang="es-PE" dirty="0"/>
          </a:p>
        </p:txBody>
      </p:sp>
    </p:spTree>
    <p:extLst>
      <p:ext uri="{BB962C8B-B14F-4D97-AF65-F5344CB8AC3E}">
        <p14:creationId xmlns:p14="http://schemas.microsoft.com/office/powerpoint/2010/main" val="30732517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01129" y="0"/>
            <a:ext cx="10515600" cy="1325563"/>
          </a:xfrm>
        </p:spPr>
        <p:txBody>
          <a:bodyPr/>
          <a:lstStyle/>
          <a:p>
            <a:pPr algn="ctr"/>
            <a:r>
              <a:rPr lang="es-PE" dirty="0" smtClean="0"/>
              <a:t>Modelo de flujo (Operación)</a:t>
            </a:r>
            <a:endParaRPr lang="es-PE" dirty="0"/>
          </a:p>
        </p:txBody>
      </p:sp>
      <p:graphicFrame>
        <p:nvGraphicFramePr>
          <p:cNvPr id="3" name="Tabla 2"/>
          <p:cNvGraphicFramePr>
            <a:graphicFrameLocks noGrp="1"/>
          </p:cNvGraphicFramePr>
          <p:nvPr>
            <p:extLst>
              <p:ext uri="{D42A27DB-BD31-4B8C-83A1-F6EECF244321}">
                <p14:modId xmlns:p14="http://schemas.microsoft.com/office/powerpoint/2010/main" val="3510555103"/>
              </p:ext>
            </p:extLst>
          </p:nvPr>
        </p:nvGraphicFramePr>
        <p:xfrm>
          <a:off x="1853513" y="942975"/>
          <a:ext cx="5894172" cy="5915025"/>
        </p:xfrm>
        <a:graphic>
          <a:graphicData uri="http://schemas.openxmlformats.org/drawingml/2006/table">
            <a:tbl>
              <a:tblPr>
                <a:tableStyleId>{5C22544A-7EE6-4342-B048-85BDC9FD1C3A}</a:tableStyleId>
              </a:tblPr>
              <a:tblGrid>
                <a:gridCol w="3783235">
                  <a:extLst>
                    <a:ext uri="{9D8B030D-6E8A-4147-A177-3AD203B41FA5}">
                      <a16:colId xmlns:a16="http://schemas.microsoft.com/office/drawing/2014/main" val="1275003317"/>
                    </a:ext>
                  </a:extLst>
                </a:gridCol>
                <a:gridCol w="2110937">
                  <a:extLst>
                    <a:ext uri="{9D8B030D-6E8A-4147-A177-3AD203B41FA5}">
                      <a16:colId xmlns:a16="http://schemas.microsoft.com/office/drawing/2014/main" val="352288212"/>
                    </a:ext>
                  </a:extLst>
                </a:gridCol>
              </a:tblGrid>
              <a:tr h="190500">
                <a:tc>
                  <a:txBody>
                    <a:bodyPr/>
                    <a:lstStyle/>
                    <a:p>
                      <a:pPr algn="l" fontAlgn="b"/>
                      <a:r>
                        <a:rPr lang="es-PE" sz="2000" u="none" strike="noStrike" dirty="0">
                          <a:effectLst/>
                        </a:rPr>
                        <a:t>Ingresos</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60000"/>
                        <a:lumOff val="4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142280707"/>
                  </a:ext>
                </a:extLst>
              </a:tr>
              <a:tr h="333375">
                <a:tc>
                  <a:txBody>
                    <a:bodyPr/>
                    <a:lstStyle/>
                    <a:p>
                      <a:pPr algn="r" fontAlgn="b"/>
                      <a:r>
                        <a:rPr lang="es-PE" sz="4000" u="none" strike="noStrike" dirty="0">
                          <a:effectLst/>
                        </a:rPr>
                        <a:t> -</a:t>
                      </a:r>
                      <a:endParaRPr lang="es-PE" sz="4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u="none" strike="noStrike" dirty="0">
                          <a:effectLst/>
                        </a:rPr>
                        <a:t>Costos</a:t>
                      </a:r>
                      <a:endParaRPr lang="es-PE" sz="2000" b="0" i="0" u="none" strike="noStrike" dirty="0">
                        <a:solidFill>
                          <a:srgbClr val="000000"/>
                        </a:solidFill>
                        <a:effectLst/>
                        <a:latin typeface="Calibri" panose="020F0502020204030204" pitchFamily="34" charset="0"/>
                      </a:endParaRPr>
                    </a:p>
                  </a:txBody>
                  <a:tcPr marL="9525" marR="9525" marT="9525" marB="0" anchor="ctr">
                    <a:solidFill>
                      <a:srgbClr val="FF7C80"/>
                    </a:solidFill>
                  </a:tcPr>
                </a:tc>
                <a:extLst>
                  <a:ext uri="{0D108BD9-81ED-4DB2-BD59-A6C34878D82A}">
                    <a16:rowId xmlns:a16="http://schemas.microsoft.com/office/drawing/2014/main" val="2024114552"/>
                  </a:ext>
                </a:extLst>
              </a:tr>
              <a:tr h="190500">
                <a:tc>
                  <a:txBody>
                    <a:bodyPr/>
                    <a:lstStyle/>
                    <a:p>
                      <a:pPr algn="l" fontAlgn="b"/>
                      <a:r>
                        <a:rPr lang="es-PE" sz="2000" u="none" strike="noStrike" kern="1200" dirty="0">
                          <a:solidFill>
                            <a:schemeClr val="dk1"/>
                          </a:solidFill>
                          <a:effectLst/>
                          <a:latin typeface="+mn-lt"/>
                          <a:ea typeface="+mn-ea"/>
                          <a:cs typeface="+mn-cs"/>
                        </a:rPr>
                        <a:t>Utilidad</a:t>
                      </a:r>
                      <a:r>
                        <a:rPr lang="es-PE" sz="2000" u="none" strike="noStrike" dirty="0">
                          <a:effectLst/>
                        </a:rPr>
                        <a:t> bruta</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60000"/>
                        <a:lumOff val="4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3975519849"/>
                  </a:ext>
                </a:extLst>
              </a:tr>
              <a:tr h="333375">
                <a:tc>
                  <a:txBody>
                    <a:bodyPr/>
                    <a:lstStyle/>
                    <a:p>
                      <a:pPr algn="r" fontAlgn="b"/>
                      <a:r>
                        <a:rPr lang="es-PE" sz="4000" u="none" strike="noStrike" dirty="0">
                          <a:effectLst/>
                        </a:rPr>
                        <a:t> -</a:t>
                      </a:r>
                      <a:endParaRPr lang="es-PE" sz="4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marL="0" algn="ctr" defTabSz="914400" rtl="0" eaLnBrk="1" fontAlgn="b" latinLnBrk="0" hangingPunct="1"/>
                      <a:r>
                        <a:rPr lang="es-PE" sz="2000" u="none" strike="noStrike" kern="1200" dirty="0">
                          <a:solidFill>
                            <a:schemeClr val="dk1"/>
                          </a:solidFill>
                          <a:effectLst/>
                          <a:latin typeface="+mn-lt"/>
                          <a:ea typeface="+mn-ea"/>
                          <a:cs typeface="+mn-cs"/>
                        </a:rPr>
                        <a:t>Gastos</a:t>
                      </a:r>
                    </a:p>
                  </a:txBody>
                  <a:tcPr marL="9525" marR="9525" marT="9525" marB="0" anchor="ctr">
                    <a:solidFill>
                      <a:srgbClr val="FF7C80"/>
                    </a:solidFill>
                  </a:tcPr>
                </a:tc>
                <a:extLst>
                  <a:ext uri="{0D108BD9-81ED-4DB2-BD59-A6C34878D82A}">
                    <a16:rowId xmlns:a16="http://schemas.microsoft.com/office/drawing/2014/main" val="2828017806"/>
                  </a:ext>
                </a:extLst>
              </a:tr>
              <a:tr h="190500">
                <a:tc>
                  <a:txBody>
                    <a:bodyPr/>
                    <a:lstStyle/>
                    <a:p>
                      <a:pPr algn="l" fontAlgn="b"/>
                      <a:r>
                        <a:rPr lang="es-PE" sz="2000" u="none" strike="noStrike" dirty="0">
                          <a:effectLst/>
                        </a:rPr>
                        <a:t>EBITDA</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60000"/>
                        <a:lumOff val="4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525" marR="9525" marT="9525" marB="0" anchor="ctr">
                    <a:solidFill>
                      <a:schemeClr val="bg1"/>
                    </a:solidFill>
                  </a:tcPr>
                </a:tc>
                <a:extLst>
                  <a:ext uri="{0D108BD9-81ED-4DB2-BD59-A6C34878D82A}">
                    <a16:rowId xmlns:a16="http://schemas.microsoft.com/office/drawing/2014/main" val="4123290891"/>
                  </a:ext>
                </a:extLst>
              </a:tr>
              <a:tr h="333375">
                <a:tc>
                  <a:txBody>
                    <a:bodyPr/>
                    <a:lstStyle/>
                    <a:p>
                      <a:pPr algn="r" fontAlgn="b"/>
                      <a:r>
                        <a:rPr lang="es-PE" sz="4000" u="none" strike="noStrike" dirty="0">
                          <a:effectLst/>
                        </a:rPr>
                        <a:t> -</a:t>
                      </a:r>
                      <a:endParaRPr lang="es-PE" sz="4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u="none" strike="noStrike" dirty="0" smtClean="0">
                          <a:effectLst/>
                        </a:rPr>
                        <a:t>Depreciación</a:t>
                      </a:r>
                      <a:endParaRPr lang="es-PE" sz="2000" b="0" i="0" u="none" strike="noStrike" dirty="0">
                        <a:solidFill>
                          <a:srgbClr val="000000"/>
                        </a:solidFill>
                        <a:effectLst/>
                        <a:latin typeface="Calibri" panose="020F0502020204030204" pitchFamily="34" charset="0"/>
                      </a:endParaRPr>
                    </a:p>
                  </a:txBody>
                  <a:tcPr marL="9525" marR="9525" marT="9525" marB="0" anchor="ctr">
                    <a:solidFill>
                      <a:srgbClr val="FF7C80"/>
                    </a:solidFill>
                  </a:tcPr>
                </a:tc>
                <a:extLst>
                  <a:ext uri="{0D108BD9-81ED-4DB2-BD59-A6C34878D82A}">
                    <a16:rowId xmlns:a16="http://schemas.microsoft.com/office/drawing/2014/main" val="3833013142"/>
                  </a:ext>
                </a:extLst>
              </a:tr>
              <a:tr h="190500">
                <a:tc>
                  <a:txBody>
                    <a:bodyPr/>
                    <a:lstStyle/>
                    <a:p>
                      <a:pPr algn="l" fontAlgn="b"/>
                      <a:r>
                        <a:rPr lang="es-PE" sz="2000" u="none" strike="noStrike" dirty="0">
                          <a:effectLst/>
                        </a:rPr>
                        <a:t>Utilidad operativa (UAII)</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60000"/>
                        <a:lumOff val="4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525" marR="9525" marT="9525" marB="0" anchor="ctr">
                    <a:solidFill>
                      <a:schemeClr val="bg1"/>
                    </a:solidFill>
                  </a:tcPr>
                </a:tc>
                <a:extLst>
                  <a:ext uri="{0D108BD9-81ED-4DB2-BD59-A6C34878D82A}">
                    <a16:rowId xmlns:a16="http://schemas.microsoft.com/office/drawing/2014/main" val="3582030092"/>
                  </a:ext>
                </a:extLst>
              </a:tr>
              <a:tr h="333375">
                <a:tc>
                  <a:txBody>
                    <a:bodyPr/>
                    <a:lstStyle/>
                    <a:p>
                      <a:pPr algn="r" fontAlgn="b"/>
                      <a:r>
                        <a:rPr lang="es-PE" sz="4000" u="none" strike="noStrike" dirty="0">
                          <a:effectLst/>
                        </a:rPr>
                        <a:t> -</a:t>
                      </a:r>
                      <a:endParaRPr lang="es-PE" sz="4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u="none" strike="noStrike" dirty="0">
                          <a:effectLst/>
                        </a:rPr>
                        <a:t>Intereses</a:t>
                      </a:r>
                      <a:endParaRPr lang="es-PE" sz="2000" b="0" i="0" u="none" strike="noStrike" dirty="0">
                        <a:solidFill>
                          <a:srgbClr val="000000"/>
                        </a:solidFill>
                        <a:effectLst/>
                        <a:latin typeface="Calibri" panose="020F0502020204030204" pitchFamily="34" charset="0"/>
                      </a:endParaRPr>
                    </a:p>
                  </a:txBody>
                  <a:tcPr marL="9525" marR="9525" marT="9525" marB="0" anchor="ctr">
                    <a:solidFill>
                      <a:srgbClr val="FF7C80"/>
                    </a:solidFill>
                  </a:tcPr>
                </a:tc>
                <a:extLst>
                  <a:ext uri="{0D108BD9-81ED-4DB2-BD59-A6C34878D82A}">
                    <a16:rowId xmlns:a16="http://schemas.microsoft.com/office/drawing/2014/main" val="1008690588"/>
                  </a:ext>
                </a:extLst>
              </a:tr>
              <a:tr h="190500">
                <a:tc>
                  <a:txBody>
                    <a:bodyPr/>
                    <a:lstStyle/>
                    <a:p>
                      <a:pPr algn="l" fontAlgn="b"/>
                      <a:r>
                        <a:rPr lang="es-PE" sz="2000" u="none" strike="noStrike" dirty="0">
                          <a:effectLst/>
                        </a:rPr>
                        <a:t>Utilidad antes de </a:t>
                      </a:r>
                      <a:r>
                        <a:rPr lang="es-PE" sz="2000" u="none" strike="noStrike" dirty="0" smtClean="0">
                          <a:effectLst/>
                        </a:rPr>
                        <a:t>impuestos (UAI)</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60000"/>
                        <a:lumOff val="4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525" marR="9525" marT="9525" marB="0" anchor="ctr">
                    <a:solidFill>
                      <a:schemeClr val="bg1"/>
                    </a:solidFill>
                  </a:tcPr>
                </a:tc>
                <a:extLst>
                  <a:ext uri="{0D108BD9-81ED-4DB2-BD59-A6C34878D82A}">
                    <a16:rowId xmlns:a16="http://schemas.microsoft.com/office/drawing/2014/main" val="586138563"/>
                  </a:ext>
                </a:extLst>
              </a:tr>
              <a:tr h="333375">
                <a:tc>
                  <a:txBody>
                    <a:bodyPr/>
                    <a:lstStyle/>
                    <a:p>
                      <a:pPr algn="r" fontAlgn="b"/>
                      <a:r>
                        <a:rPr lang="es-PE" sz="4000" u="none" strike="noStrike" dirty="0">
                          <a:effectLst/>
                        </a:rPr>
                        <a:t> -</a:t>
                      </a:r>
                      <a:endParaRPr lang="es-PE" sz="4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u="none" strike="noStrike" dirty="0">
                          <a:effectLst/>
                        </a:rPr>
                        <a:t>Impuestos</a:t>
                      </a:r>
                      <a:endParaRPr lang="es-PE" sz="2000" b="0" i="0" u="none" strike="noStrike" dirty="0">
                        <a:solidFill>
                          <a:srgbClr val="000000"/>
                        </a:solidFill>
                        <a:effectLst/>
                        <a:latin typeface="Calibri" panose="020F0502020204030204" pitchFamily="34" charset="0"/>
                      </a:endParaRPr>
                    </a:p>
                  </a:txBody>
                  <a:tcPr marL="9525" marR="9525" marT="9525" marB="0" anchor="ctr">
                    <a:solidFill>
                      <a:srgbClr val="FF7C80"/>
                    </a:solidFill>
                  </a:tcPr>
                </a:tc>
                <a:extLst>
                  <a:ext uri="{0D108BD9-81ED-4DB2-BD59-A6C34878D82A}">
                    <a16:rowId xmlns:a16="http://schemas.microsoft.com/office/drawing/2014/main" val="481193192"/>
                  </a:ext>
                </a:extLst>
              </a:tr>
              <a:tr h="190500">
                <a:tc>
                  <a:txBody>
                    <a:bodyPr/>
                    <a:lstStyle/>
                    <a:p>
                      <a:pPr algn="l" fontAlgn="b"/>
                      <a:r>
                        <a:rPr lang="es-PE" sz="2000" u="none" strike="noStrike" dirty="0">
                          <a:effectLst/>
                        </a:rPr>
                        <a:t>Utilidad Neta (UN)</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60000"/>
                        <a:lumOff val="4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525" marR="9525" marT="9525" marB="0" anchor="ctr">
                    <a:solidFill>
                      <a:schemeClr val="bg1"/>
                    </a:solidFill>
                  </a:tcPr>
                </a:tc>
                <a:extLst>
                  <a:ext uri="{0D108BD9-81ED-4DB2-BD59-A6C34878D82A}">
                    <a16:rowId xmlns:a16="http://schemas.microsoft.com/office/drawing/2014/main" val="2583211944"/>
                  </a:ext>
                </a:extLst>
              </a:tr>
              <a:tr h="333375">
                <a:tc>
                  <a:txBody>
                    <a:bodyPr/>
                    <a:lstStyle/>
                    <a:p>
                      <a:pPr algn="r" fontAlgn="b"/>
                      <a:r>
                        <a:rPr lang="es-PE" sz="4000" u="none" strike="noStrike" dirty="0">
                          <a:effectLst/>
                        </a:rPr>
                        <a:t> +</a:t>
                      </a:r>
                      <a:endParaRPr lang="es-PE" sz="4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u="none" strike="noStrike" dirty="0" smtClean="0">
                          <a:effectLst/>
                        </a:rPr>
                        <a:t>Depreciación</a:t>
                      </a:r>
                      <a:endParaRPr lang="es-PE" sz="2000" b="0" i="0" u="none" strike="noStrike" dirty="0">
                        <a:solidFill>
                          <a:srgbClr val="000000"/>
                        </a:solidFill>
                        <a:effectLst/>
                        <a:latin typeface="Calibri" panose="020F0502020204030204" pitchFamily="34" charset="0"/>
                      </a:endParaRPr>
                    </a:p>
                  </a:txBody>
                  <a:tcPr marL="9525" marR="9525" marT="9525" marB="0" anchor="ctr">
                    <a:solidFill>
                      <a:srgbClr val="FF7C80"/>
                    </a:solidFill>
                  </a:tcPr>
                </a:tc>
                <a:extLst>
                  <a:ext uri="{0D108BD9-81ED-4DB2-BD59-A6C34878D82A}">
                    <a16:rowId xmlns:a16="http://schemas.microsoft.com/office/drawing/2014/main" val="1556346033"/>
                  </a:ext>
                </a:extLst>
              </a:tr>
              <a:tr h="190500">
                <a:tc>
                  <a:txBody>
                    <a:bodyPr/>
                    <a:lstStyle/>
                    <a:p>
                      <a:pPr algn="l" fontAlgn="b"/>
                      <a:r>
                        <a:rPr lang="es-PE" sz="2000" u="none" strike="noStrike" dirty="0">
                          <a:effectLst/>
                        </a:rPr>
                        <a:t>Flujo de caja libre (FCL)</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92D050"/>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525" marR="9525" marT="9525" marB="0" anchor="ctr">
                    <a:solidFill>
                      <a:schemeClr val="bg1"/>
                    </a:solidFill>
                  </a:tcPr>
                </a:tc>
                <a:extLst>
                  <a:ext uri="{0D108BD9-81ED-4DB2-BD59-A6C34878D82A}">
                    <a16:rowId xmlns:a16="http://schemas.microsoft.com/office/drawing/2014/main" val="617774876"/>
                  </a:ext>
                </a:extLst>
              </a:tr>
            </a:tbl>
          </a:graphicData>
        </a:graphic>
      </p:graphicFrame>
      <p:sp>
        <p:nvSpPr>
          <p:cNvPr id="5" name="Rectángulo 4"/>
          <p:cNvSpPr/>
          <p:nvPr/>
        </p:nvSpPr>
        <p:spPr>
          <a:xfrm>
            <a:off x="5842247" y="2787134"/>
            <a:ext cx="6144246" cy="369332"/>
          </a:xfrm>
          <a:prstGeom prst="rect">
            <a:avLst/>
          </a:prstGeom>
        </p:spPr>
        <p:txBody>
          <a:bodyPr wrap="none">
            <a:spAutoFit/>
          </a:bodyPr>
          <a:lstStyle/>
          <a:p>
            <a:r>
              <a:rPr lang="en-US" dirty="0">
                <a:solidFill>
                  <a:srgbClr val="545454"/>
                </a:solidFill>
              </a:rPr>
              <a:t>Earnings Before Interest, Taxes, Depreciation, and Amortization </a:t>
            </a:r>
            <a:endParaRPr lang="es-PE" dirty="0"/>
          </a:p>
        </p:txBody>
      </p:sp>
    </p:spTree>
    <p:extLst>
      <p:ext uri="{BB962C8B-B14F-4D97-AF65-F5344CB8AC3E}">
        <p14:creationId xmlns:p14="http://schemas.microsoft.com/office/powerpoint/2010/main" val="397418597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Modelo de flujo</a:t>
            </a:r>
            <a:endParaRPr lang="es-PE" dirty="0"/>
          </a:p>
        </p:txBody>
      </p:sp>
      <p:cxnSp>
        <p:nvCxnSpPr>
          <p:cNvPr id="5" name="Conector recto 4"/>
          <p:cNvCxnSpPr/>
          <p:nvPr/>
        </p:nvCxnSpPr>
        <p:spPr>
          <a:xfrm>
            <a:off x="1050324" y="5412259"/>
            <a:ext cx="9860692" cy="0"/>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7" name="Conector recto de flecha 6"/>
          <p:cNvCxnSpPr/>
          <p:nvPr/>
        </p:nvCxnSpPr>
        <p:spPr>
          <a:xfrm flipH="1" flipV="1">
            <a:off x="1075446" y="2726894"/>
            <a:ext cx="32954" cy="2634827"/>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p:cNvCxnSpPr/>
          <p:nvPr/>
        </p:nvCxnSpPr>
        <p:spPr>
          <a:xfrm flipH="1">
            <a:off x="1978761" y="4409735"/>
            <a:ext cx="12357" cy="91440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9" name="Conector recto de flecha 8"/>
          <p:cNvCxnSpPr/>
          <p:nvPr/>
        </p:nvCxnSpPr>
        <p:spPr>
          <a:xfrm flipH="1">
            <a:off x="2895708" y="4447321"/>
            <a:ext cx="12357" cy="91440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p:cNvCxnSpPr/>
          <p:nvPr/>
        </p:nvCxnSpPr>
        <p:spPr>
          <a:xfrm flipH="1">
            <a:off x="3844253" y="4447321"/>
            <a:ext cx="12357" cy="91440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p:cNvCxnSpPr/>
          <p:nvPr/>
        </p:nvCxnSpPr>
        <p:spPr>
          <a:xfrm flipH="1">
            <a:off x="4765535" y="4454773"/>
            <a:ext cx="12357" cy="91440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p:cNvCxnSpPr/>
          <p:nvPr/>
        </p:nvCxnSpPr>
        <p:spPr>
          <a:xfrm flipH="1">
            <a:off x="9951741" y="4411687"/>
            <a:ext cx="12357" cy="91440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12"/>
          <p:cNvCxnSpPr/>
          <p:nvPr/>
        </p:nvCxnSpPr>
        <p:spPr>
          <a:xfrm flipH="1">
            <a:off x="10898659" y="4411687"/>
            <a:ext cx="12357" cy="91440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4" name="CuadroTexto 13"/>
          <p:cNvSpPr txBox="1"/>
          <p:nvPr/>
        </p:nvSpPr>
        <p:spPr>
          <a:xfrm>
            <a:off x="957557" y="5530593"/>
            <a:ext cx="301686" cy="369332"/>
          </a:xfrm>
          <a:prstGeom prst="rect">
            <a:avLst/>
          </a:prstGeom>
          <a:noFill/>
        </p:spPr>
        <p:txBody>
          <a:bodyPr wrap="none" rtlCol="0">
            <a:spAutoFit/>
          </a:bodyPr>
          <a:lstStyle/>
          <a:p>
            <a:r>
              <a:rPr lang="es-PE" dirty="0" smtClean="0"/>
              <a:t>0</a:t>
            </a:r>
            <a:endParaRPr lang="es-PE" dirty="0"/>
          </a:p>
        </p:txBody>
      </p:sp>
      <p:sp>
        <p:nvSpPr>
          <p:cNvPr id="16" name="CuadroTexto 15"/>
          <p:cNvSpPr txBox="1"/>
          <p:nvPr/>
        </p:nvSpPr>
        <p:spPr>
          <a:xfrm>
            <a:off x="2744865" y="5498432"/>
            <a:ext cx="301686" cy="369332"/>
          </a:xfrm>
          <a:prstGeom prst="rect">
            <a:avLst/>
          </a:prstGeom>
          <a:noFill/>
        </p:spPr>
        <p:txBody>
          <a:bodyPr wrap="none" rtlCol="0">
            <a:spAutoFit/>
          </a:bodyPr>
          <a:lstStyle/>
          <a:p>
            <a:r>
              <a:rPr lang="es-PE" dirty="0" smtClean="0"/>
              <a:t>2</a:t>
            </a:r>
            <a:endParaRPr lang="es-PE" dirty="0"/>
          </a:p>
        </p:txBody>
      </p:sp>
      <p:sp>
        <p:nvSpPr>
          <p:cNvPr id="17" name="CuadroTexto 16"/>
          <p:cNvSpPr txBox="1"/>
          <p:nvPr/>
        </p:nvSpPr>
        <p:spPr>
          <a:xfrm>
            <a:off x="1795938" y="5499151"/>
            <a:ext cx="301686" cy="369332"/>
          </a:xfrm>
          <a:prstGeom prst="rect">
            <a:avLst/>
          </a:prstGeom>
          <a:noFill/>
        </p:spPr>
        <p:txBody>
          <a:bodyPr wrap="none" rtlCol="0">
            <a:spAutoFit/>
          </a:bodyPr>
          <a:lstStyle/>
          <a:p>
            <a:r>
              <a:rPr lang="es-PE" dirty="0" smtClean="0"/>
              <a:t>1</a:t>
            </a:r>
            <a:endParaRPr lang="es-PE" dirty="0"/>
          </a:p>
        </p:txBody>
      </p:sp>
      <p:sp>
        <p:nvSpPr>
          <p:cNvPr id="18" name="CuadroTexto 17"/>
          <p:cNvSpPr txBox="1"/>
          <p:nvPr/>
        </p:nvSpPr>
        <p:spPr>
          <a:xfrm>
            <a:off x="4614692" y="5553058"/>
            <a:ext cx="301686" cy="369332"/>
          </a:xfrm>
          <a:prstGeom prst="rect">
            <a:avLst/>
          </a:prstGeom>
          <a:noFill/>
        </p:spPr>
        <p:txBody>
          <a:bodyPr wrap="none" rtlCol="0">
            <a:spAutoFit/>
          </a:bodyPr>
          <a:lstStyle/>
          <a:p>
            <a:r>
              <a:rPr lang="es-PE" dirty="0" smtClean="0"/>
              <a:t>4</a:t>
            </a:r>
            <a:endParaRPr lang="es-PE" dirty="0"/>
          </a:p>
        </p:txBody>
      </p:sp>
      <p:sp>
        <p:nvSpPr>
          <p:cNvPr id="19" name="CuadroTexto 18"/>
          <p:cNvSpPr txBox="1"/>
          <p:nvPr/>
        </p:nvSpPr>
        <p:spPr>
          <a:xfrm>
            <a:off x="3693410" y="5522754"/>
            <a:ext cx="301686" cy="369332"/>
          </a:xfrm>
          <a:prstGeom prst="rect">
            <a:avLst/>
          </a:prstGeom>
          <a:noFill/>
        </p:spPr>
        <p:txBody>
          <a:bodyPr wrap="none" rtlCol="0">
            <a:spAutoFit/>
          </a:bodyPr>
          <a:lstStyle/>
          <a:p>
            <a:r>
              <a:rPr lang="es-PE" dirty="0" smtClean="0"/>
              <a:t>3</a:t>
            </a:r>
            <a:endParaRPr lang="es-PE" dirty="0"/>
          </a:p>
        </p:txBody>
      </p:sp>
      <p:sp>
        <p:nvSpPr>
          <p:cNvPr id="20" name="CuadroTexto 19"/>
          <p:cNvSpPr txBox="1"/>
          <p:nvPr/>
        </p:nvSpPr>
        <p:spPr>
          <a:xfrm>
            <a:off x="1795938" y="3868054"/>
            <a:ext cx="479362" cy="369332"/>
          </a:xfrm>
          <a:prstGeom prst="rect">
            <a:avLst/>
          </a:prstGeom>
          <a:noFill/>
        </p:spPr>
        <p:txBody>
          <a:bodyPr wrap="none" rtlCol="0">
            <a:spAutoFit/>
          </a:bodyPr>
          <a:lstStyle/>
          <a:p>
            <a:r>
              <a:rPr lang="es-PE" dirty="0" smtClean="0"/>
              <a:t>fcl</a:t>
            </a:r>
            <a:r>
              <a:rPr lang="es-PE" baseline="-25000" dirty="0" smtClean="0"/>
              <a:t>1</a:t>
            </a:r>
            <a:endParaRPr lang="es-PE" baseline="-25000" dirty="0"/>
          </a:p>
        </p:txBody>
      </p:sp>
      <p:sp>
        <p:nvSpPr>
          <p:cNvPr id="22" name="CuadroTexto 21"/>
          <p:cNvSpPr txBox="1"/>
          <p:nvPr/>
        </p:nvSpPr>
        <p:spPr>
          <a:xfrm>
            <a:off x="9717075" y="5575351"/>
            <a:ext cx="494046" cy="369332"/>
          </a:xfrm>
          <a:prstGeom prst="rect">
            <a:avLst/>
          </a:prstGeom>
          <a:noFill/>
        </p:spPr>
        <p:txBody>
          <a:bodyPr wrap="none" rtlCol="0">
            <a:spAutoFit/>
          </a:bodyPr>
          <a:lstStyle/>
          <a:p>
            <a:r>
              <a:rPr lang="es-PE" dirty="0" smtClean="0"/>
              <a:t>n-1</a:t>
            </a:r>
            <a:endParaRPr lang="es-PE" dirty="0"/>
          </a:p>
        </p:txBody>
      </p:sp>
      <p:sp>
        <p:nvSpPr>
          <p:cNvPr id="23" name="CuadroTexto 22"/>
          <p:cNvSpPr txBox="1"/>
          <p:nvPr/>
        </p:nvSpPr>
        <p:spPr>
          <a:xfrm>
            <a:off x="10747816" y="5499151"/>
            <a:ext cx="306494" cy="369332"/>
          </a:xfrm>
          <a:prstGeom prst="rect">
            <a:avLst/>
          </a:prstGeom>
          <a:noFill/>
        </p:spPr>
        <p:txBody>
          <a:bodyPr wrap="none" rtlCol="0">
            <a:spAutoFit/>
          </a:bodyPr>
          <a:lstStyle/>
          <a:p>
            <a:r>
              <a:rPr lang="es-PE" dirty="0" smtClean="0"/>
              <a:t>n</a:t>
            </a:r>
            <a:endParaRPr lang="es-PE" dirty="0"/>
          </a:p>
        </p:txBody>
      </p:sp>
      <p:sp>
        <p:nvSpPr>
          <p:cNvPr id="24" name="CuadroTexto 23"/>
          <p:cNvSpPr txBox="1"/>
          <p:nvPr/>
        </p:nvSpPr>
        <p:spPr>
          <a:xfrm>
            <a:off x="2771254" y="3914898"/>
            <a:ext cx="479362" cy="369332"/>
          </a:xfrm>
          <a:prstGeom prst="rect">
            <a:avLst/>
          </a:prstGeom>
          <a:noFill/>
        </p:spPr>
        <p:txBody>
          <a:bodyPr wrap="none" rtlCol="0">
            <a:spAutoFit/>
          </a:bodyPr>
          <a:lstStyle/>
          <a:p>
            <a:r>
              <a:rPr lang="es-PE" dirty="0" smtClean="0"/>
              <a:t>fcl</a:t>
            </a:r>
            <a:r>
              <a:rPr lang="es-PE" baseline="-25000" dirty="0" smtClean="0"/>
              <a:t>2</a:t>
            </a:r>
            <a:endParaRPr lang="es-PE" baseline="-25000" dirty="0"/>
          </a:p>
        </p:txBody>
      </p:sp>
      <p:sp>
        <p:nvSpPr>
          <p:cNvPr id="25" name="CuadroTexto 24"/>
          <p:cNvSpPr txBox="1"/>
          <p:nvPr/>
        </p:nvSpPr>
        <p:spPr>
          <a:xfrm>
            <a:off x="3676747" y="3868054"/>
            <a:ext cx="479362" cy="369332"/>
          </a:xfrm>
          <a:prstGeom prst="rect">
            <a:avLst/>
          </a:prstGeom>
          <a:noFill/>
        </p:spPr>
        <p:txBody>
          <a:bodyPr wrap="none" rtlCol="0">
            <a:spAutoFit/>
          </a:bodyPr>
          <a:lstStyle/>
          <a:p>
            <a:r>
              <a:rPr lang="es-PE" dirty="0" smtClean="0"/>
              <a:t>fcl</a:t>
            </a:r>
            <a:r>
              <a:rPr lang="es-PE" baseline="-25000" dirty="0" smtClean="0"/>
              <a:t>3</a:t>
            </a:r>
            <a:endParaRPr lang="es-PE" baseline="-25000" dirty="0"/>
          </a:p>
        </p:txBody>
      </p:sp>
      <p:sp>
        <p:nvSpPr>
          <p:cNvPr id="26" name="CuadroTexto 25"/>
          <p:cNvSpPr txBox="1"/>
          <p:nvPr/>
        </p:nvSpPr>
        <p:spPr>
          <a:xfrm>
            <a:off x="4582240" y="3873371"/>
            <a:ext cx="479362" cy="369332"/>
          </a:xfrm>
          <a:prstGeom prst="rect">
            <a:avLst/>
          </a:prstGeom>
          <a:noFill/>
        </p:spPr>
        <p:txBody>
          <a:bodyPr wrap="none" rtlCol="0">
            <a:spAutoFit/>
          </a:bodyPr>
          <a:lstStyle/>
          <a:p>
            <a:r>
              <a:rPr lang="es-PE" dirty="0" smtClean="0"/>
              <a:t>fcl</a:t>
            </a:r>
            <a:r>
              <a:rPr lang="es-PE" baseline="-25000" dirty="0" smtClean="0"/>
              <a:t>4</a:t>
            </a:r>
            <a:endParaRPr lang="es-PE" baseline="-25000" dirty="0"/>
          </a:p>
        </p:txBody>
      </p:sp>
      <p:sp>
        <p:nvSpPr>
          <p:cNvPr id="27" name="CuadroTexto 26"/>
          <p:cNvSpPr txBox="1"/>
          <p:nvPr/>
        </p:nvSpPr>
        <p:spPr>
          <a:xfrm>
            <a:off x="9784868" y="3871332"/>
            <a:ext cx="606000" cy="369332"/>
          </a:xfrm>
          <a:prstGeom prst="rect">
            <a:avLst/>
          </a:prstGeom>
          <a:noFill/>
        </p:spPr>
        <p:txBody>
          <a:bodyPr wrap="none" rtlCol="0">
            <a:spAutoFit/>
          </a:bodyPr>
          <a:lstStyle/>
          <a:p>
            <a:r>
              <a:rPr lang="es-PE" dirty="0" smtClean="0"/>
              <a:t>fcl</a:t>
            </a:r>
            <a:r>
              <a:rPr lang="es-PE" baseline="-25000" dirty="0" smtClean="0"/>
              <a:t>n-1</a:t>
            </a:r>
            <a:endParaRPr lang="es-PE" baseline="-25000" dirty="0"/>
          </a:p>
        </p:txBody>
      </p:sp>
      <p:sp>
        <p:nvSpPr>
          <p:cNvPr id="28" name="CuadroTexto 27"/>
          <p:cNvSpPr txBox="1"/>
          <p:nvPr/>
        </p:nvSpPr>
        <p:spPr>
          <a:xfrm>
            <a:off x="10720172" y="3940012"/>
            <a:ext cx="480966" cy="369332"/>
          </a:xfrm>
          <a:prstGeom prst="rect">
            <a:avLst/>
          </a:prstGeom>
          <a:noFill/>
        </p:spPr>
        <p:txBody>
          <a:bodyPr wrap="none" rtlCol="0">
            <a:spAutoFit/>
          </a:bodyPr>
          <a:lstStyle/>
          <a:p>
            <a:r>
              <a:rPr lang="es-PE" dirty="0" err="1" smtClean="0"/>
              <a:t>fcl</a:t>
            </a:r>
            <a:r>
              <a:rPr lang="es-PE" baseline="-25000" dirty="0" err="1" smtClean="0"/>
              <a:t>n</a:t>
            </a:r>
            <a:endParaRPr lang="es-PE" baseline="-25000" dirty="0"/>
          </a:p>
        </p:txBody>
      </p:sp>
      <p:sp>
        <p:nvSpPr>
          <p:cNvPr id="3" name="CuadroTexto 2"/>
          <p:cNvSpPr txBox="1"/>
          <p:nvPr/>
        </p:nvSpPr>
        <p:spPr>
          <a:xfrm>
            <a:off x="1259243" y="2835564"/>
            <a:ext cx="242374" cy="369332"/>
          </a:xfrm>
          <a:prstGeom prst="rect">
            <a:avLst/>
          </a:prstGeom>
          <a:noFill/>
        </p:spPr>
        <p:txBody>
          <a:bodyPr wrap="none" rtlCol="0">
            <a:spAutoFit/>
          </a:bodyPr>
          <a:lstStyle/>
          <a:p>
            <a:r>
              <a:rPr lang="es-PE" dirty="0" smtClean="0"/>
              <a:t>I</a:t>
            </a:r>
            <a:endParaRPr lang="es-PE" dirty="0"/>
          </a:p>
        </p:txBody>
      </p:sp>
    </p:spTree>
    <p:extLst>
      <p:ext uri="{BB962C8B-B14F-4D97-AF65-F5344CB8AC3E}">
        <p14:creationId xmlns:p14="http://schemas.microsoft.com/office/powerpoint/2010/main" val="2263761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El reto del futuro</a:t>
            </a:r>
            <a:endParaRPr lang="es-PE" dirty="0"/>
          </a:p>
        </p:txBody>
      </p:sp>
      <p:sp>
        <p:nvSpPr>
          <p:cNvPr id="3" name="Marcador de contenido 2"/>
          <p:cNvSpPr>
            <a:spLocks noGrp="1"/>
          </p:cNvSpPr>
          <p:nvPr>
            <p:ph idx="1"/>
          </p:nvPr>
        </p:nvSpPr>
        <p:spPr>
          <a:xfrm>
            <a:off x="838200" y="1825625"/>
            <a:ext cx="10515600" cy="2454276"/>
          </a:xfrm>
        </p:spPr>
        <p:txBody>
          <a:bodyPr/>
          <a:lstStyle/>
          <a:p>
            <a:pPr marL="0" indent="0">
              <a:buNone/>
            </a:pPr>
            <a:r>
              <a:rPr lang="es-PE" dirty="0" smtClean="0"/>
              <a:t>Un amigo le dice al otro, sobre sus planes para el futuro:</a:t>
            </a:r>
          </a:p>
          <a:p>
            <a:pPr marL="0" indent="0">
              <a:buNone/>
            </a:pPr>
            <a:r>
              <a:rPr lang="es-PE" dirty="0" smtClean="0"/>
              <a:t>Estoy agotando mis alternativas, y ahora ya estoy preocupado, porque a mi madre no le gusta ninguna de las chicas que le he presentado.</a:t>
            </a:r>
          </a:p>
          <a:p>
            <a:pPr marL="0" indent="0">
              <a:buNone/>
            </a:pPr>
            <a:r>
              <a:rPr lang="es-PE" dirty="0" smtClean="0"/>
              <a:t>Pues entonces, busca una chica como tu madre y preséntasela.</a:t>
            </a:r>
          </a:p>
          <a:p>
            <a:pPr marL="0" indent="0">
              <a:buNone/>
            </a:pPr>
            <a:r>
              <a:rPr lang="es-PE" dirty="0" smtClean="0"/>
              <a:t>!Ya lo hice!</a:t>
            </a:r>
            <a:endParaRPr lang="es-PE" dirty="0"/>
          </a:p>
        </p:txBody>
      </p:sp>
      <p:sp>
        <p:nvSpPr>
          <p:cNvPr id="5" name="Marcador de contenido 2"/>
          <p:cNvSpPr txBox="1">
            <a:spLocks/>
          </p:cNvSpPr>
          <p:nvPr/>
        </p:nvSpPr>
        <p:spPr>
          <a:xfrm>
            <a:off x="950495" y="5350208"/>
            <a:ext cx="10515600" cy="7939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PE" dirty="0" smtClean="0"/>
              <a:t>A quien no le gustó, ahora, es a mi padre.</a:t>
            </a:r>
            <a:endParaRPr lang="es-PE" dirty="0"/>
          </a:p>
        </p:txBody>
      </p:sp>
    </p:spTree>
    <p:extLst>
      <p:ext uri="{BB962C8B-B14F-4D97-AF65-F5344CB8AC3E}">
        <p14:creationId xmlns:p14="http://schemas.microsoft.com/office/powerpoint/2010/main" val="2898210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s-ES" altLang="es-PE" dirty="0" smtClean="0"/>
              <a:t>El reto de la formulación</a:t>
            </a:r>
          </a:p>
        </p:txBody>
      </p:sp>
      <p:sp>
        <p:nvSpPr>
          <p:cNvPr id="18435" name="Text Box 5"/>
          <p:cNvSpPr txBox="1">
            <a:spLocks noChangeArrowheads="1"/>
          </p:cNvSpPr>
          <p:nvPr/>
        </p:nvSpPr>
        <p:spPr bwMode="auto">
          <a:xfrm>
            <a:off x="4930776" y="1565276"/>
            <a:ext cx="2305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sz="2000" dirty="0" smtClean="0">
                <a:latin typeface="Tahoma" panose="020B0604030504040204" pitchFamily="34" charset="0"/>
              </a:rPr>
              <a:t>Eventos del futuro</a:t>
            </a:r>
            <a:endParaRPr lang="es-ES" altLang="es-PE" sz="2000" dirty="0">
              <a:latin typeface="Tahoma" panose="020B0604030504040204" pitchFamily="34" charset="0"/>
            </a:endParaRPr>
          </a:p>
        </p:txBody>
      </p:sp>
      <p:sp>
        <p:nvSpPr>
          <p:cNvPr id="18436" name="Text Box 6"/>
          <p:cNvSpPr txBox="1">
            <a:spLocks noChangeArrowheads="1"/>
          </p:cNvSpPr>
          <p:nvPr/>
        </p:nvSpPr>
        <p:spPr bwMode="auto">
          <a:xfrm>
            <a:off x="4548188" y="2350477"/>
            <a:ext cx="30241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ctr" eaLnBrk="1" hangingPunct="1">
              <a:spcBef>
                <a:spcPct val="50000"/>
              </a:spcBef>
            </a:pPr>
            <a:r>
              <a:rPr lang="es-ES" altLang="es-PE" sz="2000" dirty="0">
                <a:latin typeface="Tahoma" panose="020B0604030504040204" pitchFamily="34" charset="0"/>
              </a:rPr>
              <a:t>Eventos que no </a:t>
            </a:r>
            <a:r>
              <a:rPr lang="es-ES" altLang="es-PE" sz="2000" dirty="0" smtClean="0">
                <a:latin typeface="Tahoma" panose="020B0604030504040204" pitchFamily="34" charset="0"/>
              </a:rPr>
              <a:t>tienen pasado</a:t>
            </a:r>
            <a:endParaRPr lang="es-ES" altLang="es-PE" sz="2000" dirty="0">
              <a:latin typeface="Tahoma" panose="020B0604030504040204" pitchFamily="34" charset="0"/>
            </a:endParaRPr>
          </a:p>
        </p:txBody>
      </p:sp>
      <p:sp>
        <p:nvSpPr>
          <p:cNvPr id="18437" name="Text Box 7"/>
          <p:cNvSpPr txBox="1">
            <a:spLocks noChangeArrowheads="1"/>
          </p:cNvSpPr>
          <p:nvPr/>
        </p:nvSpPr>
        <p:spPr bwMode="auto">
          <a:xfrm>
            <a:off x="1776413" y="3921126"/>
            <a:ext cx="23749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sz="2000" dirty="0" smtClean="0">
                <a:latin typeface="Tahoma" panose="020B0604030504040204" pitchFamily="34" charset="0"/>
              </a:rPr>
              <a:t>Tecnologías emergentes</a:t>
            </a:r>
            <a:endParaRPr lang="es-ES" altLang="es-PE" sz="2000" dirty="0">
              <a:latin typeface="Tahoma" panose="020B0604030504040204" pitchFamily="34" charset="0"/>
            </a:endParaRPr>
          </a:p>
        </p:txBody>
      </p:sp>
      <p:sp>
        <p:nvSpPr>
          <p:cNvPr id="18438" name="Text Box 8"/>
          <p:cNvSpPr txBox="1">
            <a:spLocks noChangeArrowheads="1"/>
          </p:cNvSpPr>
          <p:nvPr/>
        </p:nvSpPr>
        <p:spPr bwMode="auto">
          <a:xfrm>
            <a:off x="3648077" y="3933826"/>
            <a:ext cx="259238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ctr" eaLnBrk="1" hangingPunct="1">
              <a:spcBef>
                <a:spcPct val="50000"/>
              </a:spcBef>
            </a:pPr>
            <a:r>
              <a:rPr lang="es-ES" altLang="es-PE" sz="2000" dirty="0" smtClean="0">
                <a:latin typeface="Tahoma" panose="020B0604030504040204" pitchFamily="34" charset="0"/>
              </a:rPr>
              <a:t>Competidores no tradicionales</a:t>
            </a:r>
            <a:endParaRPr lang="es-ES" altLang="es-PE" sz="2000" dirty="0">
              <a:latin typeface="Tahoma" panose="020B0604030504040204" pitchFamily="34" charset="0"/>
            </a:endParaRPr>
          </a:p>
        </p:txBody>
      </p:sp>
      <p:sp>
        <p:nvSpPr>
          <p:cNvPr id="18439" name="Text Box 9"/>
          <p:cNvSpPr txBox="1">
            <a:spLocks noChangeArrowheads="1"/>
          </p:cNvSpPr>
          <p:nvPr/>
        </p:nvSpPr>
        <p:spPr bwMode="auto">
          <a:xfrm>
            <a:off x="6743700" y="3933826"/>
            <a:ext cx="259238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sz="2000" dirty="0" smtClean="0">
                <a:latin typeface="Tahoma" panose="020B0604030504040204" pitchFamily="34" charset="0"/>
              </a:rPr>
              <a:t>Las políticas y políticos ya no son los de antes</a:t>
            </a:r>
            <a:endParaRPr lang="es-ES" altLang="es-PE" sz="2000" dirty="0">
              <a:latin typeface="Tahoma" panose="020B0604030504040204" pitchFamily="34" charset="0"/>
            </a:endParaRPr>
          </a:p>
        </p:txBody>
      </p:sp>
      <p:sp>
        <p:nvSpPr>
          <p:cNvPr id="18440" name="Text Box 10"/>
          <p:cNvSpPr txBox="1">
            <a:spLocks noChangeArrowheads="1"/>
          </p:cNvSpPr>
          <p:nvPr/>
        </p:nvSpPr>
        <p:spPr bwMode="auto">
          <a:xfrm>
            <a:off x="9336088" y="3933826"/>
            <a:ext cx="792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sz="2000" dirty="0">
                <a:latin typeface="Tahoma" panose="020B0604030504040204" pitchFamily="34" charset="0"/>
              </a:rPr>
              <a:t>Etc.</a:t>
            </a:r>
          </a:p>
        </p:txBody>
      </p:sp>
      <p:sp>
        <p:nvSpPr>
          <p:cNvPr id="18441" name="AutoShape 11"/>
          <p:cNvSpPr>
            <a:spLocks noChangeArrowheads="1"/>
          </p:cNvSpPr>
          <p:nvPr/>
        </p:nvSpPr>
        <p:spPr bwMode="auto">
          <a:xfrm>
            <a:off x="5880101" y="2060576"/>
            <a:ext cx="360363" cy="360363"/>
          </a:xfrm>
          <a:prstGeom prst="downArrow">
            <a:avLst>
              <a:gd name="adj1" fmla="val 50000"/>
              <a:gd name="adj2" fmla="val 25000"/>
            </a:avLst>
          </a:prstGeom>
          <a:solidFill>
            <a:schemeClr val="tx1"/>
          </a:solidFill>
          <a:ln w="9525">
            <a:solidFill>
              <a:schemeClr val="tx1"/>
            </a:solidFill>
            <a:miter lim="800000"/>
            <a:headEnd/>
            <a:tailEnd/>
          </a:ln>
        </p:spPr>
        <p:txBody>
          <a:bodyPr wrap="none" anchor="ct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MX" altLang="es-PE"/>
          </a:p>
        </p:txBody>
      </p:sp>
      <p:sp>
        <p:nvSpPr>
          <p:cNvPr id="18442" name="Line 12"/>
          <p:cNvSpPr>
            <a:spLocks noChangeShapeType="1"/>
          </p:cNvSpPr>
          <p:nvPr/>
        </p:nvSpPr>
        <p:spPr bwMode="auto">
          <a:xfrm flipH="1">
            <a:off x="3503614" y="2997200"/>
            <a:ext cx="1296987" cy="86360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18443" name="Line 13"/>
          <p:cNvSpPr>
            <a:spLocks noChangeShapeType="1"/>
          </p:cNvSpPr>
          <p:nvPr/>
        </p:nvSpPr>
        <p:spPr bwMode="auto">
          <a:xfrm flipH="1">
            <a:off x="5159376" y="3068638"/>
            <a:ext cx="504825" cy="792162"/>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18444" name="Line 14"/>
          <p:cNvSpPr>
            <a:spLocks noChangeShapeType="1"/>
          </p:cNvSpPr>
          <p:nvPr/>
        </p:nvSpPr>
        <p:spPr bwMode="auto">
          <a:xfrm>
            <a:off x="6527800" y="3068638"/>
            <a:ext cx="647700" cy="792162"/>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18445" name="Line 15"/>
          <p:cNvSpPr>
            <a:spLocks noChangeShapeType="1"/>
          </p:cNvSpPr>
          <p:nvPr/>
        </p:nvSpPr>
        <p:spPr bwMode="auto">
          <a:xfrm>
            <a:off x="7464426" y="3068638"/>
            <a:ext cx="1655763" cy="792162"/>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18446" name="Text Box 16"/>
          <p:cNvSpPr txBox="1">
            <a:spLocks noChangeArrowheads="1"/>
          </p:cNvSpPr>
          <p:nvPr/>
        </p:nvSpPr>
        <p:spPr bwMode="auto">
          <a:xfrm>
            <a:off x="3167064" y="5799139"/>
            <a:ext cx="5832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sz="2000" dirty="0">
                <a:latin typeface="Tahoma" panose="020B0604030504040204" pitchFamily="34" charset="0"/>
              </a:rPr>
              <a:t>Antecedentes históricos = </a:t>
            </a:r>
            <a:r>
              <a:rPr lang="es-ES" altLang="es-PE" sz="2000" dirty="0" smtClean="0">
                <a:latin typeface="Tahoma" panose="020B0604030504040204" pitchFamily="34" charset="0"/>
              </a:rPr>
              <a:t>¿La mejor referencia ?</a:t>
            </a:r>
            <a:endParaRPr lang="es-ES" altLang="es-PE" sz="2000" dirty="0">
              <a:latin typeface="Tahoma" panose="020B0604030504040204" pitchFamily="34" charset="0"/>
            </a:endParaRPr>
          </a:p>
        </p:txBody>
      </p:sp>
      <p:sp>
        <p:nvSpPr>
          <p:cNvPr id="18447" name="AutoShape 17"/>
          <p:cNvSpPr>
            <a:spLocks noChangeArrowheads="1"/>
          </p:cNvSpPr>
          <p:nvPr/>
        </p:nvSpPr>
        <p:spPr bwMode="auto">
          <a:xfrm>
            <a:off x="5737225" y="5446714"/>
            <a:ext cx="287338" cy="287337"/>
          </a:xfrm>
          <a:prstGeom prst="downArrow">
            <a:avLst>
              <a:gd name="adj1" fmla="val 50000"/>
              <a:gd name="adj2" fmla="val 25000"/>
            </a:avLst>
          </a:prstGeom>
          <a:solidFill>
            <a:schemeClr val="tx1"/>
          </a:solidFill>
          <a:ln w="9525">
            <a:solidFill>
              <a:schemeClr val="tx1"/>
            </a:solidFill>
            <a:miter lim="800000"/>
            <a:headEnd/>
            <a:tailEnd/>
          </a:ln>
        </p:spPr>
        <p:txBody>
          <a:bodyPr wrap="none" anchor="ct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MX" altLang="es-PE"/>
          </a:p>
        </p:txBody>
      </p:sp>
    </p:spTree>
    <p:extLst>
      <p:ext uri="{BB962C8B-B14F-4D97-AF65-F5344CB8AC3E}">
        <p14:creationId xmlns:p14="http://schemas.microsoft.com/office/powerpoint/2010/main" val="2348402606"/>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568750" y="280028"/>
            <a:ext cx="10515600" cy="1325563"/>
          </a:xfrm>
        </p:spPr>
        <p:txBody>
          <a:bodyPr/>
          <a:lstStyle/>
          <a:p>
            <a:pPr eaLnBrk="1" hangingPunct="1"/>
            <a:r>
              <a:rPr lang="es-ES" altLang="es-PE" smtClean="0"/>
              <a:t>METODOS DE PROYECCIÓN</a:t>
            </a:r>
          </a:p>
        </p:txBody>
      </p:sp>
      <p:sp>
        <p:nvSpPr>
          <p:cNvPr id="3" name="CuadroTexto 2"/>
          <p:cNvSpPr txBox="1"/>
          <p:nvPr/>
        </p:nvSpPr>
        <p:spPr>
          <a:xfrm>
            <a:off x="3561347" y="2514600"/>
            <a:ext cx="7643696" cy="1200329"/>
          </a:xfrm>
          <a:prstGeom prst="rect">
            <a:avLst/>
          </a:prstGeom>
          <a:noFill/>
        </p:spPr>
        <p:txBody>
          <a:bodyPr wrap="none" rtlCol="0">
            <a:spAutoFit/>
          </a:bodyPr>
          <a:lstStyle/>
          <a:p>
            <a:pPr marL="285750" indent="-285750">
              <a:buFont typeface="Arial" panose="020B0604020202020204" pitchFamily="34" charset="0"/>
              <a:buChar char="•"/>
            </a:pPr>
            <a:r>
              <a:rPr lang="es-PE" dirty="0" smtClean="0"/>
              <a:t>CUANTITATIVO. Cuando se dispone de información histórica y que la variable</a:t>
            </a:r>
          </a:p>
          <a:p>
            <a:r>
              <a:rPr lang="es-PE" dirty="0"/>
              <a:t> </a:t>
            </a:r>
            <a:r>
              <a:rPr lang="es-PE" dirty="0" smtClean="0"/>
              <a:t>                                 mantiene todavía dicha tendencia.</a:t>
            </a:r>
          </a:p>
          <a:p>
            <a:endParaRPr lang="es-PE" dirty="0" smtClean="0"/>
          </a:p>
          <a:p>
            <a:pPr marL="285750" indent="-285750">
              <a:buFont typeface="Arial" panose="020B0604020202020204" pitchFamily="34" charset="0"/>
              <a:buChar char="•"/>
            </a:pPr>
            <a:r>
              <a:rPr lang="es-PE" dirty="0" smtClean="0"/>
              <a:t>CUALITATIVO.     No se dispone de información histórica o cuantitativa</a:t>
            </a:r>
            <a:endParaRPr lang="es-PE" dirty="0"/>
          </a:p>
        </p:txBody>
      </p:sp>
    </p:spTree>
    <p:extLst>
      <p:ext uri="{BB962C8B-B14F-4D97-AF65-F5344CB8AC3E}">
        <p14:creationId xmlns:p14="http://schemas.microsoft.com/office/powerpoint/2010/main" val="3404854038"/>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s-ES" altLang="es-PE" smtClean="0"/>
              <a:t>METODOS DE PROYECCIÓN</a:t>
            </a:r>
          </a:p>
        </p:txBody>
      </p:sp>
      <p:sp>
        <p:nvSpPr>
          <p:cNvPr id="22531" name="Text Box 4"/>
          <p:cNvSpPr txBox="1">
            <a:spLocks noChangeArrowheads="1"/>
          </p:cNvSpPr>
          <p:nvPr/>
        </p:nvSpPr>
        <p:spPr bwMode="auto">
          <a:xfrm>
            <a:off x="3071814" y="2060575"/>
            <a:ext cx="7056437" cy="212365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sz="2400" dirty="0">
                <a:latin typeface="Tahoma" panose="020B0604030504040204" pitchFamily="34" charset="0"/>
              </a:rPr>
              <a:t>Métodos </a:t>
            </a:r>
            <a:r>
              <a:rPr lang="es-ES" altLang="es-PE" sz="2400" dirty="0" smtClean="0">
                <a:latin typeface="Tahoma" panose="020B0604030504040204" pitchFamily="34" charset="0"/>
              </a:rPr>
              <a:t>cualitativos</a:t>
            </a:r>
            <a:endParaRPr lang="es-ES" altLang="es-PE" sz="2400" dirty="0">
              <a:latin typeface="Tahoma" panose="020B0604030504040204" pitchFamily="34" charset="0"/>
            </a:endParaRPr>
          </a:p>
          <a:p>
            <a:pPr eaLnBrk="1" hangingPunct="1">
              <a:spcBef>
                <a:spcPct val="50000"/>
              </a:spcBef>
              <a:buFontTx/>
              <a:buChar char="-"/>
            </a:pPr>
            <a:r>
              <a:rPr lang="es-ES" altLang="es-PE" sz="2400" dirty="0" smtClean="0">
                <a:latin typeface="Tahoma" panose="020B0604030504040204" pitchFamily="34" charset="0"/>
              </a:rPr>
              <a:t>Delphi</a:t>
            </a:r>
          </a:p>
          <a:p>
            <a:pPr eaLnBrk="1" hangingPunct="1">
              <a:spcBef>
                <a:spcPct val="50000"/>
              </a:spcBef>
              <a:buFontTx/>
              <a:buChar char="-"/>
            </a:pPr>
            <a:r>
              <a:rPr lang="es-ES" altLang="es-PE" sz="2400" dirty="0" smtClean="0">
                <a:latin typeface="Tahoma" panose="020B0604030504040204" pitchFamily="34" charset="0"/>
              </a:rPr>
              <a:t>Opinión de expertos</a:t>
            </a:r>
          </a:p>
          <a:p>
            <a:pPr eaLnBrk="1" hangingPunct="1">
              <a:spcBef>
                <a:spcPct val="50000"/>
              </a:spcBef>
              <a:buFontTx/>
              <a:buChar char="-"/>
            </a:pPr>
            <a:r>
              <a:rPr lang="es-ES" altLang="es-PE" sz="2400" dirty="0" smtClean="0">
                <a:latin typeface="Tahoma" panose="020B0604030504040204" pitchFamily="34" charset="0"/>
              </a:rPr>
              <a:t>Escenarios</a:t>
            </a:r>
            <a:endParaRPr lang="es-ES" altLang="es-PE" sz="2400" dirty="0">
              <a:latin typeface="Tahoma" panose="020B0604030504040204" pitchFamily="34" charset="0"/>
            </a:endParaRPr>
          </a:p>
        </p:txBody>
      </p:sp>
    </p:spTree>
    <p:extLst>
      <p:ext uri="{BB962C8B-B14F-4D97-AF65-F5344CB8AC3E}">
        <p14:creationId xmlns:p14="http://schemas.microsoft.com/office/powerpoint/2010/main" val="1152097085"/>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err="1" smtClean="0"/>
              <a:t>Métodologia</a:t>
            </a:r>
            <a:endParaRPr lang="es-PE" dirty="0"/>
          </a:p>
        </p:txBody>
      </p:sp>
      <p:sp>
        <p:nvSpPr>
          <p:cNvPr id="3" name="Marcador de contenido 2"/>
          <p:cNvSpPr>
            <a:spLocks noGrp="1"/>
          </p:cNvSpPr>
          <p:nvPr>
            <p:ph idx="1"/>
          </p:nvPr>
        </p:nvSpPr>
        <p:spPr/>
        <p:txBody>
          <a:bodyPr/>
          <a:lstStyle/>
          <a:p>
            <a:r>
              <a:rPr lang="es-PE" dirty="0" smtClean="0"/>
              <a:t>Contactar expertos</a:t>
            </a:r>
          </a:p>
          <a:p>
            <a:r>
              <a:rPr lang="es-PE" dirty="0" smtClean="0"/>
              <a:t>Enviar cuestionario</a:t>
            </a:r>
          </a:p>
          <a:p>
            <a:r>
              <a:rPr lang="es-PE" dirty="0" smtClean="0"/>
              <a:t>Analizar las respuestas (áreas de acuerdo y singularidades)</a:t>
            </a:r>
          </a:p>
          <a:p>
            <a:r>
              <a:rPr lang="es-PE" dirty="0" smtClean="0"/>
              <a:t>Elaborar reporte y realimentar con expertos</a:t>
            </a:r>
          </a:p>
          <a:p>
            <a:r>
              <a:rPr lang="es-PE" dirty="0" smtClean="0"/>
              <a:t>Repetir hasta estabilización</a:t>
            </a:r>
            <a:endParaRPr lang="es-PE" dirty="0"/>
          </a:p>
        </p:txBody>
      </p:sp>
    </p:spTree>
    <p:extLst>
      <p:ext uri="{BB962C8B-B14F-4D97-AF65-F5344CB8AC3E}">
        <p14:creationId xmlns:p14="http://schemas.microsoft.com/office/powerpoint/2010/main" val="426332883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Temas típicos</a:t>
            </a:r>
            <a:endParaRPr lang="es-PE" dirty="0"/>
          </a:p>
        </p:txBody>
      </p:sp>
      <p:sp>
        <p:nvSpPr>
          <p:cNvPr id="3" name="Marcador de contenido 2"/>
          <p:cNvSpPr>
            <a:spLocks noGrp="1"/>
          </p:cNvSpPr>
          <p:nvPr>
            <p:ph idx="1"/>
          </p:nvPr>
        </p:nvSpPr>
        <p:spPr>
          <a:xfrm>
            <a:off x="838200" y="1511588"/>
            <a:ext cx="10515600" cy="2201430"/>
          </a:xfrm>
        </p:spPr>
        <p:txBody>
          <a:bodyPr/>
          <a:lstStyle/>
          <a:p>
            <a:r>
              <a:rPr lang="es-PE" dirty="0" smtClean="0"/>
              <a:t>¿Cuándo escasearán recursos clave?</a:t>
            </a:r>
          </a:p>
          <a:p>
            <a:r>
              <a:rPr lang="es-PE" dirty="0" smtClean="0"/>
              <a:t>¿Qué nuevas técnicas de producción estarán disponibles?</a:t>
            </a:r>
          </a:p>
          <a:p>
            <a:r>
              <a:rPr lang="es-PE" dirty="0" smtClean="0"/>
              <a:t>¿Qué nuevos productos o servicios se requerirán?</a:t>
            </a:r>
          </a:p>
          <a:p>
            <a:r>
              <a:rPr lang="es-PE" dirty="0" smtClean="0"/>
              <a:t>¿Qué nuevas restricciones surgirán en el entorno?</a:t>
            </a:r>
            <a:endParaRPr lang="es-PE" dirty="0"/>
          </a:p>
        </p:txBody>
      </p:sp>
      <p:pic>
        <p:nvPicPr>
          <p:cNvPr id="13314" name="Picture 2" descr="Prospectiva Estratégica y Planeación Estratégica sus diferencia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6412" y="3713018"/>
            <a:ext cx="6191250" cy="2876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76074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s-ES" altLang="es-PE" smtClean="0"/>
              <a:t>METODOS DE PROYECCIÓN</a:t>
            </a:r>
          </a:p>
        </p:txBody>
      </p:sp>
      <p:sp>
        <p:nvSpPr>
          <p:cNvPr id="2" name="Rectángulo 1"/>
          <p:cNvSpPr/>
          <p:nvPr/>
        </p:nvSpPr>
        <p:spPr>
          <a:xfrm>
            <a:off x="3048000" y="2828836"/>
            <a:ext cx="6096000" cy="1200329"/>
          </a:xfrm>
          <a:prstGeom prst="rect">
            <a:avLst/>
          </a:prstGeom>
        </p:spPr>
        <p:txBody>
          <a:bodyPr>
            <a:spAutoFit/>
          </a:bodyPr>
          <a:lstStyle/>
          <a:p>
            <a:r>
              <a:rPr lang="es-PE" dirty="0">
                <a:latin typeface="Times New Roman" panose="02020603050405020304" pitchFamily="18" charset="0"/>
              </a:rPr>
              <a:t>• TENDENCIA: componente de muy largo plazo</a:t>
            </a:r>
          </a:p>
          <a:p>
            <a:r>
              <a:rPr lang="es-PE" dirty="0">
                <a:latin typeface="Times New Roman" panose="02020603050405020304" pitchFamily="18" charset="0"/>
              </a:rPr>
              <a:t>• CICLICO: componente de largo plazo</a:t>
            </a:r>
          </a:p>
          <a:p>
            <a:r>
              <a:rPr lang="es-PE" dirty="0">
                <a:latin typeface="Times New Roman" panose="02020603050405020304" pitchFamily="18" charset="0"/>
              </a:rPr>
              <a:t>• ESTACIONAL: componente de corto plazo</a:t>
            </a:r>
          </a:p>
          <a:p>
            <a:r>
              <a:rPr lang="es-PE" dirty="0">
                <a:latin typeface="Times New Roman" panose="02020603050405020304" pitchFamily="18" charset="0"/>
              </a:rPr>
              <a:t>• IRREGULAR: componente de muy corto plazo</a:t>
            </a:r>
            <a:endParaRPr lang="es-PE" dirty="0"/>
          </a:p>
        </p:txBody>
      </p:sp>
    </p:spTree>
    <p:extLst>
      <p:ext uri="{BB962C8B-B14F-4D97-AF65-F5344CB8AC3E}">
        <p14:creationId xmlns:p14="http://schemas.microsoft.com/office/powerpoint/2010/main" val="4281989755"/>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s-ES" altLang="es-PE" smtClean="0"/>
              <a:t>METODOS DE PROYECCIÓN</a:t>
            </a:r>
          </a:p>
        </p:txBody>
      </p:sp>
      <p:cxnSp>
        <p:nvCxnSpPr>
          <p:cNvPr id="4" name="Conector recto 3"/>
          <p:cNvCxnSpPr/>
          <p:nvPr/>
        </p:nvCxnSpPr>
        <p:spPr>
          <a:xfrm>
            <a:off x="2117558" y="2346158"/>
            <a:ext cx="0" cy="1443789"/>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Conector recto 5"/>
          <p:cNvCxnSpPr/>
          <p:nvPr/>
        </p:nvCxnSpPr>
        <p:spPr>
          <a:xfrm>
            <a:off x="2093495" y="3789947"/>
            <a:ext cx="18769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Conector recto 7"/>
          <p:cNvCxnSpPr/>
          <p:nvPr/>
        </p:nvCxnSpPr>
        <p:spPr>
          <a:xfrm flipV="1">
            <a:off x="2430379" y="2466474"/>
            <a:ext cx="1407695" cy="105877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cto 10"/>
          <p:cNvCxnSpPr/>
          <p:nvPr/>
        </p:nvCxnSpPr>
        <p:spPr>
          <a:xfrm>
            <a:off x="4940969" y="2346158"/>
            <a:ext cx="0" cy="144378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Conector recto 11"/>
          <p:cNvCxnSpPr/>
          <p:nvPr/>
        </p:nvCxnSpPr>
        <p:spPr>
          <a:xfrm>
            <a:off x="4916906" y="3789947"/>
            <a:ext cx="1876926"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Forma libre 9"/>
          <p:cNvSpPr/>
          <p:nvPr/>
        </p:nvSpPr>
        <p:spPr>
          <a:xfrm>
            <a:off x="5111418" y="2407444"/>
            <a:ext cx="1600200" cy="1117809"/>
          </a:xfrm>
          <a:custGeom>
            <a:avLst/>
            <a:gdLst>
              <a:gd name="connsiteX0" fmla="*/ 0 w 1600200"/>
              <a:gd name="connsiteY0" fmla="*/ 1117809 h 1117809"/>
              <a:gd name="connsiteX1" fmla="*/ 794084 w 1600200"/>
              <a:gd name="connsiteY1" fmla="*/ 901241 h 1117809"/>
              <a:gd name="connsiteX2" fmla="*/ 1155032 w 1600200"/>
              <a:gd name="connsiteY2" fmla="*/ 95125 h 1117809"/>
              <a:gd name="connsiteX3" fmla="*/ 1600200 w 1600200"/>
              <a:gd name="connsiteY3" fmla="*/ 46999 h 1117809"/>
            </a:gdLst>
            <a:ahLst/>
            <a:cxnLst>
              <a:cxn ang="0">
                <a:pos x="connsiteX0" y="connsiteY0"/>
              </a:cxn>
              <a:cxn ang="0">
                <a:pos x="connsiteX1" y="connsiteY1"/>
              </a:cxn>
              <a:cxn ang="0">
                <a:pos x="connsiteX2" y="connsiteY2"/>
              </a:cxn>
              <a:cxn ang="0">
                <a:pos x="connsiteX3" y="connsiteY3"/>
              </a:cxn>
            </a:cxnLst>
            <a:rect l="l" t="t" r="r" b="b"/>
            <a:pathLst>
              <a:path w="1600200" h="1117809">
                <a:moveTo>
                  <a:pt x="0" y="1117809"/>
                </a:moveTo>
                <a:cubicBezTo>
                  <a:pt x="300789" y="1094748"/>
                  <a:pt x="601579" y="1071688"/>
                  <a:pt x="794084" y="901241"/>
                </a:cubicBezTo>
                <a:cubicBezTo>
                  <a:pt x="986589" y="730794"/>
                  <a:pt x="1020679" y="237499"/>
                  <a:pt x="1155032" y="95125"/>
                </a:cubicBezTo>
                <a:cubicBezTo>
                  <a:pt x="1289385" y="-47249"/>
                  <a:pt x="1444792" y="-125"/>
                  <a:pt x="1600200" y="4699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 name="CuadroTexto 13"/>
          <p:cNvSpPr txBox="1"/>
          <p:nvPr/>
        </p:nvSpPr>
        <p:spPr>
          <a:xfrm>
            <a:off x="2093495" y="4102768"/>
            <a:ext cx="1693412" cy="369332"/>
          </a:xfrm>
          <a:prstGeom prst="rect">
            <a:avLst/>
          </a:prstGeom>
          <a:noFill/>
        </p:spPr>
        <p:txBody>
          <a:bodyPr wrap="none" rtlCol="0">
            <a:spAutoFit/>
          </a:bodyPr>
          <a:lstStyle/>
          <a:p>
            <a:r>
              <a:rPr lang="es-PE" dirty="0" smtClean="0"/>
              <a:t>Tendencia lineal</a:t>
            </a:r>
            <a:endParaRPr lang="es-PE" dirty="0"/>
          </a:p>
        </p:txBody>
      </p:sp>
      <p:sp>
        <p:nvSpPr>
          <p:cNvPr id="17" name="CuadroTexto 16"/>
          <p:cNvSpPr txBox="1"/>
          <p:nvPr/>
        </p:nvSpPr>
        <p:spPr>
          <a:xfrm>
            <a:off x="4940969" y="4102768"/>
            <a:ext cx="1989968" cy="369332"/>
          </a:xfrm>
          <a:prstGeom prst="rect">
            <a:avLst/>
          </a:prstGeom>
          <a:noFill/>
        </p:spPr>
        <p:txBody>
          <a:bodyPr wrap="none" rtlCol="0">
            <a:spAutoFit/>
          </a:bodyPr>
          <a:lstStyle/>
          <a:p>
            <a:r>
              <a:rPr lang="es-PE" dirty="0" smtClean="0"/>
              <a:t>Tendencia no lineal</a:t>
            </a:r>
            <a:endParaRPr lang="es-PE" dirty="0"/>
          </a:p>
        </p:txBody>
      </p:sp>
      <p:cxnSp>
        <p:nvCxnSpPr>
          <p:cNvPr id="18" name="Conector recto 17"/>
          <p:cNvCxnSpPr/>
          <p:nvPr/>
        </p:nvCxnSpPr>
        <p:spPr>
          <a:xfrm>
            <a:off x="2117558" y="4664604"/>
            <a:ext cx="0" cy="1443789"/>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ector recto 18"/>
          <p:cNvCxnSpPr/>
          <p:nvPr/>
        </p:nvCxnSpPr>
        <p:spPr>
          <a:xfrm>
            <a:off x="2093495" y="6108393"/>
            <a:ext cx="18769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Conector recto 19"/>
          <p:cNvCxnSpPr/>
          <p:nvPr/>
        </p:nvCxnSpPr>
        <p:spPr>
          <a:xfrm flipV="1">
            <a:off x="2430379" y="4472100"/>
            <a:ext cx="1745914" cy="1371600"/>
          </a:xfrm>
          <a:prstGeom prst="line">
            <a:avLst/>
          </a:prstGeom>
        </p:spPr>
        <p:style>
          <a:lnRef idx="1">
            <a:schemeClr val="accent1"/>
          </a:lnRef>
          <a:fillRef idx="0">
            <a:schemeClr val="accent1"/>
          </a:fillRef>
          <a:effectRef idx="0">
            <a:schemeClr val="accent1"/>
          </a:effectRef>
          <a:fontRef idx="minor">
            <a:schemeClr val="tx1"/>
          </a:fontRef>
        </p:style>
      </p:cxnSp>
      <p:sp>
        <p:nvSpPr>
          <p:cNvPr id="21" name="CuadroTexto 20"/>
          <p:cNvSpPr txBox="1"/>
          <p:nvPr/>
        </p:nvSpPr>
        <p:spPr>
          <a:xfrm>
            <a:off x="2093495" y="6421214"/>
            <a:ext cx="1747594" cy="369332"/>
          </a:xfrm>
          <a:prstGeom prst="rect">
            <a:avLst/>
          </a:prstGeom>
          <a:noFill/>
        </p:spPr>
        <p:txBody>
          <a:bodyPr wrap="none" rtlCol="0">
            <a:spAutoFit/>
          </a:bodyPr>
          <a:lstStyle/>
          <a:p>
            <a:r>
              <a:rPr lang="es-PE" dirty="0" smtClean="0"/>
              <a:t>Tendencia cíclica</a:t>
            </a:r>
            <a:endParaRPr lang="es-PE" dirty="0"/>
          </a:p>
        </p:txBody>
      </p:sp>
      <p:sp>
        <p:nvSpPr>
          <p:cNvPr id="15" name="Forma libre 14"/>
          <p:cNvSpPr/>
          <p:nvPr/>
        </p:nvSpPr>
        <p:spPr>
          <a:xfrm>
            <a:off x="2286000" y="4463716"/>
            <a:ext cx="1721852" cy="1396894"/>
          </a:xfrm>
          <a:custGeom>
            <a:avLst/>
            <a:gdLst>
              <a:gd name="connsiteX0" fmla="*/ 0 w 1721852"/>
              <a:gd name="connsiteY0" fmla="*/ 1251284 h 1396894"/>
              <a:gd name="connsiteX1" fmla="*/ 505326 w 1721852"/>
              <a:gd name="connsiteY1" fmla="*/ 1395663 h 1396894"/>
              <a:gd name="connsiteX2" fmla="*/ 818147 w 1721852"/>
              <a:gd name="connsiteY2" fmla="*/ 1179095 h 1396894"/>
              <a:gd name="connsiteX3" fmla="*/ 745958 w 1721852"/>
              <a:gd name="connsiteY3" fmla="*/ 493295 h 1396894"/>
              <a:gd name="connsiteX4" fmla="*/ 1588168 w 1721852"/>
              <a:gd name="connsiteY4" fmla="*/ 637673 h 1396894"/>
              <a:gd name="connsiteX5" fmla="*/ 1708484 w 1721852"/>
              <a:gd name="connsiteY5" fmla="*/ 0 h 1396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21852" h="1396894">
                <a:moveTo>
                  <a:pt x="0" y="1251284"/>
                </a:moveTo>
                <a:cubicBezTo>
                  <a:pt x="184484" y="1329489"/>
                  <a:pt x="368968" y="1407694"/>
                  <a:pt x="505326" y="1395663"/>
                </a:cubicBezTo>
                <a:cubicBezTo>
                  <a:pt x="641684" y="1383632"/>
                  <a:pt x="778042" y="1329490"/>
                  <a:pt x="818147" y="1179095"/>
                </a:cubicBezTo>
                <a:cubicBezTo>
                  <a:pt x="858252" y="1028700"/>
                  <a:pt x="617621" y="583532"/>
                  <a:pt x="745958" y="493295"/>
                </a:cubicBezTo>
                <a:cubicBezTo>
                  <a:pt x="874295" y="403058"/>
                  <a:pt x="1427747" y="719889"/>
                  <a:pt x="1588168" y="637673"/>
                </a:cubicBezTo>
                <a:cubicBezTo>
                  <a:pt x="1748589" y="555457"/>
                  <a:pt x="1728536" y="277728"/>
                  <a:pt x="1708484"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24" name="Conector recto 23"/>
          <p:cNvCxnSpPr/>
          <p:nvPr/>
        </p:nvCxnSpPr>
        <p:spPr>
          <a:xfrm>
            <a:off x="4940968" y="4637780"/>
            <a:ext cx="0" cy="14437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Conector recto 24"/>
          <p:cNvCxnSpPr/>
          <p:nvPr/>
        </p:nvCxnSpPr>
        <p:spPr>
          <a:xfrm>
            <a:off x="4916905" y="6081569"/>
            <a:ext cx="18769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Conector recto 25"/>
          <p:cNvCxnSpPr/>
          <p:nvPr/>
        </p:nvCxnSpPr>
        <p:spPr>
          <a:xfrm flipV="1">
            <a:off x="5253789" y="4445276"/>
            <a:ext cx="1745914" cy="1371600"/>
          </a:xfrm>
          <a:prstGeom prst="line">
            <a:avLst/>
          </a:prstGeom>
        </p:spPr>
        <p:style>
          <a:lnRef idx="1">
            <a:schemeClr val="accent1"/>
          </a:lnRef>
          <a:fillRef idx="0">
            <a:schemeClr val="accent1"/>
          </a:fillRef>
          <a:effectRef idx="0">
            <a:schemeClr val="accent1"/>
          </a:effectRef>
          <a:fontRef idx="minor">
            <a:schemeClr val="tx1"/>
          </a:fontRef>
        </p:style>
      </p:cxnSp>
      <p:sp>
        <p:nvSpPr>
          <p:cNvPr id="23" name="Forma libre 22"/>
          <p:cNvSpPr/>
          <p:nvPr/>
        </p:nvSpPr>
        <p:spPr>
          <a:xfrm>
            <a:off x="5342021" y="4295274"/>
            <a:ext cx="1613149" cy="1672389"/>
          </a:xfrm>
          <a:custGeom>
            <a:avLst/>
            <a:gdLst>
              <a:gd name="connsiteX0" fmla="*/ 0 w 1613149"/>
              <a:gd name="connsiteY0" fmla="*/ 1672389 h 1672389"/>
              <a:gd name="connsiteX1" fmla="*/ 24063 w 1613149"/>
              <a:gd name="connsiteY1" fmla="*/ 1576137 h 1672389"/>
              <a:gd name="connsiteX2" fmla="*/ 60158 w 1613149"/>
              <a:gd name="connsiteY2" fmla="*/ 1455821 h 1672389"/>
              <a:gd name="connsiteX3" fmla="*/ 84221 w 1613149"/>
              <a:gd name="connsiteY3" fmla="*/ 1419726 h 1672389"/>
              <a:gd name="connsiteX4" fmla="*/ 96253 w 1613149"/>
              <a:gd name="connsiteY4" fmla="*/ 1143000 h 1672389"/>
              <a:gd name="connsiteX5" fmla="*/ 144379 w 1613149"/>
              <a:gd name="connsiteY5" fmla="*/ 1070810 h 1672389"/>
              <a:gd name="connsiteX6" fmla="*/ 156411 w 1613149"/>
              <a:gd name="connsiteY6" fmla="*/ 1034715 h 1672389"/>
              <a:gd name="connsiteX7" fmla="*/ 168442 w 1613149"/>
              <a:gd name="connsiteY7" fmla="*/ 1167063 h 1672389"/>
              <a:gd name="connsiteX8" fmla="*/ 192505 w 1613149"/>
              <a:gd name="connsiteY8" fmla="*/ 1203158 h 1672389"/>
              <a:gd name="connsiteX9" fmla="*/ 240632 w 1613149"/>
              <a:gd name="connsiteY9" fmla="*/ 1371600 h 1672389"/>
              <a:gd name="connsiteX10" fmla="*/ 276726 w 1613149"/>
              <a:gd name="connsiteY10" fmla="*/ 1407694 h 1672389"/>
              <a:gd name="connsiteX11" fmla="*/ 348916 w 1613149"/>
              <a:gd name="connsiteY11" fmla="*/ 1383631 h 1672389"/>
              <a:gd name="connsiteX12" fmla="*/ 360947 w 1613149"/>
              <a:gd name="connsiteY12" fmla="*/ 1215189 h 1672389"/>
              <a:gd name="connsiteX13" fmla="*/ 409074 w 1613149"/>
              <a:gd name="connsiteY13" fmla="*/ 1058779 h 1672389"/>
              <a:gd name="connsiteX14" fmla="*/ 433137 w 1613149"/>
              <a:gd name="connsiteY14" fmla="*/ 1034715 h 1672389"/>
              <a:gd name="connsiteX15" fmla="*/ 445168 w 1613149"/>
              <a:gd name="connsiteY15" fmla="*/ 794084 h 1672389"/>
              <a:gd name="connsiteX16" fmla="*/ 457200 w 1613149"/>
              <a:gd name="connsiteY16" fmla="*/ 757989 h 1672389"/>
              <a:gd name="connsiteX17" fmla="*/ 493295 w 1613149"/>
              <a:gd name="connsiteY17" fmla="*/ 745958 h 1672389"/>
              <a:gd name="connsiteX18" fmla="*/ 505326 w 1613149"/>
              <a:gd name="connsiteY18" fmla="*/ 974558 h 1672389"/>
              <a:gd name="connsiteX19" fmla="*/ 529390 w 1613149"/>
              <a:gd name="connsiteY19" fmla="*/ 998621 h 1672389"/>
              <a:gd name="connsiteX20" fmla="*/ 553453 w 1613149"/>
              <a:gd name="connsiteY20" fmla="*/ 1070810 h 1672389"/>
              <a:gd name="connsiteX21" fmla="*/ 565484 w 1613149"/>
              <a:gd name="connsiteY21" fmla="*/ 1106905 h 1672389"/>
              <a:gd name="connsiteX22" fmla="*/ 589547 w 1613149"/>
              <a:gd name="connsiteY22" fmla="*/ 1143000 h 1672389"/>
              <a:gd name="connsiteX23" fmla="*/ 601579 w 1613149"/>
              <a:gd name="connsiteY23" fmla="*/ 1179094 h 1672389"/>
              <a:gd name="connsiteX24" fmla="*/ 661737 w 1613149"/>
              <a:gd name="connsiteY24" fmla="*/ 1215189 h 1672389"/>
              <a:gd name="connsiteX25" fmla="*/ 685800 w 1613149"/>
              <a:gd name="connsiteY25" fmla="*/ 1179094 h 1672389"/>
              <a:gd name="connsiteX26" fmla="*/ 721895 w 1613149"/>
              <a:gd name="connsiteY26" fmla="*/ 1167063 h 1672389"/>
              <a:gd name="connsiteX27" fmla="*/ 757990 w 1613149"/>
              <a:gd name="connsiteY27" fmla="*/ 1143000 h 1672389"/>
              <a:gd name="connsiteX28" fmla="*/ 782053 w 1613149"/>
              <a:gd name="connsiteY28" fmla="*/ 1094873 h 1672389"/>
              <a:gd name="connsiteX29" fmla="*/ 806116 w 1613149"/>
              <a:gd name="connsiteY29" fmla="*/ 806115 h 1672389"/>
              <a:gd name="connsiteX30" fmla="*/ 818147 w 1613149"/>
              <a:gd name="connsiteY30" fmla="*/ 685800 h 1672389"/>
              <a:gd name="connsiteX31" fmla="*/ 830179 w 1613149"/>
              <a:gd name="connsiteY31" fmla="*/ 649705 h 1672389"/>
              <a:gd name="connsiteX32" fmla="*/ 842211 w 1613149"/>
              <a:gd name="connsiteY32" fmla="*/ 577515 h 1672389"/>
              <a:gd name="connsiteX33" fmla="*/ 878305 w 1613149"/>
              <a:gd name="connsiteY33" fmla="*/ 553452 h 1672389"/>
              <a:gd name="connsiteX34" fmla="*/ 938463 w 1613149"/>
              <a:gd name="connsiteY34" fmla="*/ 481263 h 1672389"/>
              <a:gd name="connsiteX35" fmla="*/ 962526 w 1613149"/>
              <a:gd name="connsiteY35" fmla="*/ 673768 h 1672389"/>
              <a:gd name="connsiteX36" fmla="*/ 986590 w 1613149"/>
              <a:gd name="connsiteY36" fmla="*/ 745958 h 1672389"/>
              <a:gd name="connsiteX37" fmla="*/ 998621 w 1613149"/>
              <a:gd name="connsiteY37" fmla="*/ 782052 h 1672389"/>
              <a:gd name="connsiteX38" fmla="*/ 1034716 w 1613149"/>
              <a:gd name="connsiteY38" fmla="*/ 806115 h 1672389"/>
              <a:gd name="connsiteX39" fmla="*/ 1118937 w 1613149"/>
              <a:gd name="connsiteY39" fmla="*/ 902368 h 1672389"/>
              <a:gd name="connsiteX40" fmla="*/ 1155032 w 1613149"/>
              <a:gd name="connsiteY40" fmla="*/ 385010 h 1672389"/>
              <a:gd name="connsiteX41" fmla="*/ 1179095 w 1613149"/>
              <a:gd name="connsiteY41" fmla="*/ 276726 h 1672389"/>
              <a:gd name="connsiteX42" fmla="*/ 1203158 w 1613149"/>
              <a:gd name="connsiteY42" fmla="*/ 204537 h 1672389"/>
              <a:gd name="connsiteX43" fmla="*/ 1215190 w 1613149"/>
              <a:gd name="connsiteY43" fmla="*/ 168442 h 1672389"/>
              <a:gd name="connsiteX44" fmla="*/ 1263316 w 1613149"/>
              <a:gd name="connsiteY44" fmla="*/ 288758 h 1672389"/>
              <a:gd name="connsiteX45" fmla="*/ 1275347 w 1613149"/>
              <a:gd name="connsiteY45" fmla="*/ 360947 h 1672389"/>
              <a:gd name="connsiteX46" fmla="*/ 1287379 w 1613149"/>
              <a:gd name="connsiteY46" fmla="*/ 397042 h 1672389"/>
              <a:gd name="connsiteX47" fmla="*/ 1299411 w 1613149"/>
              <a:gd name="connsiteY47" fmla="*/ 469231 h 1672389"/>
              <a:gd name="connsiteX48" fmla="*/ 1311442 w 1613149"/>
              <a:gd name="connsiteY48" fmla="*/ 505326 h 1672389"/>
              <a:gd name="connsiteX49" fmla="*/ 1335505 w 1613149"/>
              <a:gd name="connsiteY49" fmla="*/ 589547 h 1672389"/>
              <a:gd name="connsiteX50" fmla="*/ 1383632 w 1613149"/>
              <a:gd name="connsiteY50" fmla="*/ 649705 h 1672389"/>
              <a:gd name="connsiteX51" fmla="*/ 1443790 w 1613149"/>
              <a:gd name="connsiteY51" fmla="*/ 673768 h 1672389"/>
              <a:gd name="connsiteX52" fmla="*/ 1467853 w 1613149"/>
              <a:gd name="connsiteY52" fmla="*/ 553452 h 1672389"/>
              <a:gd name="connsiteX53" fmla="*/ 1479884 w 1613149"/>
              <a:gd name="connsiteY53" fmla="*/ 517358 h 1672389"/>
              <a:gd name="connsiteX54" fmla="*/ 1491916 w 1613149"/>
              <a:gd name="connsiteY54" fmla="*/ 156410 h 1672389"/>
              <a:gd name="connsiteX55" fmla="*/ 1540042 w 1613149"/>
              <a:gd name="connsiteY55" fmla="*/ 72189 h 1672389"/>
              <a:gd name="connsiteX56" fmla="*/ 1576137 w 1613149"/>
              <a:gd name="connsiteY56" fmla="*/ 0 h 1672389"/>
              <a:gd name="connsiteX57" fmla="*/ 1612232 w 1613149"/>
              <a:gd name="connsiteY57" fmla="*/ 60158 h 1672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613149" h="1672389">
                <a:moveTo>
                  <a:pt x="0" y="1672389"/>
                </a:moveTo>
                <a:cubicBezTo>
                  <a:pt x="24462" y="1550085"/>
                  <a:pt x="-601" y="1662460"/>
                  <a:pt x="24063" y="1576137"/>
                </a:cubicBezTo>
                <a:cubicBezTo>
                  <a:pt x="32470" y="1546713"/>
                  <a:pt x="45863" y="1477264"/>
                  <a:pt x="60158" y="1455821"/>
                </a:cubicBezTo>
                <a:lnTo>
                  <a:pt x="84221" y="1419726"/>
                </a:lnTo>
                <a:cubicBezTo>
                  <a:pt x="88232" y="1327484"/>
                  <a:pt x="80566" y="1233987"/>
                  <a:pt x="96253" y="1143000"/>
                </a:cubicBezTo>
                <a:cubicBezTo>
                  <a:pt x="101167" y="1114500"/>
                  <a:pt x="135233" y="1098246"/>
                  <a:pt x="144379" y="1070810"/>
                </a:cubicBezTo>
                <a:lnTo>
                  <a:pt x="156411" y="1034715"/>
                </a:lnTo>
                <a:cubicBezTo>
                  <a:pt x="160421" y="1078831"/>
                  <a:pt x="159161" y="1123748"/>
                  <a:pt x="168442" y="1167063"/>
                </a:cubicBezTo>
                <a:cubicBezTo>
                  <a:pt x="171472" y="1181202"/>
                  <a:pt x="187563" y="1189568"/>
                  <a:pt x="192505" y="1203158"/>
                </a:cubicBezTo>
                <a:cubicBezTo>
                  <a:pt x="192863" y="1204143"/>
                  <a:pt x="229009" y="1359977"/>
                  <a:pt x="240632" y="1371600"/>
                </a:cubicBezTo>
                <a:lnTo>
                  <a:pt x="276726" y="1407694"/>
                </a:lnTo>
                <a:cubicBezTo>
                  <a:pt x="300789" y="1399673"/>
                  <a:pt x="338749" y="1406869"/>
                  <a:pt x="348916" y="1383631"/>
                </a:cubicBezTo>
                <a:cubicBezTo>
                  <a:pt x="371478" y="1332060"/>
                  <a:pt x="353965" y="1271045"/>
                  <a:pt x="360947" y="1215189"/>
                </a:cubicBezTo>
                <a:cubicBezTo>
                  <a:pt x="370994" y="1134814"/>
                  <a:pt x="368282" y="1109769"/>
                  <a:pt x="409074" y="1058779"/>
                </a:cubicBezTo>
                <a:cubicBezTo>
                  <a:pt x="416160" y="1049921"/>
                  <a:pt x="425116" y="1042736"/>
                  <a:pt x="433137" y="1034715"/>
                </a:cubicBezTo>
                <a:cubicBezTo>
                  <a:pt x="437147" y="954505"/>
                  <a:pt x="438211" y="874093"/>
                  <a:pt x="445168" y="794084"/>
                </a:cubicBezTo>
                <a:cubicBezTo>
                  <a:pt x="446267" y="781449"/>
                  <a:pt x="448232" y="766957"/>
                  <a:pt x="457200" y="757989"/>
                </a:cubicBezTo>
                <a:cubicBezTo>
                  <a:pt x="466168" y="749021"/>
                  <a:pt x="481263" y="749968"/>
                  <a:pt x="493295" y="745958"/>
                </a:cubicBezTo>
                <a:cubicBezTo>
                  <a:pt x="497305" y="822158"/>
                  <a:pt x="494535" y="899019"/>
                  <a:pt x="505326" y="974558"/>
                </a:cubicBezTo>
                <a:cubicBezTo>
                  <a:pt x="506930" y="985788"/>
                  <a:pt x="524317" y="988475"/>
                  <a:pt x="529390" y="998621"/>
                </a:cubicBezTo>
                <a:cubicBezTo>
                  <a:pt x="540734" y="1021308"/>
                  <a:pt x="545432" y="1046747"/>
                  <a:pt x="553453" y="1070810"/>
                </a:cubicBezTo>
                <a:cubicBezTo>
                  <a:pt x="557463" y="1082842"/>
                  <a:pt x="558449" y="1096353"/>
                  <a:pt x="565484" y="1106905"/>
                </a:cubicBezTo>
                <a:cubicBezTo>
                  <a:pt x="573505" y="1118937"/>
                  <a:pt x="583080" y="1130066"/>
                  <a:pt x="589547" y="1143000"/>
                </a:cubicBezTo>
                <a:cubicBezTo>
                  <a:pt x="595219" y="1154343"/>
                  <a:pt x="595054" y="1168219"/>
                  <a:pt x="601579" y="1179094"/>
                </a:cubicBezTo>
                <a:cubicBezTo>
                  <a:pt x="618096" y="1206622"/>
                  <a:pt x="633343" y="1205725"/>
                  <a:pt x="661737" y="1215189"/>
                </a:cubicBezTo>
                <a:cubicBezTo>
                  <a:pt x="669758" y="1203157"/>
                  <a:pt x="674508" y="1188127"/>
                  <a:pt x="685800" y="1179094"/>
                </a:cubicBezTo>
                <a:cubicBezTo>
                  <a:pt x="695703" y="1171171"/>
                  <a:pt x="710551" y="1172735"/>
                  <a:pt x="721895" y="1167063"/>
                </a:cubicBezTo>
                <a:cubicBezTo>
                  <a:pt x="734829" y="1160596"/>
                  <a:pt x="745958" y="1151021"/>
                  <a:pt x="757990" y="1143000"/>
                </a:cubicBezTo>
                <a:cubicBezTo>
                  <a:pt x="766011" y="1126958"/>
                  <a:pt x="779916" y="1112681"/>
                  <a:pt x="782053" y="1094873"/>
                </a:cubicBezTo>
                <a:cubicBezTo>
                  <a:pt x="824694" y="739524"/>
                  <a:pt x="762907" y="935739"/>
                  <a:pt x="806116" y="806115"/>
                </a:cubicBezTo>
                <a:cubicBezTo>
                  <a:pt x="810126" y="766010"/>
                  <a:pt x="812018" y="725636"/>
                  <a:pt x="818147" y="685800"/>
                </a:cubicBezTo>
                <a:cubicBezTo>
                  <a:pt x="820075" y="673265"/>
                  <a:pt x="827428" y="662086"/>
                  <a:pt x="830179" y="649705"/>
                </a:cubicBezTo>
                <a:cubicBezTo>
                  <a:pt x="835471" y="625891"/>
                  <a:pt x="831301" y="599335"/>
                  <a:pt x="842211" y="577515"/>
                </a:cubicBezTo>
                <a:cubicBezTo>
                  <a:pt x="848678" y="564582"/>
                  <a:pt x="867197" y="562709"/>
                  <a:pt x="878305" y="553452"/>
                </a:cubicBezTo>
                <a:cubicBezTo>
                  <a:pt x="913047" y="524501"/>
                  <a:pt x="914801" y="516756"/>
                  <a:pt x="938463" y="481263"/>
                </a:cubicBezTo>
                <a:cubicBezTo>
                  <a:pt x="973339" y="585890"/>
                  <a:pt x="923513" y="426687"/>
                  <a:pt x="962526" y="673768"/>
                </a:cubicBezTo>
                <a:cubicBezTo>
                  <a:pt x="966482" y="698823"/>
                  <a:pt x="978569" y="721895"/>
                  <a:pt x="986590" y="745958"/>
                </a:cubicBezTo>
                <a:cubicBezTo>
                  <a:pt x="990600" y="757989"/>
                  <a:pt x="988069" y="775017"/>
                  <a:pt x="998621" y="782052"/>
                </a:cubicBezTo>
                <a:lnTo>
                  <a:pt x="1034716" y="806115"/>
                </a:lnTo>
                <a:cubicBezTo>
                  <a:pt x="1090863" y="890337"/>
                  <a:pt x="1058779" y="862263"/>
                  <a:pt x="1118937" y="902368"/>
                </a:cubicBezTo>
                <a:cubicBezTo>
                  <a:pt x="1214189" y="711864"/>
                  <a:pt x="1131923" y="893406"/>
                  <a:pt x="1155032" y="385010"/>
                </a:cubicBezTo>
                <a:cubicBezTo>
                  <a:pt x="1155646" y="371511"/>
                  <a:pt x="1173957" y="293851"/>
                  <a:pt x="1179095" y="276726"/>
                </a:cubicBezTo>
                <a:cubicBezTo>
                  <a:pt x="1186384" y="252431"/>
                  <a:pt x="1195137" y="228600"/>
                  <a:pt x="1203158" y="204537"/>
                </a:cubicBezTo>
                <a:lnTo>
                  <a:pt x="1215190" y="168442"/>
                </a:lnTo>
                <a:cubicBezTo>
                  <a:pt x="1240084" y="218230"/>
                  <a:pt x="1248449" y="229287"/>
                  <a:pt x="1263316" y="288758"/>
                </a:cubicBezTo>
                <a:cubicBezTo>
                  <a:pt x="1269233" y="312425"/>
                  <a:pt x="1270055" y="337133"/>
                  <a:pt x="1275347" y="360947"/>
                </a:cubicBezTo>
                <a:cubicBezTo>
                  <a:pt x="1278098" y="373328"/>
                  <a:pt x="1284628" y="384662"/>
                  <a:pt x="1287379" y="397042"/>
                </a:cubicBezTo>
                <a:cubicBezTo>
                  <a:pt x="1292671" y="420856"/>
                  <a:pt x="1294119" y="445417"/>
                  <a:pt x="1299411" y="469231"/>
                </a:cubicBezTo>
                <a:cubicBezTo>
                  <a:pt x="1302162" y="481611"/>
                  <a:pt x="1307958" y="493132"/>
                  <a:pt x="1311442" y="505326"/>
                </a:cubicBezTo>
                <a:cubicBezTo>
                  <a:pt x="1316580" y="523308"/>
                  <a:pt x="1325892" y="570321"/>
                  <a:pt x="1335505" y="589547"/>
                </a:cubicBezTo>
                <a:cubicBezTo>
                  <a:pt x="1350683" y="619904"/>
                  <a:pt x="1361249" y="627323"/>
                  <a:pt x="1383632" y="649705"/>
                </a:cubicBezTo>
                <a:cubicBezTo>
                  <a:pt x="1385710" y="655938"/>
                  <a:pt x="1403155" y="748266"/>
                  <a:pt x="1443790" y="673768"/>
                </a:cubicBezTo>
                <a:cubicBezTo>
                  <a:pt x="1463375" y="637862"/>
                  <a:pt x="1454920" y="592253"/>
                  <a:pt x="1467853" y="553452"/>
                </a:cubicBezTo>
                <a:lnTo>
                  <a:pt x="1479884" y="517358"/>
                </a:lnTo>
                <a:cubicBezTo>
                  <a:pt x="1483895" y="397042"/>
                  <a:pt x="1481335" y="276327"/>
                  <a:pt x="1491916" y="156410"/>
                </a:cubicBezTo>
                <a:cubicBezTo>
                  <a:pt x="1494176" y="130798"/>
                  <a:pt x="1528822" y="94628"/>
                  <a:pt x="1540042" y="72189"/>
                </a:cubicBezTo>
                <a:cubicBezTo>
                  <a:pt x="1589852" y="-27431"/>
                  <a:pt x="1507180" y="103434"/>
                  <a:pt x="1576137" y="0"/>
                </a:cubicBezTo>
                <a:cubicBezTo>
                  <a:pt x="1622243" y="30737"/>
                  <a:pt x="1612232" y="9603"/>
                  <a:pt x="1612232" y="6015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0" name="CuadroTexto 29"/>
          <p:cNvSpPr txBox="1"/>
          <p:nvPr/>
        </p:nvSpPr>
        <p:spPr>
          <a:xfrm>
            <a:off x="5111418" y="6249810"/>
            <a:ext cx="2132059" cy="369332"/>
          </a:xfrm>
          <a:prstGeom prst="rect">
            <a:avLst/>
          </a:prstGeom>
          <a:noFill/>
        </p:spPr>
        <p:txBody>
          <a:bodyPr wrap="none" rtlCol="0">
            <a:spAutoFit/>
          </a:bodyPr>
          <a:lstStyle/>
          <a:p>
            <a:r>
              <a:rPr lang="es-PE" dirty="0" smtClean="0"/>
              <a:t>Tendencia estacional</a:t>
            </a:r>
            <a:endParaRPr lang="es-PE" dirty="0"/>
          </a:p>
        </p:txBody>
      </p:sp>
      <p:sp>
        <p:nvSpPr>
          <p:cNvPr id="31" name="CuadroTexto 30"/>
          <p:cNvSpPr txBox="1"/>
          <p:nvPr/>
        </p:nvSpPr>
        <p:spPr>
          <a:xfrm>
            <a:off x="7864054" y="4102566"/>
            <a:ext cx="1450141" cy="369332"/>
          </a:xfrm>
          <a:prstGeom prst="rect">
            <a:avLst/>
          </a:prstGeom>
          <a:noFill/>
        </p:spPr>
        <p:txBody>
          <a:bodyPr wrap="none" rtlCol="0">
            <a:spAutoFit/>
          </a:bodyPr>
          <a:lstStyle/>
          <a:p>
            <a:r>
              <a:rPr lang="es-PE" dirty="0" smtClean="0"/>
              <a:t>Sin tendencia</a:t>
            </a:r>
            <a:endParaRPr lang="es-PE" dirty="0"/>
          </a:p>
        </p:txBody>
      </p:sp>
      <p:sp>
        <p:nvSpPr>
          <p:cNvPr id="32" name="CuadroTexto 31"/>
          <p:cNvSpPr txBox="1"/>
          <p:nvPr/>
        </p:nvSpPr>
        <p:spPr>
          <a:xfrm>
            <a:off x="7864054" y="6249810"/>
            <a:ext cx="989566" cy="369332"/>
          </a:xfrm>
          <a:prstGeom prst="rect">
            <a:avLst/>
          </a:prstGeom>
          <a:noFill/>
        </p:spPr>
        <p:txBody>
          <a:bodyPr wrap="none" rtlCol="0">
            <a:spAutoFit/>
          </a:bodyPr>
          <a:lstStyle/>
          <a:p>
            <a:r>
              <a:rPr lang="es-PE" dirty="0" smtClean="0"/>
              <a:t>Irregular</a:t>
            </a:r>
            <a:endParaRPr lang="es-PE" dirty="0"/>
          </a:p>
        </p:txBody>
      </p:sp>
    </p:spTree>
    <p:extLst>
      <p:ext uri="{BB962C8B-B14F-4D97-AF65-F5344CB8AC3E}">
        <p14:creationId xmlns:p14="http://schemas.microsoft.com/office/powerpoint/2010/main" val="2581332840"/>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7" name="Rectangle 3"/>
          <p:cNvSpPr>
            <a:spLocks noGrp="1" noChangeArrowheads="1"/>
          </p:cNvSpPr>
          <p:nvPr>
            <p:ph type="body" idx="1"/>
          </p:nvPr>
        </p:nvSpPr>
        <p:spPr>
          <a:xfrm>
            <a:off x="5257800" y="764720"/>
            <a:ext cx="1519881" cy="533400"/>
          </a:xfrm>
        </p:spPr>
        <p:txBody>
          <a:bodyPr/>
          <a:lstStyle/>
          <a:p>
            <a:pPr>
              <a:buFontTx/>
              <a:buNone/>
            </a:pPr>
            <a:r>
              <a:rPr lang="es-ES_tradnl" altLang="es-PE" sz="2000" b="1" u="sng" dirty="0" smtClean="0">
                <a:latin typeface="Arial" panose="020B0604020202020204" pitchFamily="34" charset="0"/>
              </a:rPr>
              <a:t>Regresión</a:t>
            </a:r>
            <a:endParaRPr lang="es-ES" altLang="es-PE" sz="2000" b="1" u="sng" dirty="0">
              <a:latin typeface="Arial" panose="020B0604020202020204" pitchFamily="34" charset="0"/>
            </a:endParaRPr>
          </a:p>
        </p:txBody>
      </p:sp>
      <p:grpSp>
        <p:nvGrpSpPr>
          <p:cNvPr id="2058" name="Group 7"/>
          <p:cNvGrpSpPr>
            <a:grpSpLocks/>
          </p:cNvGrpSpPr>
          <p:nvPr/>
        </p:nvGrpSpPr>
        <p:grpSpPr bwMode="auto">
          <a:xfrm>
            <a:off x="1981200" y="1981201"/>
            <a:ext cx="3505200" cy="4391025"/>
            <a:chOff x="-3" y="-3"/>
            <a:chExt cx="3092" cy="3899"/>
          </a:xfrm>
        </p:grpSpPr>
        <p:grpSp>
          <p:nvGrpSpPr>
            <p:cNvPr id="2130" name="Group 8"/>
            <p:cNvGrpSpPr>
              <a:grpSpLocks/>
            </p:cNvGrpSpPr>
            <p:nvPr/>
          </p:nvGrpSpPr>
          <p:grpSpPr bwMode="auto">
            <a:xfrm>
              <a:off x="0" y="0"/>
              <a:ext cx="3086" cy="3893"/>
              <a:chOff x="0" y="0"/>
              <a:chExt cx="3086" cy="3893"/>
            </a:xfrm>
          </p:grpSpPr>
          <p:grpSp>
            <p:nvGrpSpPr>
              <p:cNvPr id="2132" name="Group 9"/>
              <p:cNvGrpSpPr>
                <a:grpSpLocks/>
              </p:cNvGrpSpPr>
              <p:nvPr/>
            </p:nvGrpSpPr>
            <p:grpSpPr bwMode="auto">
              <a:xfrm>
                <a:off x="0" y="0"/>
                <a:ext cx="999" cy="576"/>
                <a:chOff x="0" y="0"/>
                <a:chExt cx="999" cy="576"/>
              </a:xfrm>
            </p:grpSpPr>
            <p:sp>
              <p:nvSpPr>
                <p:cNvPr id="2179" name="Rectangle 10"/>
                <p:cNvSpPr>
                  <a:spLocks noChangeArrowheads="1"/>
                </p:cNvSpPr>
                <p:nvPr/>
              </p:nvSpPr>
              <p:spPr bwMode="auto">
                <a:xfrm>
                  <a:off x="0" y="0"/>
                  <a:ext cx="999" cy="576"/>
                </a:xfrm>
                <a:prstGeom prst="rect">
                  <a:avLst/>
                </a:prstGeom>
                <a:solidFill>
                  <a:srgbClr val="6666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nvGrpSpPr>
                <p:cNvPr id="2180" name="Group 11"/>
                <p:cNvGrpSpPr>
                  <a:grpSpLocks/>
                </p:cNvGrpSpPr>
                <p:nvPr/>
              </p:nvGrpSpPr>
              <p:grpSpPr bwMode="auto">
                <a:xfrm>
                  <a:off x="0" y="0"/>
                  <a:ext cx="999" cy="576"/>
                  <a:chOff x="0" y="0"/>
                  <a:chExt cx="999" cy="576"/>
                </a:xfrm>
              </p:grpSpPr>
              <p:sp>
                <p:nvSpPr>
                  <p:cNvPr id="2181" name="Rectangle 12"/>
                  <p:cNvSpPr>
                    <a:spLocks noChangeArrowheads="1"/>
                  </p:cNvSpPr>
                  <p:nvPr/>
                </p:nvSpPr>
                <p:spPr bwMode="auto">
                  <a:xfrm>
                    <a:off x="28" y="0"/>
                    <a:ext cx="943" cy="576"/>
                  </a:xfrm>
                  <a:prstGeom prst="rect">
                    <a:avLst/>
                  </a:prstGeom>
                  <a:solidFill>
                    <a:srgbClr val="66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tabLst>
                        <a:tab pos="628650" algn="l"/>
                      </a:tabLst>
                      <a:defRPr>
                        <a:solidFill>
                          <a:schemeClr val="tx1"/>
                        </a:solidFill>
                        <a:latin typeface="Verdana" panose="020B0604030504040204" pitchFamily="34" charset="0"/>
                      </a:defRPr>
                    </a:lvl1pPr>
                    <a:lvl2pPr marL="742950" indent="-285750" eaLnBrk="0" hangingPunct="0">
                      <a:tabLst>
                        <a:tab pos="628650" algn="l"/>
                      </a:tabLst>
                      <a:defRPr>
                        <a:solidFill>
                          <a:schemeClr val="tx1"/>
                        </a:solidFill>
                        <a:latin typeface="Verdana" panose="020B0604030504040204" pitchFamily="34" charset="0"/>
                      </a:defRPr>
                    </a:lvl2pPr>
                    <a:lvl3pPr marL="1143000" indent="-228600" eaLnBrk="0" hangingPunct="0">
                      <a:tabLst>
                        <a:tab pos="628650" algn="l"/>
                      </a:tabLst>
                      <a:defRPr>
                        <a:solidFill>
                          <a:schemeClr val="tx1"/>
                        </a:solidFill>
                        <a:latin typeface="Verdana" panose="020B0604030504040204" pitchFamily="34" charset="0"/>
                      </a:defRPr>
                    </a:lvl3pPr>
                    <a:lvl4pPr marL="1600200" indent="-228600" eaLnBrk="0" hangingPunct="0">
                      <a:tabLst>
                        <a:tab pos="628650" algn="l"/>
                      </a:tabLst>
                      <a:defRPr>
                        <a:solidFill>
                          <a:schemeClr val="tx1"/>
                        </a:solidFill>
                        <a:latin typeface="Verdana" panose="020B0604030504040204" pitchFamily="34" charset="0"/>
                      </a:defRPr>
                    </a:lvl4pPr>
                    <a:lvl5pPr marL="2057400" indent="-228600" eaLnBrk="0" hangingPunct="0">
                      <a:tabLst>
                        <a:tab pos="628650" algn="l"/>
                      </a:tabLst>
                      <a:defRPr>
                        <a:solidFill>
                          <a:schemeClr val="tx1"/>
                        </a:solidFill>
                        <a:latin typeface="Verdana" panose="020B0604030504040204" pitchFamily="34" charset="0"/>
                      </a:defRPr>
                    </a:lvl5pPr>
                    <a:lvl6pPr marL="25146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6pPr>
                    <a:lvl7pPr marL="29718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7pPr>
                    <a:lvl8pPr marL="34290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8pPr>
                    <a:lvl9pPr marL="38862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9pPr>
                  </a:lstStyle>
                  <a:p>
                    <a:pPr eaLnBrk="1" hangingPunct="1"/>
                    <a:r>
                      <a:rPr lang="es-ES" altLang="es-PE" sz="1000">
                        <a:solidFill>
                          <a:srgbClr val="FFFFFF"/>
                        </a:solidFill>
                        <a:latin typeface="Arial" panose="020B0604020202020204" pitchFamily="34" charset="0"/>
                        <a:cs typeface="Arial" panose="020B0604020202020204" pitchFamily="34" charset="0"/>
                      </a:rPr>
                      <a:t>            </a:t>
                    </a:r>
                    <a:endParaRPr lang="es-ES" altLang="es-PE" sz="1000">
                      <a:latin typeface="Arial" panose="020B0604020202020204" pitchFamily="34" charset="0"/>
                      <a:cs typeface="Arial" panose="020B0604020202020204" pitchFamily="34" charset="0"/>
                    </a:endParaRPr>
                  </a:p>
                  <a:p>
                    <a:r>
                      <a:rPr lang="es-ES" altLang="es-PE" sz="1000">
                        <a:solidFill>
                          <a:srgbClr val="FFFFFF"/>
                        </a:solidFill>
                        <a:latin typeface="Arial" panose="020B0604020202020204" pitchFamily="34" charset="0"/>
                        <a:cs typeface="Arial" panose="020B0604020202020204" pitchFamily="34" charset="0"/>
                      </a:rPr>
                      <a:t>    Tipos de</a:t>
                    </a:r>
                    <a:endParaRPr lang="es-ES" altLang="es-PE" sz="1000">
                      <a:latin typeface="Arial" panose="020B0604020202020204" pitchFamily="34" charset="0"/>
                      <a:cs typeface="Arial" panose="020B0604020202020204" pitchFamily="34" charset="0"/>
                    </a:endParaRPr>
                  </a:p>
                  <a:p>
                    <a:r>
                      <a:rPr lang="es-ES" altLang="es-PE" sz="1000">
                        <a:solidFill>
                          <a:srgbClr val="FFFFFF"/>
                        </a:solidFill>
                        <a:latin typeface="Arial" panose="020B0604020202020204" pitchFamily="34" charset="0"/>
                        <a:cs typeface="Arial" panose="020B0604020202020204" pitchFamily="34" charset="0"/>
                      </a:rPr>
                      <a:t> Proyección</a:t>
                    </a:r>
                    <a:endParaRPr lang="es-ES" altLang="es-PE" sz="1000">
                      <a:latin typeface="Arial" panose="020B0604020202020204" pitchFamily="34" charset="0"/>
                      <a:cs typeface="Arial" panose="020B0604020202020204" pitchFamily="34" charset="0"/>
                    </a:endParaRPr>
                  </a:p>
                  <a:p>
                    <a:endParaRPr lang="es-ES" altLang="es-PE"/>
                  </a:p>
                </p:txBody>
              </p:sp>
              <p:sp>
                <p:nvSpPr>
                  <p:cNvPr id="2182" name="Rectangle 13"/>
                  <p:cNvSpPr>
                    <a:spLocks noChangeArrowheads="1"/>
                  </p:cNvSpPr>
                  <p:nvPr/>
                </p:nvSpPr>
                <p:spPr bwMode="auto">
                  <a:xfrm>
                    <a:off x="0" y="0"/>
                    <a:ext cx="999" cy="57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grpSp>
            <p:nvGrpSpPr>
              <p:cNvPr id="2133" name="Group 14"/>
              <p:cNvGrpSpPr>
                <a:grpSpLocks/>
              </p:cNvGrpSpPr>
              <p:nvPr/>
            </p:nvGrpSpPr>
            <p:grpSpPr bwMode="auto">
              <a:xfrm>
                <a:off x="999" y="0"/>
                <a:ext cx="776" cy="576"/>
                <a:chOff x="999" y="0"/>
                <a:chExt cx="776" cy="576"/>
              </a:xfrm>
            </p:grpSpPr>
            <p:sp>
              <p:nvSpPr>
                <p:cNvPr id="2175" name="Rectangle 15"/>
                <p:cNvSpPr>
                  <a:spLocks noChangeArrowheads="1"/>
                </p:cNvSpPr>
                <p:nvPr/>
              </p:nvSpPr>
              <p:spPr bwMode="auto">
                <a:xfrm>
                  <a:off x="999" y="0"/>
                  <a:ext cx="776" cy="576"/>
                </a:xfrm>
                <a:prstGeom prst="rect">
                  <a:avLst/>
                </a:prstGeom>
                <a:solidFill>
                  <a:srgbClr val="6666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nvGrpSpPr>
                <p:cNvPr id="2176" name="Group 16"/>
                <p:cNvGrpSpPr>
                  <a:grpSpLocks/>
                </p:cNvGrpSpPr>
                <p:nvPr/>
              </p:nvGrpSpPr>
              <p:grpSpPr bwMode="auto">
                <a:xfrm>
                  <a:off x="999" y="0"/>
                  <a:ext cx="776" cy="576"/>
                  <a:chOff x="999" y="0"/>
                  <a:chExt cx="776" cy="576"/>
                </a:xfrm>
              </p:grpSpPr>
              <p:sp>
                <p:nvSpPr>
                  <p:cNvPr id="2177" name="Rectangle 17"/>
                  <p:cNvSpPr>
                    <a:spLocks noChangeArrowheads="1"/>
                  </p:cNvSpPr>
                  <p:nvPr/>
                </p:nvSpPr>
                <p:spPr bwMode="auto">
                  <a:xfrm>
                    <a:off x="1027" y="0"/>
                    <a:ext cx="720" cy="576"/>
                  </a:xfrm>
                  <a:prstGeom prst="rect">
                    <a:avLst/>
                  </a:prstGeom>
                  <a:solidFill>
                    <a:srgbClr val="66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tabLst>
                        <a:tab pos="628650" algn="l"/>
                      </a:tabLst>
                      <a:defRPr>
                        <a:solidFill>
                          <a:schemeClr val="tx1"/>
                        </a:solidFill>
                        <a:latin typeface="Verdana" panose="020B0604030504040204" pitchFamily="34" charset="0"/>
                      </a:defRPr>
                    </a:lvl1pPr>
                    <a:lvl2pPr marL="742950" indent="-285750" eaLnBrk="0" hangingPunct="0">
                      <a:tabLst>
                        <a:tab pos="628650" algn="l"/>
                      </a:tabLst>
                      <a:defRPr>
                        <a:solidFill>
                          <a:schemeClr val="tx1"/>
                        </a:solidFill>
                        <a:latin typeface="Verdana" panose="020B0604030504040204" pitchFamily="34" charset="0"/>
                      </a:defRPr>
                    </a:lvl2pPr>
                    <a:lvl3pPr marL="1143000" indent="-228600" eaLnBrk="0" hangingPunct="0">
                      <a:tabLst>
                        <a:tab pos="628650" algn="l"/>
                      </a:tabLst>
                      <a:defRPr>
                        <a:solidFill>
                          <a:schemeClr val="tx1"/>
                        </a:solidFill>
                        <a:latin typeface="Verdana" panose="020B0604030504040204" pitchFamily="34" charset="0"/>
                      </a:defRPr>
                    </a:lvl3pPr>
                    <a:lvl4pPr marL="1600200" indent="-228600" eaLnBrk="0" hangingPunct="0">
                      <a:tabLst>
                        <a:tab pos="628650" algn="l"/>
                      </a:tabLst>
                      <a:defRPr>
                        <a:solidFill>
                          <a:schemeClr val="tx1"/>
                        </a:solidFill>
                        <a:latin typeface="Verdana" panose="020B0604030504040204" pitchFamily="34" charset="0"/>
                      </a:defRPr>
                    </a:lvl4pPr>
                    <a:lvl5pPr marL="2057400" indent="-228600" eaLnBrk="0" hangingPunct="0">
                      <a:tabLst>
                        <a:tab pos="628650" algn="l"/>
                      </a:tabLst>
                      <a:defRPr>
                        <a:solidFill>
                          <a:schemeClr val="tx1"/>
                        </a:solidFill>
                        <a:latin typeface="Verdana" panose="020B0604030504040204" pitchFamily="34" charset="0"/>
                      </a:defRPr>
                    </a:lvl5pPr>
                    <a:lvl6pPr marL="25146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6pPr>
                    <a:lvl7pPr marL="29718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7pPr>
                    <a:lvl8pPr marL="34290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8pPr>
                    <a:lvl9pPr marL="38862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9pPr>
                  </a:lstStyle>
                  <a:p>
                    <a:pPr algn="just" eaLnBrk="1" hangingPunct="1"/>
                    <a:r>
                      <a:rPr lang="es-ES" altLang="es-PE" sz="1000">
                        <a:solidFill>
                          <a:srgbClr val="FFFFFF"/>
                        </a:solidFill>
                        <a:latin typeface="Arial" panose="020B0604020202020204" pitchFamily="34" charset="0"/>
                        <a:cs typeface="Arial" panose="020B0604020202020204" pitchFamily="34" charset="0"/>
                      </a:rPr>
                      <a:t> </a:t>
                    </a:r>
                    <a:endParaRPr lang="es-ES" altLang="es-PE" sz="1000">
                      <a:latin typeface="Arial" panose="020B0604020202020204" pitchFamily="34" charset="0"/>
                      <a:cs typeface="Arial" panose="020B0604020202020204" pitchFamily="34" charset="0"/>
                    </a:endParaRPr>
                  </a:p>
                  <a:p>
                    <a:pPr algn="just"/>
                    <a:r>
                      <a:rPr lang="es-ES" altLang="es-PE" sz="900">
                        <a:solidFill>
                          <a:srgbClr val="FFFFFF"/>
                        </a:solidFill>
                        <a:latin typeface="Arial" panose="020B0604020202020204" pitchFamily="34" charset="0"/>
                        <a:cs typeface="Arial" panose="020B0604020202020204" pitchFamily="34" charset="0"/>
                      </a:rPr>
                      <a:t>ECUACIÓN</a:t>
                    </a:r>
                    <a:endParaRPr lang="es-ES" altLang="es-PE" sz="900">
                      <a:latin typeface="Arial" panose="020B0604020202020204" pitchFamily="34" charset="0"/>
                      <a:cs typeface="Arial" panose="020B0604020202020204" pitchFamily="34" charset="0"/>
                    </a:endParaRPr>
                  </a:p>
                  <a:p>
                    <a:r>
                      <a:rPr lang="es-ES" altLang="es-PE" sz="1000">
                        <a:solidFill>
                          <a:srgbClr val="FFFFFF"/>
                        </a:solidFill>
                        <a:latin typeface="Arial" panose="020B0604020202020204" pitchFamily="34" charset="0"/>
                        <a:cs typeface="Arial" panose="020B0604020202020204" pitchFamily="34" charset="0"/>
                      </a:rPr>
                      <a:t>         F </a:t>
                    </a:r>
                    <a:r>
                      <a:rPr lang="es-ES_tradnl" altLang="es-PE" sz="1000">
                        <a:solidFill>
                          <a:srgbClr val="FFFFFF"/>
                        </a:solidFill>
                        <a:latin typeface="Arial" panose="020B0604020202020204" pitchFamily="34" charset="0"/>
                        <a:cs typeface="Arial" panose="020B0604020202020204" pitchFamily="34" charset="0"/>
                      </a:rPr>
                      <a:t>              </a:t>
                    </a:r>
                    <a:r>
                      <a:rPr lang="es-ES" altLang="es-PE" sz="1000">
                        <a:solidFill>
                          <a:srgbClr val="FFFFFF"/>
                        </a:solidFill>
                        <a:latin typeface="Arial" panose="020B0604020202020204" pitchFamily="34" charset="0"/>
                        <a:cs typeface="Arial" panose="020B0604020202020204" pitchFamily="34" charset="0"/>
                      </a:rPr>
                      <a:t>(tiempo)</a:t>
                    </a:r>
                    <a:endParaRPr lang="es-ES" altLang="es-PE" sz="1000">
                      <a:latin typeface="Arial" panose="020B0604020202020204" pitchFamily="34" charset="0"/>
                      <a:cs typeface="Arial" panose="020B0604020202020204" pitchFamily="34" charset="0"/>
                    </a:endParaRPr>
                  </a:p>
                  <a:p>
                    <a:pPr algn="just"/>
                    <a:endParaRPr lang="es-ES" altLang="es-PE"/>
                  </a:p>
                </p:txBody>
              </p:sp>
              <p:sp>
                <p:nvSpPr>
                  <p:cNvPr id="2178" name="Rectangle 18"/>
                  <p:cNvSpPr>
                    <a:spLocks noChangeArrowheads="1"/>
                  </p:cNvSpPr>
                  <p:nvPr/>
                </p:nvSpPr>
                <p:spPr bwMode="auto">
                  <a:xfrm>
                    <a:off x="999" y="0"/>
                    <a:ext cx="776" cy="57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grpSp>
            <p:nvGrpSpPr>
              <p:cNvPr id="2134" name="Group 19"/>
              <p:cNvGrpSpPr>
                <a:grpSpLocks/>
              </p:cNvGrpSpPr>
              <p:nvPr/>
            </p:nvGrpSpPr>
            <p:grpSpPr bwMode="auto">
              <a:xfrm>
                <a:off x="1775" y="0"/>
                <a:ext cx="1311" cy="576"/>
                <a:chOff x="1775" y="0"/>
                <a:chExt cx="1311" cy="576"/>
              </a:xfrm>
            </p:grpSpPr>
            <p:sp>
              <p:nvSpPr>
                <p:cNvPr id="2171" name="Rectangle 20"/>
                <p:cNvSpPr>
                  <a:spLocks noChangeArrowheads="1"/>
                </p:cNvSpPr>
                <p:nvPr/>
              </p:nvSpPr>
              <p:spPr bwMode="auto">
                <a:xfrm>
                  <a:off x="1775" y="0"/>
                  <a:ext cx="1311" cy="576"/>
                </a:xfrm>
                <a:prstGeom prst="rect">
                  <a:avLst/>
                </a:prstGeom>
                <a:solidFill>
                  <a:srgbClr val="6666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nvGrpSpPr>
                <p:cNvPr id="2172" name="Group 21"/>
                <p:cNvGrpSpPr>
                  <a:grpSpLocks/>
                </p:cNvGrpSpPr>
                <p:nvPr/>
              </p:nvGrpSpPr>
              <p:grpSpPr bwMode="auto">
                <a:xfrm>
                  <a:off x="1775" y="0"/>
                  <a:ext cx="1311" cy="576"/>
                  <a:chOff x="1775" y="0"/>
                  <a:chExt cx="1311" cy="576"/>
                </a:xfrm>
              </p:grpSpPr>
              <p:sp>
                <p:nvSpPr>
                  <p:cNvPr id="2173" name="Rectangle 22"/>
                  <p:cNvSpPr>
                    <a:spLocks noChangeArrowheads="1"/>
                  </p:cNvSpPr>
                  <p:nvPr/>
                </p:nvSpPr>
                <p:spPr bwMode="auto">
                  <a:xfrm>
                    <a:off x="1803" y="0"/>
                    <a:ext cx="1255" cy="576"/>
                  </a:xfrm>
                  <a:prstGeom prst="rect">
                    <a:avLst/>
                  </a:prstGeom>
                  <a:solidFill>
                    <a:srgbClr val="66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tabLst>
                        <a:tab pos="628650" algn="l"/>
                      </a:tabLst>
                      <a:defRPr>
                        <a:solidFill>
                          <a:schemeClr val="tx1"/>
                        </a:solidFill>
                        <a:latin typeface="Verdana" panose="020B0604030504040204" pitchFamily="34" charset="0"/>
                      </a:defRPr>
                    </a:lvl1pPr>
                    <a:lvl2pPr marL="742950" indent="-285750" eaLnBrk="0" hangingPunct="0">
                      <a:tabLst>
                        <a:tab pos="628650" algn="l"/>
                      </a:tabLst>
                      <a:defRPr>
                        <a:solidFill>
                          <a:schemeClr val="tx1"/>
                        </a:solidFill>
                        <a:latin typeface="Verdana" panose="020B0604030504040204" pitchFamily="34" charset="0"/>
                      </a:defRPr>
                    </a:lvl2pPr>
                    <a:lvl3pPr marL="1143000" indent="-228600" eaLnBrk="0" hangingPunct="0">
                      <a:tabLst>
                        <a:tab pos="628650" algn="l"/>
                      </a:tabLst>
                      <a:defRPr>
                        <a:solidFill>
                          <a:schemeClr val="tx1"/>
                        </a:solidFill>
                        <a:latin typeface="Verdana" panose="020B0604030504040204" pitchFamily="34" charset="0"/>
                      </a:defRPr>
                    </a:lvl3pPr>
                    <a:lvl4pPr marL="1600200" indent="-228600" eaLnBrk="0" hangingPunct="0">
                      <a:tabLst>
                        <a:tab pos="628650" algn="l"/>
                      </a:tabLst>
                      <a:defRPr>
                        <a:solidFill>
                          <a:schemeClr val="tx1"/>
                        </a:solidFill>
                        <a:latin typeface="Verdana" panose="020B0604030504040204" pitchFamily="34" charset="0"/>
                      </a:defRPr>
                    </a:lvl4pPr>
                    <a:lvl5pPr marL="2057400" indent="-228600" eaLnBrk="0" hangingPunct="0">
                      <a:tabLst>
                        <a:tab pos="628650" algn="l"/>
                      </a:tabLst>
                      <a:defRPr>
                        <a:solidFill>
                          <a:schemeClr val="tx1"/>
                        </a:solidFill>
                        <a:latin typeface="Verdana" panose="020B0604030504040204" pitchFamily="34" charset="0"/>
                      </a:defRPr>
                    </a:lvl5pPr>
                    <a:lvl6pPr marL="25146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6pPr>
                    <a:lvl7pPr marL="29718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7pPr>
                    <a:lvl8pPr marL="34290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8pPr>
                    <a:lvl9pPr marL="38862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9pPr>
                  </a:lstStyle>
                  <a:p>
                    <a:pPr algn="ctr" eaLnBrk="1" hangingPunct="1"/>
                    <a:r>
                      <a:rPr lang="es-ES" altLang="es-PE" sz="1000">
                        <a:solidFill>
                          <a:srgbClr val="FFFFFF"/>
                        </a:solidFill>
                        <a:latin typeface="Arial" panose="020B0604020202020204" pitchFamily="34" charset="0"/>
                        <a:cs typeface="Arial" panose="020B0604020202020204" pitchFamily="34" charset="0"/>
                      </a:rPr>
                      <a:t> </a:t>
                    </a:r>
                    <a:endParaRPr lang="es-ES" altLang="es-PE" sz="1000">
                      <a:latin typeface="Arial" panose="020B0604020202020204" pitchFamily="34" charset="0"/>
                      <a:cs typeface="Arial" panose="020B0604020202020204" pitchFamily="34" charset="0"/>
                    </a:endParaRPr>
                  </a:p>
                  <a:p>
                    <a:pPr algn="ctr"/>
                    <a:r>
                      <a:rPr lang="es-ES" altLang="es-PE" sz="1000">
                        <a:solidFill>
                          <a:srgbClr val="FFFFFF"/>
                        </a:solidFill>
                        <a:latin typeface="Arial" panose="020B0604020202020204" pitchFamily="34" charset="0"/>
                        <a:cs typeface="Arial" panose="020B0604020202020204" pitchFamily="34" charset="0"/>
                      </a:rPr>
                      <a:t> Grafico</a:t>
                    </a:r>
                    <a:endParaRPr lang="es-ES" altLang="es-PE" sz="1000">
                      <a:latin typeface="Arial" panose="020B0604020202020204" pitchFamily="34" charset="0"/>
                      <a:cs typeface="Arial" panose="020B0604020202020204" pitchFamily="34" charset="0"/>
                    </a:endParaRPr>
                  </a:p>
                  <a:p>
                    <a:pPr algn="ctr"/>
                    <a:endParaRPr lang="es-ES" altLang="es-PE"/>
                  </a:p>
                </p:txBody>
              </p:sp>
              <p:sp>
                <p:nvSpPr>
                  <p:cNvPr id="2174" name="Rectangle 23"/>
                  <p:cNvSpPr>
                    <a:spLocks noChangeArrowheads="1"/>
                  </p:cNvSpPr>
                  <p:nvPr/>
                </p:nvSpPr>
                <p:spPr bwMode="auto">
                  <a:xfrm>
                    <a:off x="1775" y="0"/>
                    <a:ext cx="1311" cy="57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grpSp>
            <p:nvGrpSpPr>
              <p:cNvPr id="2135" name="Group 24"/>
              <p:cNvGrpSpPr>
                <a:grpSpLocks/>
              </p:cNvGrpSpPr>
              <p:nvPr/>
            </p:nvGrpSpPr>
            <p:grpSpPr bwMode="auto">
              <a:xfrm>
                <a:off x="0" y="576"/>
                <a:ext cx="999" cy="728"/>
                <a:chOff x="0" y="576"/>
                <a:chExt cx="999" cy="728"/>
              </a:xfrm>
            </p:grpSpPr>
            <p:sp>
              <p:nvSpPr>
                <p:cNvPr id="2169" name="Rectangle 25"/>
                <p:cNvSpPr>
                  <a:spLocks noChangeArrowheads="1"/>
                </p:cNvSpPr>
                <p:nvPr/>
              </p:nvSpPr>
              <p:spPr bwMode="auto">
                <a:xfrm>
                  <a:off x="28" y="576"/>
                  <a:ext cx="943" cy="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tabLst>
                      <a:tab pos="628650" algn="l"/>
                    </a:tabLst>
                    <a:defRPr>
                      <a:solidFill>
                        <a:schemeClr val="tx1"/>
                      </a:solidFill>
                      <a:latin typeface="Verdana" panose="020B0604030504040204" pitchFamily="34" charset="0"/>
                    </a:defRPr>
                  </a:lvl1pPr>
                  <a:lvl2pPr marL="742950" indent="-285750" eaLnBrk="0" hangingPunct="0">
                    <a:tabLst>
                      <a:tab pos="628650" algn="l"/>
                    </a:tabLst>
                    <a:defRPr>
                      <a:solidFill>
                        <a:schemeClr val="tx1"/>
                      </a:solidFill>
                      <a:latin typeface="Verdana" panose="020B0604030504040204" pitchFamily="34" charset="0"/>
                    </a:defRPr>
                  </a:lvl2pPr>
                  <a:lvl3pPr marL="1143000" indent="-228600" eaLnBrk="0" hangingPunct="0">
                    <a:tabLst>
                      <a:tab pos="628650" algn="l"/>
                    </a:tabLst>
                    <a:defRPr>
                      <a:solidFill>
                        <a:schemeClr val="tx1"/>
                      </a:solidFill>
                      <a:latin typeface="Verdana" panose="020B0604030504040204" pitchFamily="34" charset="0"/>
                    </a:defRPr>
                  </a:lvl3pPr>
                  <a:lvl4pPr marL="1600200" indent="-228600" eaLnBrk="0" hangingPunct="0">
                    <a:tabLst>
                      <a:tab pos="628650" algn="l"/>
                    </a:tabLst>
                    <a:defRPr>
                      <a:solidFill>
                        <a:schemeClr val="tx1"/>
                      </a:solidFill>
                      <a:latin typeface="Verdana" panose="020B0604030504040204" pitchFamily="34" charset="0"/>
                    </a:defRPr>
                  </a:lvl4pPr>
                  <a:lvl5pPr marL="2057400" indent="-228600" eaLnBrk="0" hangingPunct="0">
                    <a:tabLst>
                      <a:tab pos="628650" algn="l"/>
                    </a:tabLst>
                    <a:defRPr>
                      <a:solidFill>
                        <a:schemeClr val="tx1"/>
                      </a:solidFill>
                      <a:latin typeface="Verdana" panose="020B0604030504040204" pitchFamily="34" charset="0"/>
                    </a:defRPr>
                  </a:lvl5pPr>
                  <a:lvl6pPr marL="25146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6pPr>
                  <a:lvl7pPr marL="29718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7pPr>
                  <a:lvl8pPr marL="34290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8pPr>
                  <a:lvl9pPr marL="38862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9pPr>
                </a:lstStyle>
                <a:p>
                  <a:pPr algn="ctr" eaLnBrk="1" hangingPunct="1"/>
                  <a:r>
                    <a:rPr lang="es-ES" altLang="es-PE" sz="1000">
                      <a:latin typeface="Arial" panose="020B0604020202020204" pitchFamily="34" charset="0"/>
                      <a:cs typeface="Arial" panose="020B0604020202020204" pitchFamily="34" charset="0"/>
                    </a:rPr>
                    <a:t> </a:t>
                  </a:r>
                </a:p>
                <a:p>
                  <a:pPr algn="ctr"/>
                  <a:r>
                    <a:rPr lang="es-ES" altLang="es-PE" sz="1000">
                      <a:latin typeface="Arial" panose="020B0604020202020204" pitchFamily="34" charset="0"/>
                      <a:cs typeface="Arial" panose="020B0604020202020204" pitchFamily="34" charset="0"/>
                    </a:rPr>
                    <a:t> </a:t>
                  </a:r>
                </a:p>
                <a:p>
                  <a:pPr algn="ctr"/>
                  <a:r>
                    <a:rPr lang="es-ES" altLang="es-PE" sz="1000">
                      <a:latin typeface="Arial" panose="020B0604020202020204" pitchFamily="34" charset="0"/>
                      <a:cs typeface="Arial" panose="020B0604020202020204" pitchFamily="34" charset="0"/>
                    </a:rPr>
                    <a:t>Proy. Lineal</a:t>
                  </a:r>
                </a:p>
                <a:p>
                  <a:pPr algn="ctr"/>
                  <a:endParaRPr lang="es-ES" altLang="es-PE"/>
                </a:p>
              </p:txBody>
            </p:sp>
            <p:sp>
              <p:nvSpPr>
                <p:cNvPr id="2170" name="Rectangle 26"/>
                <p:cNvSpPr>
                  <a:spLocks noChangeArrowheads="1"/>
                </p:cNvSpPr>
                <p:nvPr/>
              </p:nvSpPr>
              <p:spPr bwMode="auto">
                <a:xfrm>
                  <a:off x="0" y="576"/>
                  <a:ext cx="999" cy="72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nvGrpSpPr>
              <p:cNvPr id="2136" name="Group 27"/>
              <p:cNvGrpSpPr>
                <a:grpSpLocks/>
              </p:cNvGrpSpPr>
              <p:nvPr/>
            </p:nvGrpSpPr>
            <p:grpSpPr bwMode="auto">
              <a:xfrm>
                <a:off x="999" y="576"/>
                <a:ext cx="776" cy="728"/>
                <a:chOff x="999" y="576"/>
                <a:chExt cx="776" cy="728"/>
              </a:xfrm>
            </p:grpSpPr>
            <p:sp>
              <p:nvSpPr>
                <p:cNvPr id="2167" name="Rectangle 28"/>
                <p:cNvSpPr>
                  <a:spLocks noChangeArrowheads="1"/>
                </p:cNvSpPr>
                <p:nvPr/>
              </p:nvSpPr>
              <p:spPr bwMode="auto">
                <a:xfrm>
                  <a:off x="1027" y="576"/>
                  <a:ext cx="720" cy="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tabLst>
                      <a:tab pos="628650" algn="l"/>
                    </a:tabLst>
                    <a:defRPr>
                      <a:solidFill>
                        <a:schemeClr val="tx1"/>
                      </a:solidFill>
                      <a:latin typeface="Verdana" panose="020B0604030504040204" pitchFamily="34" charset="0"/>
                    </a:defRPr>
                  </a:lvl1pPr>
                  <a:lvl2pPr marL="742950" indent="-285750" eaLnBrk="0" hangingPunct="0">
                    <a:tabLst>
                      <a:tab pos="628650" algn="l"/>
                    </a:tabLst>
                    <a:defRPr>
                      <a:solidFill>
                        <a:schemeClr val="tx1"/>
                      </a:solidFill>
                      <a:latin typeface="Verdana" panose="020B0604030504040204" pitchFamily="34" charset="0"/>
                    </a:defRPr>
                  </a:lvl2pPr>
                  <a:lvl3pPr marL="1143000" indent="-228600" eaLnBrk="0" hangingPunct="0">
                    <a:tabLst>
                      <a:tab pos="628650" algn="l"/>
                    </a:tabLst>
                    <a:defRPr>
                      <a:solidFill>
                        <a:schemeClr val="tx1"/>
                      </a:solidFill>
                      <a:latin typeface="Verdana" panose="020B0604030504040204" pitchFamily="34" charset="0"/>
                    </a:defRPr>
                  </a:lvl3pPr>
                  <a:lvl4pPr marL="1600200" indent="-228600" eaLnBrk="0" hangingPunct="0">
                    <a:tabLst>
                      <a:tab pos="628650" algn="l"/>
                    </a:tabLst>
                    <a:defRPr>
                      <a:solidFill>
                        <a:schemeClr val="tx1"/>
                      </a:solidFill>
                      <a:latin typeface="Verdana" panose="020B0604030504040204" pitchFamily="34" charset="0"/>
                    </a:defRPr>
                  </a:lvl4pPr>
                  <a:lvl5pPr marL="2057400" indent="-228600" eaLnBrk="0" hangingPunct="0">
                    <a:tabLst>
                      <a:tab pos="628650" algn="l"/>
                    </a:tabLst>
                    <a:defRPr>
                      <a:solidFill>
                        <a:schemeClr val="tx1"/>
                      </a:solidFill>
                      <a:latin typeface="Verdana" panose="020B0604030504040204" pitchFamily="34" charset="0"/>
                    </a:defRPr>
                  </a:lvl5pPr>
                  <a:lvl6pPr marL="25146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6pPr>
                  <a:lvl7pPr marL="29718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7pPr>
                  <a:lvl8pPr marL="34290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8pPr>
                  <a:lvl9pPr marL="38862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9pPr>
                </a:lstStyle>
                <a:p>
                  <a:pPr algn="just" eaLnBrk="1" hangingPunct="1"/>
                  <a:r>
                    <a:rPr lang="es-ES" altLang="es-PE" sz="1000">
                      <a:latin typeface="Arial" panose="020B0604020202020204" pitchFamily="34" charset="0"/>
                      <a:cs typeface="Arial" panose="020B0604020202020204" pitchFamily="34" charset="0"/>
                    </a:rPr>
                    <a:t> </a:t>
                  </a:r>
                </a:p>
                <a:p>
                  <a:pPr algn="just"/>
                  <a:r>
                    <a:rPr lang="es-ES" altLang="es-PE" sz="1000">
                      <a:latin typeface="Arial" panose="020B0604020202020204" pitchFamily="34" charset="0"/>
                      <a:cs typeface="Arial" panose="020B0604020202020204" pitchFamily="34" charset="0"/>
                    </a:rPr>
                    <a:t> </a:t>
                  </a:r>
                </a:p>
                <a:p>
                  <a:pPr algn="just"/>
                  <a:r>
                    <a:rPr lang="es-ES" altLang="es-PE" sz="1000">
                      <a:latin typeface="Arial" panose="020B0604020202020204" pitchFamily="34" charset="0"/>
                      <a:cs typeface="Arial" panose="020B0604020202020204" pitchFamily="34" charset="0"/>
                    </a:rPr>
                    <a:t>    </a:t>
                  </a:r>
                </a:p>
                <a:p>
                  <a:pPr algn="just"/>
                  <a:endParaRPr lang="es-ES" altLang="es-PE"/>
                </a:p>
              </p:txBody>
            </p:sp>
            <p:sp>
              <p:nvSpPr>
                <p:cNvPr id="2168" name="Rectangle 29"/>
                <p:cNvSpPr>
                  <a:spLocks noChangeArrowheads="1"/>
                </p:cNvSpPr>
                <p:nvPr/>
              </p:nvSpPr>
              <p:spPr bwMode="auto">
                <a:xfrm>
                  <a:off x="999" y="576"/>
                  <a:ext cx="776" cy="72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nvGrpSpPr>
              <p:cNvPr id="2137" name="Group 30"/>
              <p:cNvGrpSpPr>
                <a:grpSpLocks/>
              </p:cNvGrpSpPr>
              <p:nvPr/>
            </p:nvGrpSpPr>
            <p:grpSpPr bwMode="auto">
              <a:xfrm>
                <a:off x="1775" y="576"/>
                <a:ext cx="1311" cy="728"/>
                <a:chOff x="1775" y="576"/>
                <a:chExt cx="1311" cy="728"/>
              </a:xfrm>
            </p:grpSpPr>
            <p:sp>
              <p:nvSpPr>
                <p:cNvPr id="2165" name="Rectangle 31"/>
                <p:cNvSpPr>
                  <a:spLocks noChangeArrowheads="1"/>
                </p:cNvSpPr>
                <p:nvPr/>
              </p:nvSpPr>
              <p:spPr bwMode="auto">
                <a:xfrm>
                  <a:off x="1803" y="576"/>
                  <a:ext cx="1255" cy="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tabLst>
                      <a:tab pos="600075" algn="l"/>
                    </a:tabLst>
                    <a:defRPr>
                      <a:solidFill>
                        <a:schemeClr val="tx1"/>
                      </a:solidFill>
                      <a:latin typeface="Verdana" panose="020B0604030504040204" pitchFamily="34" charset="0"/>
                    </a:defRPr>
                  </a:lvl1pPr>
                  <a:lvl2pPr marL="742950" indent="-285750" eaLnBrk="0" hangingPunct="0">
                    <a:tabLst>
                      <a:tab pos="600075" algn="l"/>
                    </a:tabLst>
                    <a:defRPr>
                      <a:solidFill>
                        <a:schemeClr val="tx1"/>
                      </a:solidFill>
                      <a:latin typeface="Verdana" panose="020B0604030504040204" pitchFamily="34" charset="0"/>
                    </a:defRPr>
                  </a:lvl2pPr>
                  <a:lvl3pPr marL="1143000" indent="-228600" eaLnBrk="0" hangingPunct="0">
                    <a:tabLst>
                      <a:tab pos="600075" algn="l"/>
                    </a:tabLst>
                    <a:defRPr>
                      <a:solidFill>
                        <a:schemeClr val="tx1"/>
                      </a:solidFill>
                      <a:latin typeface="Verdana" panose="020B0604030504040204" pitchFamily="34" charset="0"/>
                    </a:defRPr>
                  </a:lvl3pPr>
                  <a:lvl4pPr marL="1600200" indent="-228600" eaLnBrk="0" hangingPunct="0">
                    <a:tabLst>
                      <a:tab pos="600075" algn="l"/>
                    </a:tabLst>
                    <a:defRPr>
                      <a:solidFill>
                        <a:schemeClr val="tx1"/>
                      </a:solidFill>
                      <a:latin typeface="Verdana" panose="020B0604030504040204" pitchFamily="34" charset="0"/>
                    </a:defRPr>
                  </a:lvl4pPr>
                  <a:lvl5pPr marL="2057400" indent="-228600" eaLnBrk="0" hangingPunct="0">
                    <a:tabLst>
                      <a:tab pos="600075" algn="l"/>
                    </a:tabLst>
                    <a:defRPr>
                      <a:solidFill>
                        <a:schemeClr val="tx1"/>
                      </a:solidFill>
                      <a:latin typeface="Verdana" panose="020B0604030504040204" pitchFamily="34" charset="0"/>
                    </a:defRPr>
                  </a:lvl5pPr>
                  <a:lvl6pPr marL="2514600" indent="-228600" eaLnBrk="0" fontAlgn="base" hangingPunct="0">
                    <a:spcBef>
                      <a:spcPct val="0"/>
                    </a:spcBef>
                    <a:spcAft>
                      <a:spcPct val="0"/>
                    </a:spcAft>
                    <a:tabLst>
                      <a:tab pos="600075" algn="l"/>
                    </a:tabLst>
                    <a:defRPr>
                      <a:solidFill>
                        <a:schemeClr val="tx1"/>
                      </a:solidFill>
                      <a:latin typeface="Verdana" panose="020B0604030504040204" pitchFamily="34" charset="0"/>
                    </a:defRPr>
                  </a:lvl6pPr>
                  <a:lvl7pPr marL="2971800" indent="-228600" eaLnBrk="0" fontAlgn="base" hangingPunct="0">
                    <a:spcBef>
                      <a:spcPct val="0"/>
                    </a:spcBef>
                    <a:spcAft>
                      <a:spcPct val="0"/>
                    </a:spcAft>
                    <a:tabLst>
                      <a:tab pos="600075" algn="l"/>
                    </a:tabLst>
                    <a:defRPr>
                      <a:solidFill>
                        <a:schemeClr val="tx1"/>
                      </a:solidFill>
                      <a:latin typeface="Verdana" panose="020B0604030504040204" pitchFamily="34" charset="0"/>
                    </a:defRPr>
                  </a:lvl7pPr>
                  <a:lvl8pPr marL="3429000" indent="-228600" eaLnBrk="0" fontAlgn="base" hangingPunct="0">
                    <a:spcBef>
                      <a:spcPct val="0"/>
                    </a:spcBef>
                    <a:spcAft>
                      <a:spcPct val="0"/>
                    </a:spcAft>
                    <a:tabLst>
                      <a:tab pos="600075" algn="l"/>
                    </a:tabLst>
                    <a:defRPr>
                      <a:solidFill>
                        <a:schemeClr val="tx1"/>
                      </a:solidFill>
                      <a:latin typeface="Verdana" panose="020B0604030504040204" pitchFamily="34" charset="0"/>
                    </a:defRPr>
                  </a:lvl8pPr>
                  <a:lvl9pPr marL="3886200" indent="-228600" eaLnBrk="0" fontAlgn="base" hangingPunct="0">
                    <a:spcBef>
                      <a:spcPct val="0"/>
                    </a:spcBef>
                    <a:spcAft>
                      <a:spcPct val="0"/>
                    </a:spcAft>
                    <a:tabLst>
                      <a:tab pos="600075" algn="l"/>
                    </a:tabLst>
                    <a:defRPr>
                      <a:solidFill>
                        <a:schemeClr val="tx1"/>
                      </a:solidFill>
                      <a:latin typeface="Verdana" panose="020B0604030504040204" pitchFamily="34" charset="0"/>
                    </a:defRPr>
                  </a:lvl9pPr>
                </a:lstStyle>
                <a:p>
                  <a:pPr eaLnBrk="1" hangingPunct="1"/>
                  <a:r>
                    <a:rPr lang="es-BO" altLang="es-PE" sz="1200">
                      <a:cs typeface="Times New Roman" panose="02020603050405020304" pitchFamily="18" charset="0"/>
                    </a:rPr>
                    <a:t> </a:t>
                  </a:r>
                </a:p>
                <a:p>
                  <a:r>
                    <a:rPr lang="es-BO" altLang="es-PE" sz="1200">
                      <a:cs typeface="Times New Roman" panose="02020603050405020304" pitchFamily="18" charset="0"/>
                    </a:rPr>
                    <a:t> </a:t>
                  </a:r>
                </a:p>
                <a:p>
                  <a:r>
                    <a:rPr lang="es-BO" altLang="es-PE" sz="1200">
                      <a:cs typeface="Times New Roman" panose="02020603050405020304" pitchFamily="18" charset="0"/>
                    </a:rPr>
                    <a:t>              </a:t>
                  </a:r>
                </a:p>
                <a:p>
                  <a:endParaRPr lang="es-BO" altLang="es-PE"/>
                </a:p>
              </p:txBody>
            </p:sp>
            <p:sp>
              <p:nvSpPr>
                <p:cNvPr id="2166" name="Rectangle 32"/>
                <p:cNvSpPr>
                  <a:spLocks noChangeArrowheads="1"/>
                </p:cNvSpPr>
                <p:nvPr/>
              </p:nvSpPr>
              <p:spPr bwMode="auto">
                <a:xfrm>
                  <a:off x="1775" y="576"/>
                  <a:ext cx="1311" cy="72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nvGrpSpPr>
              <p:cNvPr id="2138" name="Group 33"/>
              <p:cNvGrpSpPr>
                <a:grpSpLocks/>
              </p:cNvGrpSpPr>
              <p:nvPr/>
            </p:nvGrpSpPr>
            <p:grpSpPr bwMode="auto">
              <a:xfrm>
                <a:off x="0" y="1304"/>
                <a:ext cx="999" cy="863"/>
                <a:chOff x="0" y="1304"/>
                <a:chExt cx="999" cy="863"/>
              </a:xfrm>
            </p:grpSpPr>
            <p:sp>
              <p:nvSpPr>
                <p:cNvPr id="2163" name="Rectangle 34"/>
                <p:cNvSpPr>
                  <a:spLocks noChangeArrowheads="1"/>
                </p:cNvSpPr>
                <p:nvPr/>
              </p:nvSpPr>
              <p:spPr bwMode="auto">
                <a:xfrm>
                  <a:off x="28" y="1304"/>
                  <a:ext cx="943" cy="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tabLst>
                      <a:tab pos="628650" algn="l"/>
                    </a:tabLst>
                    <a:defRPr>
                      <a:solidFill>
                        <a:schemeClr val="tx1"/>
                      </a:solidFill>
                      <a:latin typeface="Verdana" panose="020B0604030504040204" pitchFamily="34" charset="0"/>
                    </a:defRPr>
                  </a:lvl1pPr>
                  <a:lvl2pPr marL="742950" indent="-285750" eaLnBrk="0" hangingPunct="0">
                    <a:tabLst>
                      <a:tab pos="628650" algn="l"/>
                    </a:tabLst>
                    <a:defRPr>
                      <a:solidFill>
                        <a:schemeClr val="tx1"/>
                      </a:solidFill>
                      <a:latin typeface="Verdana" panose="020B0604030504040204" pitchFamily="34" charset="0"/>
                    </a:defRPr>
                  </a:lvl2pPr>
                  <a:lvl3pPr marL="1143000" indent="-228600" eaLnBrk="0" hangingPunct="0">
                    <a:tabLst>
                      <a:tab pos="628650" algn="l"/>
                    </a:tabLst>
                    <a:defRPr>
                      <a:solidFill>
                        <a:schemeClr val="tx1"/>
                      </a:solidFill>
                      <a:latin typeface="Verdana" panose="020B0604030504040204" pitchFamily="34" charset="0"/>
                    </a:defRPr>
                  </a:lvl3pPr>
                  <a:lvl4pPr marL="1600200" indent="-228600" eaLnBrk="0" hangingPunct="0">
                    <a:tabLst>
                      <a:tab pos="628650" algn="l"/>
                    </a:tabLst>
                    <a:defRPr>
                      <a:solidFill>
                        <a:schemeClr val="tx1"/>
                      </a:solidFill>
                      <a:latin typeface="Verdana" panose="020B0604030504040204" pitchFamily="34" charset="0"/>
                    </a:defRPr>
                  </a:lvl4pPr>
                  <a:lvl5pPr marL="2057400" indent="-228600" eaLnBrk="0" hangingPunct="0">
                    <a:tabLst>
                      <a:tab pos="628650" algn="l"/>
                    </a:tabLst>
                    <a:defRPr>
                      <a:solidFill>
                        <a:schemeClr val="tx1"/>
                      </a:solidFill>
                      <a:latin typeface="Verdana" panose="020B0604030504040204" pitchFamily="34" charset="0"/>
                    </a:defRPr>
                  </a:lvl5pPr>
                  <a:lvl6pPr marL="25146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6pPr>
                  <a:lvl7pPr marL="29718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7pPr>
                  <a:lvl8pPr marL="34290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8pPr>
                  <a:lvl9pPr marL="38862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9pPr>
                </a:lstStyle>
                <a:p>
                  <a:pPr algn="ctr" eaLnBrk="1" hangingPunct="1"/>
                  <a:r>
                    <a:rPr lang="es-ES" altLang="es-PE" sz="1000">
                      <a:latin typeface="Arial" panose="020B0604020202020204" pitchFamily="34" charset="0"/>
                      <a:cs typeface="Arial" panose="020B0604020202020204" pitchFamily="34" charset="0"/>
                    </a:rPr>
                    <a:t> </a:t>
                  </a:r>
                </a:p>
                <a:p>
                  <a:pPr algn="ctr"/>
                  <a:r>
                    <a:rPr lang="es-ES" altLang="es-PE" sz="1000">
                      <a:latin typeface="Arial" panose="020B0604020202020204" pitchFamily="34" charset="0"/>
                      <a:cs typeface="Arial" panose="020B0604020202020204" pitchFamily="34" charset="0"/>
                    </a:rPr>
                    <a:t> </a:t>
                  </a:r>
                </a:p>
                <a:p>
                  <a:pPr algn="ctr"/>
                  <a:r>
                    <a:rPr lang="es-ES" altLang="es-PE" sz="1000">
                      <a:latin typeface="Arial" panose="020B0604020202020204" pitchFamily="34" charset="0"/>
                      <a:cs typeface="Arial" panose="020B0604020202020204" pitchFamily="34" charset="0"/>
                    </a:rPr>
                    <a:t>Proy. Exponencial</a:t>
                  </a:r>
                </a:p>
                <a:p>
                  <a:pPr algn="ctr"/>
                  <a:endParaRPr lang="es-ES" altLang="es-PE"/>
                </a:p>
              </p:txBody>
            </p:sp>
            <p:sp>
              <p:nvSpPr>
                <p:cNvPr id="2164" name="Rectangle 35"/>
                <p:cNvSpPr>
                  <a:spLocks noChangeArrowheads="1"/>
                </p:cNvSpPr>
                <p:nvPr/>
              </p:nvSpPr>
              <p:spPr bwMode="auto">
                <a:xfrm>
                  <a:off x="0" y="1304"/>
                  <a:ext cx="999" cy="86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nvGrpSpPr>
              <p:cNvPr id="2139" name="Group 36"/>
              <p:cNvGrpSpPr>
                <a:grpSpLocks/>
              </p:cNvGrpSpPr>
              <p:nvPr/>
            </p:nvGrpSpPr>
            <p:grpSpPr bwMode="auto">
              <a:xfrm>
                <a:off x="999" y="1304"/>
                <a:ext cx="776" cy="863"/>
                <a:chOff x="999" y="1304"/>
                <a:chExt cx="776" cy="863"/>
              </a:xfrm>
            </p:grpSpPr>
            <p:sp>
              <p:nvSpPr>
                <p:cNvPr id="2161" name="Rectangle 37"/>
                <p:cNvSpPr>
                  <a:spLocks noChangeArrowheads="1"/>
                </p:cNvSpPr>
                <p:nvPr/>
              </p:nvSpPr>
              <p:spPr bwMode="auto">
                <a:xfrm>
                  <a:off x="1027" y="1304"/>
                  <a:ext cx="720" cy="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tabLst>
                      <a:tab pos="628650" algn="l"/>
                    </a:tabLst>
                    <a:defRPr>
                      <a:solidFill>
                        <a:schemeClr val="tx1"/>
                      </a:solidFill>
                      <a:latin typeface="Verdana" panose="020B0604030504040204" pitchFamily="34" charset="0"/>
                    </a:defRPr>
                  </a:lvl1pPr>
                  <a:lvl2pPr marL="742950" indent="-285750" eaLnBrk="0" hangingPunct="0">
                    <a:tabLst>
                      <a:tab pos="628650" algn="l"/>
                    </a:tabLst>
                    <a:defRPr>
                      <a:solidFill>
                        <a:schemeClr val="tx1"/>
                      </a:solidFill>
                      <a:latin typeface="Verdana" panose="020B0604030504040204" pitchFamily="34" charset="0"/>
                    </a:defRPr>
                  </a:lvl2pPr>
                  <a:lvl3pPr marL="1143000" indent="-228600" eaLnBrk="0" hangingPunct="0">
                    <a:tabLst>
                      <a:tab pos="628650" algn="l"/>
                    </a:tabLst>
                    <a:defRPr>
                      <a:solidFill>
                        <a:schemeClr val="tx1"/>
                      </a:solidFill>
                      <a:latin typeface="Verdana" panose="020B0604030504040204" pitchFamily="34" charset="0"/>
                    </a:defRPr>
                  </a:lvl3pPr>
                  <a:lvl4pPr marL="1600200" indent="-228600" eaLnBrk="0" hangingPunct="0">
                    <a:tabLst>
                      <a:tab pos="628650" algn="l"/>
                    </a:tabLst>
                    <a:defRPr>
                      <a:solidFill>
                        <a:schemeClr val="tx1"/>
                      </a:solidFill>
                      <a:latin typeface="Verdana" panose="020B0604030504040204" pitchFamily="34" charset="0"/>
                    </a:defRPr>
                  </a:lvl4pPr>
                  <a:lvl5pPr marL="2057400" indent="-228600" eaLnBrk="0" hangingPunct="0">
                    <a:tabLst>
                      <a:tab pos="628650" algn="l"/>
                    </a:tabLst>
                    <a:defRPr>
                      <a:solidFill>
                        <a:schemeClr val="tx1"/>
                      </a:solidFill>
                      <a:latin typeface="Verdana" panose="020B0604030504040204" pitchFamily="34" charset="0"/>
                    </a:defRPr>
                  </a:lvl5pPr>
                  <a:lvl6pPr marL="25146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6pPr>
                  <a:lvl7pPr marL="29718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7pPr>
                  <a:lvl8pPr marL="34290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8pPr>
                  <a:lvl9pPr marL="38862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9pPr>
                </a:lstStyle>
                <a:p>
                  <a:pPr algn="just" eaLnBrk="1" hangingPunct="1"/>
                  <a:r>
                    <a:rPr lang="es-ES" altLang="es-PE" sz="1000">
                      <a:latin typeface="Arial" panose="020B0604020202020204" pitchFamily="34" charset="0"/>
                      <a:cs typeface="Arial" panose="020B0604020202020204" pitchFamily="34" charset="0"/>
                    </a:rPr>
                    <a:t> </a:t>
                  </a:r>
                </a:p>
                <a:p>
                  <a:pPr algn="just"/>
                  <a:r>
                    <a:rPr lang="es-ES" altLang="es-PE" sz="1000">
                      <a:latin typeface="Arial" panose="020B0604020202020204" pitchFamily="34" charset="0"/>
                      <a:cs typeface="Arial" panose="020B0604020202020204" pitchFamily="34" charset="0"/>
                    </a:rPr>
                    <a:t> </a:t>
                  </a:r>
                </a:p>
                <a:p>
                  <a:pPr algn="just"/>
                  <a:r>
                    <a:rPr lang="es-ES" altLang="es-PE" sz="1000">
                      <a:latin typeface="Arial" panose="020B0604020202020204" pitchFamily="34" charset="0"/>
                      <a:cs typeface="Arial" panose="020B0604020202020204" pitchFamily="34" charset="0"/>
                    </a:rPr>
                    <a:t>     </a:t>
                  </a:r>
                </a:p>
                <a:p>
                  <a:pPr algn="just"/>
                  <a:endParaRPr lang="es-ES" altLang="es-PE"/>
                </a:p>
              </p:txBody>
            </p:sp>
            <p:sp>
              <p:nvSpPr>
                <p:cNvPr id="2162" name="Rectangle 38"/>
                <p:cNvSpPr>
                  <a:spLocks noChangeArrowheads="1"/>
                </p:cNvSpPr>
                <p:nvPr/>
              </p:nvSpPr>
              <p:spPr bwMode="auto">
                <a:xfrm>
                  <a:off x="999" y="1304"/>
                  <a:ext cx="776" cy="86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nvGrpSpPr>
              <p:cNvPr id="2140" name="Group 39"/>
              <p:cNvGrpSpPr>
                <a:grpSpLocks/>
              </p:cNvGrpSpPr>
              <p:nvPr/>
            </p:nvGrpSpPr>
            <p:grpSpPr bwMode="auto">
              <a:xfrm>
                <a:off x="1775" y="1304"/>
                <a:ext cx="1311" cy="863"/>
                <a:chOff x="1775" y="1304"/>
                <a:chExt cx="1311" cy="863"/>
              </a:xfrm>
            </p:grpSpPr>
            <p:sp>
              <p:nvSpPr>
                <p:cNvPr id="2159" name="Rectangle 40"/>
                <p:cNvSpPr>
                  <a:spLocks noChangeArrowheads="1"/>
                </p:cNvSpPr>
                <p:nvPr/>
              </p:nvSpPr>
              <p:spPr bwMode="auto">
                <a:xfrm>
                  <a:off x="1803" y="1304"/>
                  <a:ext cx="1255" cy="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tabLst>
                      <a:tab pos="600075" algn="l"/>
                    </a:tabLst>
                    <a:defRPr>
                      <a:solidFill>
                        <a:schemeClr val="tx1"/>
                      </a:solidFill>
                      <a:latin typeface="Verdana" panose="020B0604030504040204" pitchFamily="34" charset="0"/>
                    </a:defRPr>
                  </a:lvl1pPr>
                  <a:lvl2pPr marL="742950" indent="-285750" eaLnBrk="0" hangingPunct="0">
                    <a:tabLst>
                      <a:tab pos="600075" algn="l"/>
                    </a:tabLst>
                    <a:defRPr>
                      <a:solidFill>
                        <a:schemeClr val="tx1"/>
                      </a:solidFill>
                      <a:latin typeface="Verdana" panose="020B0604030504040204" pitchFamily="34" charset="0"/>
                    </a:defRPr>
                  </a:lvl2pPr>
                  <a:lvl3pPr marL="1143000" indent="-228600" eaLnBrk="0" hangingPunct="0">
                    <a:tabLst>
                      <a:tab pos="600075" algn="l"/>
                    </a:tabLst>
                    <a:defRPr>
                      <a:solidFill>
                        <a:schemeClr val="tx1"/>
                      </a:solidFill>
                      <a:latin typeface="Verdana" panose="020B0604030504040204" pitchFamily="34" charset="0"/>
                    </a:defRPr>
                  </a:lvl3pPr>
                  <a:lvl4pPr marL="1600200" indent="-228600" eaLnBrk="0" hangingPunct="0">
                    <a:tabLst>
                      <a:tab pos="600075" algn="l"/>
                    </a:tabLst>
                    <a:defRPr>
                      <a:solidFill>
                        <a:schemeClr val="tx1"/>
                      </a:solidFill>
                      <a:latin typeface="Verdana" panose="020B0604030504040204" pitchFamily="34" charset="0"/>
                    </a:defRPr>
                  </a:lvl4pPr>
                  <a:lvl5pPr marL="2057400" indent="-228600" eaLnBrk="0" hangingPunct="0">
                    <a:tabLst>
                      <a:tab pos="600075" algn="l"/>
                    </a:tabLst>
                    <a:defRPr>
                      <a:solidFill>
                        <a:schemeClr val="tx1"/>
                      </a:solidFill>
                      <a:latin typeface="Verdana" panose="020B0604030504040204" pitchFamily="34" charset="0"/>
                    </a:defRPr>
                  </a:lvl5pPr>
                  <a:lvl6pPr marL="2514600" indent="-228600" eaLnBrk="0" fontAlgn="base" hangingPunct="0">
                    <a:spcBef>
                      <a:spcPct val="0"/>
                    </a:spcBef>
                    <a:spcAft>
                      <a:spcPct val="0"/>
                    </a:spcAft>
                    <a:tabLst>
                      <a:tab pos="600075" algn="l"/>
                    </a:tabLst>
                    <a:defRPr>
                      <a:solidFill>
                        <a:schemeClr val="tx1"/>
                      </a:solidFill>
                      <a:latin typeface="Verdana" panose="020B0604030504040204" pitchFamily="34" charset="0"/>
                    </a:defRPr>
                  </a:lvl6pPr>
                  <a:lvl7pPr marL="2971800" indent="-228600" eaLnBrk="0" fontAlgn="base" hangingPunct="0">
                    <a:spcBef>
                      <a:spcPct val="0"/>
                    </a:spcBef>
                    <a:spcAft>
                      <a:spcPct val="0"/>
                    </a:spcAft>
                    <a:tabLst>
                      <a:tab pos="600075" algn="l"/>
                    </a:tabLst>
                    <a:defRPr>
                      <a:solidFill>
                        <a:schemeClr val="tx1"/>
                      </a:solidFill>
                      <a:latin typeface="Verdana" panose="020B0604030504040204" pitchFamily="34" charset="0"/>
                    </a:defRPr>
                  </a:lvl7pPr>
                  <a:lvl8pPr marL="3429000" indent="-228600" eaLnBrk="0" fontAlgn="base" hangingPunct="0">
                    <a:spcBef>
                      <a:spcPct val="0"/>
                    </a:spcBef>
                    <a:spcAft>
                      <a:spcPct val="0"/>
                    </a:spcAft>
                    <a:tabLst>
                      <a:tab pos="600075" algn="l"/>
                    </a:tabLst>
                    <a:defRPr>
                      <a:solidFill>
                        <a:schemeClr val="tx1"/>
                      </a:solidFill>
                      <a:latin typeface="Verdana" panose="020B0604030504040204" pitchFamily="34" charset="0"/>
                    </a:defRPr>
                  </a:lvl8pPr>
                  <a:lvl9pPr marL="3886200" indent="-228600" eaLnBrk="0" fontAlgn="base" hangingPunct="0">
                    <a:spcBef>
                      <a:spcPct val="0"/>
                    </a:spcBef>
                    <a:spcAft>
                      <a:spcPct val="0"/>
                    </a:spcAft>
                    <a:tabLst>
                      <a:tab pos="600075" algn="l"/>
                    </a:tabLst>
                    <a:defRPr>
                      <a:solidFill>
                        <a:schemeClr val="tx1"/>
                      </a:solidFill>
                      <a:latin typeface="Verdana" panose="020B0604030504040204" pitchFamily="34" charset="0"/>
                    </a:defRPr>
                  </a:lvl9pPr>
                </a:lstStyle>
                <a:p>
                  <a:pPr eaLnBrk="1" hangingPunct="1"/>
                  <a:r>
                    <a:rPr lang="es-BO" altLang="es-PE" sz="1200">
                      <a:cs typeface="Times New Roman" panose="02020603050405020304" pitchFamily="18" charset="0"/>
                    </a:rPr>
                    <a:t> </a:t>
                  </a:r>
                </a:p>
                <a:p>
                  <a:r>
                    <a:rPr lang="es-BO" altLang="es-PE" sz="1200">
                      <a:cs typeface="Times New Roman" panose="02020603050405020304" pitchFamily="18" charset="0"/>
                    </a:rPr>
                    <a:t> </a:t>
                  </a:r>
                </a:p>
                <a:p>
                  <a:r>
                    <a:rPr lang="es-BO" altLang="es-PE" sz="1200">
                      <a:cs typeface="Times New Roman" panose="02020603050405020304" pitchFamily="18" charset="0"/>
                    </a:rPr>
                    <a:t> </a:t>
                  </a:r>
                </a:p>
                <a:p>
                  <a:r>
                    <a:rPr lang="es-BO" altLang="es-PE" sz="1200">
                      <a:cs typeface="Times New Roman" panose="02020603050405020304" pitchFamily="18" charset="0"/>
                    </a:rPr>
                    <a:t> </a:t>
                  </a:r>
                </a:p>
                <a:p>
                  <a:r>
                    <a:rPr lang="es-BO" altLang="es-PE" sz="1200">
                      <a:cs typeface="Times New Roman" panose="02020603050405020304" pitchFamily="18" charset="0"/>
                    </a:rPr>
                    <a:t> </a:t>
                  </a:r>
                </a:p>
                <a:p>
                  <a:endParaRPr lang="es-BO" altLang="es-PE"/>
                </a:p>
              </p:txBody>
            </p:sp>
            <p:sp>
              <p:nvSpPr>
                <p:cNvPr id="2160" name="Rectangle 41"/>
                <p:cNvSpPr>
                  <a:spLocks noChangeArrowheads="1"/>
                </p:cNvSpPr>
                <p:nvPr/>
              </p:nvSpPr>
              <p:spPr bwMode="auto">
                <a:xfrm>
                  <a:off x="1775" y="1304"/>
                  <a:ext cx="1311" cy="86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nvGrpSpPr>
              <p:cNvPr id="2141" name="Group 42"/>
              <p:cNvGrpSpPr>
                <a:grpSpLocks/>
              </p:cNvGrpSpPr>
              <p:nvPr/>
            </p:nvGrpSpPr>
            <p:grpSpPr bwMode="auto">
              <a:xfrm>
                <a:off x="0" y="2167"/>
                <a:ext cx="999" cy="978"/>
                <a:chOff x="0" y="2167"/>
                <a:chExt cx="999" cy="978"/>
              </a:xfrm>
            </p:grpSpPr>
            <p:sp>
              <p:nvSpPr>
                <p:cNvPr id="2157" name="Rectangle 43"/>
                <p:cNvSpPr>
                  <a:spLocks noChangeArrowheads="1"/>
                </p:cNvSpPr>
                <p:nvPr/>
              </p:nvSpPr>
              <p:spPr bwMode="auto">
                <a:xfrm>
                  <a:off x="28" y="2167"/>
                  <a:ext cx="943" cy="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tabLst>
                      <a:tab pos="628650" algn="l"/>
                    </a:tabLst>
                    <a:defRPr>
                      <a:solidFill>
                        <a:schemeClr val="tx1"/>
                      </a:solidFill>
                      <a:latin typeface="Verdana" panose="020B0604030504040204" pitchFamily="34" charset="0"/>
                    </a:defRPr>
                  </a:lvl1pPr>
                  <a:lvl2pPr marL="742950" indent="-285750" eaLnBrk="0" hangingPunct="0">
                    <a:tabLst>
                      <a:tab pos="628650" algn="l"/>
                    </a:tabLst>
                    <a:defRPr>
                      <a:solidFill>
                        <a:schemeClr val="tx1"/>
                      </a:solidFill>
                      <a:latin typeface="Verdana" panose="020B0604030504040204" pitchFamily="34" charset="0"/>
                    </a:defRPr>
                  </a:lvl2pPr>
                  <a:lvl3pPr marL="1143000" indent="-228600" eaLnBrk="0" hangingPunct="0">
                    <a:tabLst>
                      <a:tab pos="628650" algn="l"/>
                    </a:tabLst>
                    <a:defRPr>
                      <a:solidFill>
                        <a:schemeClr val="tx1"/>
                      </a:solidFill>
                      <a:latin typeface="Verdana" panose="020B0604030504040204" pitchFamily="34" charset="0"/>
                    </a:defRPr>
                  </a:lvl3pPr>
                  <a:lvl4pPr marL="1600200" indent="-228600" eaLnBrk="0" hangingPunct="0">
                    <a:tabLst>
                      <a:tab pos="628650" algn="l"/>
                    </a:tabLst>
                    <a:defRPr>
                      <a:solidFill>
                        <a:schemeClr val="tx1"/>
                      </a:solidFill>
                      <a:latin typeface="Verdana" panose="020B0604030504040204" pitchFamily="34" charset="0"/>
                    </a:defRPr>
                  </a:lvl4pPr>
                  <a:lvl5pPr marL="2057400" indent="-228600" eaLnBrk="0" hangingPunct="0">
                    <a:tabLst>
                      <a:tab pos="628650" algn="l"/>
                    </a:tabLst>
                    <a:defRPr>
                      <a:solidFill>
                        <a:schemeClr val="tx1"/>
                      </a:solidFill>
                      <a:latin typeface="Verdana" panose="020B0604030504040204" pitchFamily="34" charset="0"/>
                    </a:defRPr>
                  </a:lvl5pPr>
                  <a:lvl6pPr marL="25146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6pPr>
                  <a:lvl7pPr marL="29718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7pPr>
                  <a:lvl8pPr marL="34290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8pPr>
                  <a:lvl9pPr marL="38862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9pPr>
                </a:lstStyle>
                <a:p>
                  <a:pPr algn="ctr" eaLnBrk="1" hangingPunct="1"/>
                  <a:r>
                    <a:rPr lang="es-ES" altLang="es-PE" sz="1000">
                      <a:latin typeface="Arial" panose="020B0604020202020204" pitchFamily="34" charset="0"/>
                      <a:cs typeface="Arial" panose="020B0604020202020204" pitchFamily="34" charset="0"/>
                    </a:rPr>
                    <a:t> </a:t>
                  </a:r>
                </a:p>
                <a:p>
                  <a:pPr algn="ctr"/>
                  <a:r>
                    <a:rPr lang="es-ES" altLang="es-PE" sz="1000">
                      <a:latin typeface="Arial" panose="020B0604020202020204" pitchFamily="34" charset="0"/>
                      <a:cs typeface="Arial" panose="020B0604020202020204" pitchFamily="34" charset="0"/>
                    </a:rPr>
                    <a:t> </a:t>
                  </a:r>
                </a:p>
                <a:p>
                  <a:pPr algn="ctr"/>
                  <a:r>
                    <a:rPr lang="es-ES" altLang="es-PE" sz="1000">
                      <a:latin typeface="Arial" panose="020B0604020202020204" pitchFamily="34" charset="0"/>
                      <a:cs typeface="Arial" panose="020B0604020202020204" pitchFamily="34" charset="0"/>
                    </a:rPr>
                    <a:t>Proy. Potencial</a:t>
                  </a:r>
                </a:p>
                <a:p>
                  <a:pPr algn="ctr"/>
                  <a:endParaRPr lang="es-ES" altLang="es-PE"/>
                </a:p>
              </p:txBody>
            </p:sp>
            <p:sp>
              <p:nvSpPr>
                <p:cNvPr id="2158" name="Rectangle 44"/>
                <p:cNvSpPr>
                  <a:spLocks noChangeArrowheads="1"/>
                </p:cNvSpPr>
                <p:nvPr/>
              </p:nvSpPr>
              <p:spPr bwMode="auto">
                <a:xfrm>
                  <a:off x="0" y="2167"/>
                  <a:ext cx="999" cy="97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nvGrpSpPr>
              <p:cNvPr id="2142" name="Group 45"/>
              <p:cNvGrpSpPr>
                <a:grpSpLocks/>
              </p:cNvGrpSpPr>
              <p:nvPr/>
            </p:nvGrpSpPr>
            <p:grpSpPr bwMode="auto">
              <a:xfrm>
                <a:off x="999" y="2167"/>
                <a:ext cx="776" cy="978"/>
                <a:chOff x="999" y="2167"/>
                <a:chExt cx="776" cy="978"/>
              </a:xfrm>
            </p:grpSpPr>
            <p:sp>
              <p:nvSpPr>
                <p:cNvPr id="2155" name="Rectangle 46"/>
                <p:cNvSpPr>
                  <a:spLocks noChangeArrowheads="1"/>
                </p:cNvSpPr>
                <p:nvPr/>
              </p:nvSpPr>
              <p:spPr bwMode="auto">
                <a:xfrm>
                  <a:off x="1027" y="2167"/>
                  <a:ext cx="720" cy="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tabLst>
                      <a:tab pos="628650" algn="l"/>
                    </a:tabLst>
                    <a:defRPr>
                      <a:solidFill>
                        <a:schemeClr val="tx1"/>
                      </a:solidFill>
                      <a:latin typeface="Verdana" panose="020B0604030504040204" pitchFamily="34" charset="0"/>
                    </a:defRPr>
                  </a:lvl1pPr>
                  <a:lvl2pPr marL="742950" indent="-285750" eaLnBrk="0" hangingPunct="0">
                    <a:tabLst>
                      <a:tab pos="628650" algn="l"/>
                    </a:tabLst>
                    <a:defRPr>
                      <a:solidFill>
                        <a:schemeClr val="tx1"/>
                      </a:solidFill>
                      <a:latin typeface="Verdana" panose="020B0604030504040204" pitchFamily="34" charset="0"/>
                    </a:defRPr>
                  </a:lvl2pPr>
                  <a:lvl3pPr marL="1143000" indent="-228600" eaLnBrk="0" hangingPunct="0">
                    <a:tabLst>
                      <a:tab pos="628650" algn="l"/>
                    </a:tabLst>
                    <a:defRPr>
                      <a:solidFill>
                        <a:schemeClr val="tx1"/>
                      </a:solidFill>
                      <a:latin typeface="Verdana" panose="020B0604030504040204" pitchFamily="34" charset="0"/>
                    </a:defRPr>
                  </a:lvl3pPr>
                  <a:lvl4pPr marL="1600200" indent="-228600" eaLnBrk="0" hangingPunct="0">
                    <a:tabLst>
                      <a:tab pos="628650" algn="l"/>
                    </a:tabLst>
                    <a:defRPr>
                      <a:solidFill>
                        <a:schemeClr val="tx1"/>
                      </a:solidFill>
                      <a:latin typeface="Verdana" panose="020B0604030504040204" pitchFamily="34" charset="0"/>
                    </a:defRPr>
                  </a:lvl4pPr>
                  <a:lvl5pPr marL="2057400" indent="-228600" eaLnBrk="0" hangingPunct="0">
                    <a:tabLst>
                      <a:tab pos="628650" algn="l"/>
                    </a:tabLst>
                    <a:defRPr>
                      <a:solidFill>
                        <a:schemeClr val="tx1"/>
                      </a:solidFill>
                      <a:latin typeface="Verdana" panose="020B0604030504040204" pitchFamily="34" charset="0"/>
                    </a:defRPr>
                  </a:lvl5pPr>
                  <a:lvl6pPr marL="25146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6pPr>
                  <a:lvl7pPr marL="29718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7pPr>
                  <a:lvl8pPr marL="34290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8pPr>
                  <a:lvl9pPr marL="38862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9pPr>
                </a:lstStyle>
                <a:p>
                  <a:pPr algn="just" eaLnBrk="1" hangingPunct="1"/>
                  <a:r>
                    <a:rPr lang="es-ES" altLang="es-PE" sz="1000">
                      <a:latin typeface="Arial" panose="020B0604020202020204" pitchFamily="34" charset="0"/>
                      <a:cs typeface="Arial" panose="020B0604020202020204" pitchFamily="34" charset="0"/>
                    </a:rPr>
                    <a:t> </a:t>
                  </a:r>
                </a:p>
                <a:p>
                  <a:pPr algn="just"/>
                  <a:r>
                    <a:rPr lang="es-ES" altLang="es-PE" sz="1000">
                      <a:latin typeface="Arial" panose="020B0604020202020204" pitchFamily="34" charset="0"/>
                      <a:cs typeface="Arial" panose="020B0604020202020204" pitchFamily="34" charset="0"/>
                    </a:rPr>
                    <a:t> </a:t>
                  </a:r>
                </a:p>
                <a:p>
                  <a:pPr algn="just"/>
                  <a:endParaRPr lang="es-ES" altLang="es-PE"/>
                </a:p>
              </p:txBody>
            </p:sp>
            <p:sp>
              <p:nvSpPr>
                <p:cNvPr id="2156" name="Rectangle 47"/>
                <p:cNvSpPr>
                  <a:spLocks noChangeArrowheads="1"/>
                </p:cNvSpPr>
                <p:nvPr/>
              </p:nvSpPr>
              <p:spPr bwMode="auto">
                <a:xfrm>
                  <a:off x="999" y="2167"/>
                  <a:ext cx="776" cy="97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nvGrpSpPr>
              <p:cNvPr id="2143" name="Group 48"/>
              <p:cNvGrpSpPr>
                <a:grpSpLocks/>
              </p:cNvGrpSpPr>
              <p:nvPr/>
            </p:nvGrpSpPr>
            <p:grpSpPr bwMode="auto">
              <a:xfrm>
                <a:off x="1775" y="2167"/>
                <a:ext cx="1311" cy="978"/>
                <a:chOff x="1775" y="2167"/>
                <a:chExt cx="1311" cy="978"/>
              </a:xfrm>
            </p:grpSpPr>
            <p:sp>
              <p:nvSpPr>
                <p:cNvPr id="2153" name="Rectangle 49"/>
                <p:cNvSpPr>
                  <a:spLocks noChangeArrowheads="1"/>
                </p:cNvSpPr>
                <p:nvPr/>
              </p:nvSpPr>
              <p:spPr bwMode="auto">
                <a:xfrm>
                  <a:off x="1803" y="2167"/>
                  <a:ext cx="1255" cy="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tabLst>
                      <a:tab pos="600075" algn="l"/>
                    </a:tabLst>
                    <a:defRPr>
                      <a:solidFill>
                        <a:schemeClr val="tx1"/>
                      </a:solidFill>
                      <a:latin typeface="Verdana" panose="020B0604030504040204" pitchFamily="34" charset="0"/>
                    </a:defRPr>
                  </a:lvl1pPr>
                  <a:lvl2pPr marL="742950" indent="-285750" eaLnBrk="0" hangingPunct="0">
                    <a:tabLst>
                      <a:tab pos="600075" algn="l"/>
                    </a:tabLst>
                    <a:defRPr>
                      <a:solidFill>
                        <a:schemeClr val="tx1"/>
                      </a:solidFill>
                      <a:latin typeface="Verdana" panose="020B0604030504040204" pitchFamily="34" charset="0"/>
                    </a:defRPr>
                  </a:lvl2pPr>
                  <a:lvl3pPr marL="1143000" indent="-228600" eaLnBrk="0" hangingPunct="0">
                    <a:tabLst>
                      <a:tab pos="600075" algn="l"/>
                    </a:tabLst>
                    <a:defRPr>
                      <a:solidFill>
                        <a:schemeClr val="tx1"/>
                      </a:solidFill>
                      <a:latin typeface="Verdana" panose="020B0604030504040204" pitchFamily="34" charset="0"/>
                    </a:defRPr>
                  </a:lvl3pPr>
                  <a:lvl4pPr marL="1600200" indent="-228600" eaLnBrk="0" hangingPunct="0">
                    <a:tabLst>
                      <a:tab pos="600075" algn="l"/>
                    </a:tabLst>
                    <a:defRPr>
                      <a:solidFill>
                        <a:schemeClr val="tx1"/>
                      </a:solidFill>
                      <a:latin typeface="Verdana" panose="020B0604030504040204" pitchFamily="34" charset="0"/>
                    </a:defRPr>
                  </a:lvl4pPr>
                  <a:lvl5pPr marL="2057400" indent="-228600" eaLnBrk="0" hangingPunct="0">
                    <a:tabLst>
                      <a:tab pos="600075" algn="l"/>
                    </a:tabLst>
                    <a:defRPr>
                      <a:solidFill>
                        <a:schemeClr val="tx1"/>
                      </a:solidFill>
                      <a:latin typeface="Verdana" panose="020B0604030504040204" pitchFamily="34" charset="0"/>
                    </a:defRPr>
                  </a:lvl5pPr>
                  <a:lvl6pPr marL="2514600" indent="-228600" eaLnBrk="0" fontAlgn="base" hangingPunct="0">
                    <a:spcBef>
                      <a:spcPct val="0"/>
                    </a:spcBef>
                    <a:spcAft>
                      <a:spcPct val="0"/>
                    </a:spcAft>
                    <a:tabLst>
                      <a:tab pos="600075" algn="l"/>
                    </a:tabLst>
                    <a:defRPr>
                      <a:solidFill>
                        <a:schemeClr val="tx1"/>
                      </a:solidFill>
                      <a:latin typeface="Verdana" panose="020B0604030504040204" pitchFamily="34" charset="0"/>
                    </a:defRPr>
                  </a:lvl6pPr>
                  <a:lvl7pPr marL="2971800" indent="-228600" eaLnBrk="0" fontAlgn="base" hangingPunct="0">
                    <a:spcBef>
                      <a:spcPct val="0"/>
                    </a:spcBef>
                    <a:spcAft>
                      <a:spcPct val="0"/>
                    </a:spcAft>
                    <a:tabLst>
                      <a:tab pos="600075" algn="l"/>
                    </a:tabLst>
                    <a:defRPr>
                      <a:solidFill>
                        <a:schemeClr val="tx1"/>
                      </a:solidFill>
                      <a:latin typeface="Verdana" panose="020B0604030504040204" pitchFamily="34" charset="0"/>
                    </a:defRPr>
                  </a:lvl7pPr>
                  <a:lvl8pPr marL="3429000" indent="-228600" eaLnBrk="0" fontAlgn="base" hangingPunct="0">
                    <a:spcBef>
                      <a:spcPct val="0"/>
                    </a:spcBef>
                    <a:spcAft>
                      <a:spcPct val="0"/>
                    </a:spcAft>
                    <a:tabLst>
                      <a:tab pos="600075" algn="l"/>
                    </a:tabLst>
                    <a:defRPr>
                      <a:solidFill>
                        <a:schemeClr val="tx1"/>
                      </a:solidFill>
                      <a:latin typeface="Verdana" panose="020B0604030504040204" pitchFamily="34" charset="0"/>
                    </a:defRPr>
                  </a:lvl8pPr>
                  <a:lvl9pPr marL="3886200" indent="-228600" eaLnBrk="0" fontAlgn="base" hangingPunct="0">
                    <a:spcBef>
                      <a:spcPct val="0"/>
                    </a:spcBef>
                    <a:spcAft>
                      <a:spcPct val="0"/>
                    </a:spcAft>
                    <a:tabLst>
                      <a:tab pos="600075" algn="l"/>
                    </a:tabLst>
                    <a:defRPr>
                      <a:solidFill>
                        <a:schemeClr val="tx1"/>
                      </a:solidFill>
                      <a:latin typeface="Verdana" panose="020B0604030504040204" pitchFamily="34" charset="0"/>
                    </a:defRPr>
                  </a:lvl9pPr>
                </a:lstStyle>
                <a:p>
                  <a:pPr eaLnBrk="1" hangingPunct="1"/>
                  <a:r>
                    <a:rPr lang="es-BO" altLang="es-PE" sz="1200">
                      <a:cs typeface="Times New Roman" panose="02020603050405020304" pitchFamily="18" charset="0"/>
                    </a:rPr>
                    <a:t> </a:t>
                  </a:r>
                </a:p>
                <a:p>
                  <a:r>
                    <a:rPr lang="es-BO" altLang="es-PE" sz="1200">
                      <a:cs typeface="Times New Roman" panose="02020603050405020304" pitchFamily="18" charset="0"/>
                    </a:rPr>
                    <a:t> </a:t>
                  </a:r>
                </a:p>
                <a:p>
                  <a:r>
                    <a:rPr lang="es-BO" altLang="es-PE" sz="1200">
                      <a:cs typeface="Times New Roman" panose="02020603050405020304" pitchFamily="18" charset="0"/>
                    </a:rPr>
                    <a:t> </a:t>
                  </a:r>
                </a:p>
                <a:p>
                  <a:r>
                    <a:rPr lang="es-BO" altLang="es-PE" sz="1200">
                      <a:cs typeface="Times New Roman" panose="02020603050405020304" pitchFamily="18" charset="0"/>
                    </a:rPr>
                    <a:t> </a:t>
                  </a:r>
                </a:p>
                <a:p>
                  <a:r>
                    <a:rPr lang="es-BO" altLang="es-PE" sz="1200">
                      <a:cs typeface="Times New Roman" panose="02020603050405020304" pitchFamily="18" charset="0"/>
                    </a:rPr>
                    <a:t> </a:t>
                  </a:r>
                </a:p>
                <a:p>
                  <a:r>
                    <a:rPr lang="es-BO" altLang="es-PE" sz="1200">
                      <a:cs typeface="Times New Roman" panose="02020603050405020304" pitchFamily="18" charset="0"/>
                    </a:rPr>
                    <a:t> </a:t>
                  </a:r>
                </a:p>
                <a:p>
                  <a:endParaRPr lang="es-BO" altLang="es-PE"/>
                </a:p>
              </p:txBody>
            </p:sp>
            <p:sp>
              <p:nvSpPr>
                <p:cNvPr id="2154" name="Rectangle 50"/>
                <p:cNvSpPr>
                  <a:spLocks noChangeArrowheads="1"/>
                </p:cNvSpPr>
                <p:nvPr/>
              </p:nvSpPr>
              <p:spPr bwMode="auto">
                <a:xfrm>
                  <a:off x="1775" y="2167"/>
                  <a:ext cx="1311" cy="97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nvGrpSpPr>
              <p:cNvPr id="2144" name="Group 51"/>
              <p:cNvGrpSpPr>
                <a:grpSpLocks/>
              </p:cNvGrpSpPr>
              <p:nvPr/>
            </p:nvGrpSpPr>
            <p:grpSpPr bwMode="auto">
              <a:xfrm>
                <a:off x="0" y="3145"/>
                <a:ext cx="999" cy="748"/>
                <a:chOff x="0" y="3145"/>
                <a:chExt cx="999" cy="748"/>
              </a:xfrm>
            </p:grpSpPr>
            <p:sp>
              <p:nvSpPr>
                <p:cNvPr id="2151" name="Rectangle 52"/>
                <p:cNvSpPr>
                  <a:spLocks noChangeArrowheads="1"/>
                </p:cNvSpPr>
                <p:nvPr/>
              </p:nvSpPr>
              <p:spPr bwMode="auto">
                <a:xfrm>
                  <a:off x="28" y="3145"/>
                  <a:ext cx="943"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tabLst>
                      <a:tab pos="628650" algn="l"/>
                    </a:tabLst>
                    <a:defRPr>
                      <a:solidFill>
                        <a:schemeClr val="tx1"/>
                      </a:solidFill>
                      <a:latin typeface="Verdana" panose="020B0604030504040204" pitchFamily="34" charset="0"/>
                    </a:defRPr>
                  </a:lvl1pPr>
                  <a:lvl2pPr marL="742950" indent="-285750" eaLnBrk="0" hangingPunct="0">
                    <a:tabLst>
                      <a:tab pos="628650" algn="l"/>
                    </a:tabLst>
                    <a:defRPr>
                      <a:solidFill>
                        <a:schemeClr val="tx1"/>
                      </a:solidFill>
                      <a:latin typeface="Verdana" panose="020B0604030504040204" pitchFamily="34" charset="0"/>
                    </a:defRPr>
                  </a:lvl2pPr>
                  <a:lvl3pPr marL="1143000" indent="-228600" eaLnBrk="0" hangingPunct="0">
                    <a:tabLst>
                      <a:tab pos="628650" algn="l"/>
                    </a:tabLst>
                    <a:defRPr>
                      <a:solidFill>
                        <a:schemeClr val="tx1"/>
                      </a:solidFill>
                      <a:latin typeface="Verdana" panose="020B0604030504040204" pitchFamily="34" charset="0"/>
                    </a:defRPr>
                  </a:lvl3pPr>
                  <a:lvl4pPr marL="1600200" indent="-228600" eaLnBrk="0" hangingPunct="0">
                    <a:tabLst>
                      <a:tab pos="628650" algn="l"/>
                    </a:tabLst>
                    <a:defRPr>
                      <a:solidFill>
                        <a:schemeClr val="tx1"/>
                      </a:solidFill>
                      <a:latin typeface="Verdana" panose="020B0604030504040204" pitchFamily="34" charset="0"/>
                    </a:defRPr>
                  </a:lvl4pPr>
                  <a:lvl5pPr marL="2057400" indent="-228600" eaLnBrk="0" hangingPunct="0">
                    <a:tabLst>
                      <a:tab pos="628650" algn="l"/>
                    </a:tabLst>
                    <a:defRPr>
                      <a:solidFill>
                        <a:schemeClr val="tx1"/>
                      </a:solidFill>
                      <a:latin typeface="Verdana" panose="020B0604030504040204" pitchFamily="34" charset="0"/>
                    </a:defRPr>
                  </a:lvl5pPr>
                  <a:lvl6pPr marL="25146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6pPr>
                  <a:lvl7pPr marL="29718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7pPr>
                  <a:lvl8pPr marL="34290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8pPr>
                  <a:lvl9pPr marL="38862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9pPr>
                </a:lstStyle>
                <a:p>
                  <a:pPr algn="ctr" eaLnBrk="1" hangingPunct="1"/>
                  <a:r>
                    <a:rPr lang="es-ES" altLang="es-PE" sz="1000">
                      <a:latin typeface="Arial" panose="020B0604020202020204" pitchFamily="34" charset="0"/>
                      <a:cs typeface="Arial" panose="020B0604020202020204" pitchFamily="34" charset="0"/>
                    </a:rPr>
                    <a:t> </a:t>
                  </a:r>
                </a:p>
                <a:p>
                  <a:pPr algn="ctr"/>
                  <a:r>
                    <a:rPr lang="es-ES" altLang="es-PE" sz="1000">
                      <a:latin typeface="Arial" panose="020B0604020202020204" pitchFamily="34" charset="0"/>
                      <a:cs typeface="Arial" panose="020B0604020202020204" pitchFamily="34" charset="0"/>
                    </a:rPr>
                    <a:t> </a:t>
                  </a:r>
                </a:p>
                <a:p>
                  <a:pPr algn="ctr"/>
                  <a:r>
                    <a:rPr lang="es-ES" altLang="es-PE" sz="1000">
                      <a:latin typeface="Arial" panose="020B0604020202020204" pitchFamily="34" charset="0"/>
                      <a:cs typeface="Arial" panose="020B0604020202020204" pitchFamily="34" charset="0"/>
                    </a:rPr>
                    <a:t>Proy. Logarítmica</a:t>
                  </a:r>
                </a:p>
                <a:p>
                  <a:pPr algn="ctr"/>
                  <a:endParaRPr lang="es-ES" altLang="es-PE"/>
                </a:p>
              </p:txBody>
            </p:sp>
            <p:sp>
              <p:nvSpPr>
                <p:cNvPr id="2152" name="Rectangle 53"/>
                <p:cNvSpPr>
                  <a:spLocks noChangeArrowheads="1"/>
                </p:cNvSpPr>
                <p:nvPr/>
              </p:nvSpPr>
              <p:spPr bwMode="auto">
                <a:xfrm>
                  <a:off x="0" y="3145"/>
                  <a:ext cx="999" cy="74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nvGrpSpPr>
              <p:cNvPr id="2145" name="Group 54"/>
              <p:cNvGrpSpPr>
                <a:grpSpLocks/>
              </p:cNvGrpSpPr>
              <p:nvPr/>
            </p:nvGrpSpPr>
            <p:grpSpPr bwMode="auto">
              <a:xfrm>
                <a:off x="999" y="3145"/>
                <a:ext cx="776" cy="748"/>
                <a:chOff x="999" y="3145"/>
                <a:chExt cx="776" cy="748"/>
              </a:xfrm>
            </p:grpSpPr>
            <p:sp>
              <p:nvSpPr>
                <p:cNvPr id="2149" name="Rectangle 55"/>
                <p:cNvSpPr>
                  <a:spLocks noChangeArrowheads="1"/>
                </p:cNvSpPr>
                <p:nvPr/>
              </p:nvSpPr>
              <p:spPr bwMode="auto">
                <a:xfrm>
                  <a:off x="1027" y="3145"/>
                  <a:ext cx="720"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tabLst>
                      <a:tab pos="628650" algn="l"/>
                    </a:tabLst>
                    <a:defRPr>
                      <a:solidFill>
                        <a:schemeClr val="tx1"/>
                      </a:solidFill>
                      <a:latin typeface="Verdana" panose="020B0604030504040204" pitchFamily="34" charset="0"/>
                    </a:defRPr>
                  </a:lvl1pPr>
                  <a:lvl2pPr marL="742950" indent="-285750" eaLnBrk="0" hangingPunct="0">
                    <a:tabLst>
                      <a:tab pos="628650" algn="l"/>
                    </a:tabLst>
                    <a:defRPr>
                      <a:solidFill>
                        <a:schemeClr val="tx1"/>
                      </a:solidFill>
                      <a:latin typeface="Verdana" panose="020B0604030504040204" pitchFamily="34" charset="0"/>
                    </a:defRPr>
                  </a:lvl2pPr>
                  <a:lvl3pPr marL="1143000" indent="-228600" eaLnBrk="0" hangingPunct="0">
                    <a:tabLst>
                      <a:tab pos="628650" algn="l"/>
                    </a:tabLst>
                    <a:defRPr>
                      <a:solidFill>
                        <a:schemeClr val="tx1"/>
                      </a:solidFill>
                      <a:latin typeface="Verdana" panose="020B0604030504040204" pitchFamily="34" charset="0"/>
                    </a:defRPr>
                  </a:lvl3pPr>
                  <a:lvl4pPr marL="1600200" indent="-228600" eaLnBrk="0" hangingPunct="0">
                    <a:tabLst>
                      <a:tab pos="628650" algn="l"/>
                    </a:tabLst>
                    <a:defRPr>
                      <a:solidFill>
                        <a:schemeClr val="tx1"/>
                      </a:solidFill>
                      <a:latin typeface="Verdana" panose="020B0604030504040204" pitchFamily="34" charset="0"/>
                    </a:defRPr>
                  </a:lvl4pPr>
                  <a:lvl5pPr marL="2057400" indent="-228600" eaLnBrk="0" hangingPunct="0">
                    <a:tabLst>
                      <a:tab pos="628650" algn="l"/>
                    </a:tabLst>
                    <a:defRPr>
                      <a:solidFill>
                        <a:schemeClr val="tx1"/>
                      </a:solidFill>
                      <a:latin typeface="Verdana" panose="020B0604030504040204" pitchFamily="34" charset="0"/>
                    </a:defRPr>
                  </a:lvl5pPr>
                  <a:lvl6pPr marL="25146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6pPr>
                  <a:lvl7pPr marL="29718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7pPr>
                  <a:lvl8pPr marL="34290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8pPr>
                  <a:lvl9pPr marL="38862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9pPr>
                </a:lstStyle>
                <a:p>
                  <a:pPr algn="ctr" eaLnBrk="1" hangingPunct="1"/>
                  <a:r>
                    <a:rPr lang="es-ES" altLang="es-PE" sz="1000">
                      <a:latin typeface="Arial" panose="020B0604020202020204" pitchFamily="34" charset="0"/>
                      <a:cs typeface="Arial" panose="020B0604020202020204" pitchFamily="34" charset="0"/>
                    </a:rPr>
                    <a:t> </a:t>
                  </a:r>
                </a:p>
                <a:p>
                  <a:pPr algn="ctr"/>
                  <a:r>
                    <a:rPr lang="es-ES" altLang="es-PE" sz="1000">
                      <a:latin typeface="Arial" panose="020B0604020202020204" pitchFamily="34" charset="0"/>
                      <a:cs typeface="Arial" panose="020B0604020202020204" pitchFamily="34" charset="0"/>
                    </a:rPr>
                    <a:t> </a:t>
                  </a:r>
                </a:p>
                <a:p>
                  <a:pPr algn="ctr"/>
                  <a:endParaRPr lang="es-ES" altLang="es-PE"/>
                </a:p>
              </p:txBody>
            </p:sp>
            <p:sp>
              <p:nvSpPr>
                <p:cNvPr id="2150" name="Rectangle 56"/>
                <p:cNvSpPr>
                  <a:spLocks noChangeArrowheads="1"/>
                </p:cNvSpPr>
                <p:nvPr/>
              </p:nvSpPr>
              <p:spPr bwMode="auto">
                <a:xfrm>
                  <a:off x="999" y="3145"/>
                  <a:ext cx="776" cy="74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nvGrpSpPr>
              <p:cNvPr id="2146" name="Group 57"/>
              <p:cNvGrpSpPr>
                <a:grpSpLocks/>
              </p:cNvGrpSpPr>
              <p:nvPr/>
            </p:nvGrpSpPr>
            <p:grpSpPr bwMode="auto">
              <a:xfrm>
                <a:off x="1775" y="3145"/>
                <a:ext cx="1311" cy="748"/>
                <a:chOff x="1775" y="3145"/>
                <a:chExt cx="1311" cy="748"/>
              </a:xfrm>
            </p:grpSpPr>
            <p:sp>
              <p:nvSpPr>
                <p:cNvPr id="2147" name="Rectangle 58"/>
                <p:cNvSpPr>
                  <a:spLocks noChangeArrowheads="1"/>
                </p:cNvSpPr>
                <p:nvPr/>
              </p:nvSpPr>
              <p:spPr bwMode="auto">
                <a:xfrm>
                  <a:off x="1803" y="3145"/>
                  <a:ext cx="1255"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lstStyle>
                  <a:lvl1pPr eaLnBrk="0" hangingPunct="0">
                    <a:tabLst>
                      <a:tab pos="600075" algn="l"/>
                    </a:tabLst>
                    <a:defRPr>
                      <a:solidFill>
                        <a:schemeClr val="tx1"/>
                      </a:solidFill>
                      <a:latin typeface="Verdana" panose="020B0604030504040204" pitchFamily="34" charset="0"/>
                    </a:defRPr>
                  </a:lvl1pPr>
                  <a:lvl2pPr marL="742950" indent="-285750" eaLnBrk="0" hangingPunct="0">
                    <a:tabLst>
                      <a:tab pos="600075" algn="l"/>
                    </a:tabLst>
                    <a:defRPr>
                      <a:solidFill>
                        <a:schemeClr val="tx1"/>
                      </a:solidFill>
                      <a:latin typeface="Verdana" panose="020B0604030504040204" pitchFamily="34" charset="0"/>
                    </a:defRPr>
                  </a:lvl2pPr>
                  <a:lvl3pPr marL="1143000" indent="-228600" eaLnBrk="0" hangingPunct="0">
                    <a:tabLst>
                      <a:tab pos="600075" algn="l"/>
                    </a:tabLst>
                    <a:defRPr>
                      <a:solidFill>
                        <a:schemeClr val="tx1"/>
                      </a:solidFill>
                      <a:latin typeface="Verdana" panose="020B0604030504040204" pitchFamily="34" charset="0"/>
                    </a:defRPr>
                  </a:lvl3pPr>
                  <a:lvl4pPr marL="1600200" indent="-228600" eaLnBrk="0" hangingPunct="0">
                    <a:tabLst>
                      <a:tab pos="600075" algn="l"/>
                    </a:tabLst>
                    <a:defRPr>
                      <a:solidFill>
                        <a:schemeClr val="tx1"/>
                      </a:solidFill>
                      <a:latin typeface="Verdana" panose="020B0604030504040204" pitchFamily="34" charset="0"/>
                    </a:defRPr>
                  </a:lvl4pPr>
                  <a:lvl5pPr marL="2057400" indent="-228600" eaLnBrk="0" hangingPunct="0">
                    <a:tabLst>
                      <a:tab pos="600075" algn="l"/>
                    </a:tabLst>
                    <a:defRPr>
                      <a:solidFill>
                        <a:schemeClr val="tx1"/>
                      </a:solidFill>
                      <a:latin typeface="Verdana" panose="020B0604030504040204" pitchFamily="34" charset="0"/>
                    </a:defRPr>
                  </a:lvl5pPr>
                  <a:lvl6pPr marL="2514600" indent="-228600" eaLnBrk="0" fontAlgn="base" hangingPunct="0">
                    <a:spcBef>
                      <a:spcPct val="0"/>
                    </a:spcBef>
                    <a:spcAft>
                      <a:spcPct val="0"/>
                    </a:spcAft>
                    <a:tabLst>
                      <a:tab pos="600075" algn="l"/>
                    </a:tabLst>
                    <a:defRPr>
                      <a:solidFill>
                        <a:schemeClr val="tx1"/>
                      </a:solidFill>
                      <a:latin typeface="Verdana" panose="020B0604030504040204" pitchFamily="34" charset="0"/>
                    </a:defRPr>
                  </a:lvl6pPr>
                  <a:lvl7pPr marL="2971800" indent="-228600" eaLnBrk="0" fontAlgn="base" hangingPunct="0">
                    <a:spcBef>
                      <a:spcPct val="0"/>
                    </a:spcBef>
                    <a:spcAft>
                      <a:spcPct val="0"/>
                    </a:spcAft>
                    <a:tabLst>
                      <a:tab pos="600075" algn="l"/>
                    </a:tabLst>
                    <a:defRPr>
                      <a:solidFill>
                        <a:schemeClr val="tx1"/>
                      </a:solidFill>
                      <a:latin typeface="Verdana" panose="020B0604030504040204" pitchFamily="34" charset="0"/>
                    </a:defRPr>
                  </a:lvl7pPr>
                  <a:lvl8pPr marL="3429000" indent="-228600" eaLnBrk="0" fontAlgn="base" hangingPunct="0">
                    <a:spcBef>
                      <a:spcPct val="0"/>
                    </a:spcBef>
                    <a:spcAft>
                      <a:spcPct val="0"/>
                    </a:spcAft>
                    <a:tabLst>
                      <a:tab pos="600075" algn="l"/>
                    </a:tabLst>
                    <a:defRPr>
                      <a:solidFill>
                        <a:schemeClr val="tx1"/>
                      </a:solidFill>
                      <a:latin typeface="Verdana" panose="020B0604030504040204" pitchFamily="34" charset="0"/>
                    </a:defRPr>
                  </a:lvl8pPr>
                  <a:lvl9pPr marL="3886200" indent="-228600" eaLnBrk="0" fontAlgn="base" hangingPunct="0">
                    <a:spcBef>
                      <a:spcPct val="0"/>
                    </a:spcBef>
                    <a:spcAft>
                      <a:spcPct val="0"/>
                    </a:spcAft>
                    <a:tabLst>
                      <a:tab pos="600075" algn="l"/>
                    </a:tabLst>
                    <a:defRPr>
                      <a:solidFill>
                        <a:schemeClr val="tx1"/>
                      </a:solidFill>
                      <a:latin typeface="Verdana" panose="020B0604030504040204" pitchFamily="34" charset="0"/>
                    </a:defRPr>
                  </a:lvl9pPr>
                </a:lstStyle>
                <a:p>
                  <a:pPr eaLnBrk="1" hangingPunct="1"/>
                  <a:r>
                    <a:rPr lang="es-BO" altLang="es-PE" sz="1000">
                      <a:latin typeface="Arial Unicode MS" panose="020B0604020202020204" pitchFamily="34" charset="-128"/>
                      <a:cs typeface="Times New Roman" panose="02020603050405020304" pitchFamily="18" charset="0"/>
                    </a:rPr>
                    <a:t> </a:t>
                  </a:r>
                  <a:r>
                    <a:rPr lang="es-ES" altLang="es-PE" sz="1400"/>
                    <a:t> </a:t>
                  </a:r>
                  <a:endParaRPr lang="es-BO" altLang="es-PE" sz="1200">
                    <a:cs typeface="Times New Roman" panose="02020603050405020304" pitchFamily="18" charset="0"/>
                  </a:endParaRPr>
                </a:p>
                <a:p>
                  <a:r>
                    <a:rPr lang="es-BO" altLang="es-PE" sz="1200">
                      <a:cs typeface="Times New Roman" panose="02020603050405020304" pitchFamily="18" charset="0"/>
                    </a:rPr>
                    <a:t> </a:t>
                  </a:r>
                </a:p>
                <a:p>
                  <a:endParaRPr lang="es-BO" altLang="es-PE"/>
                </a:p>
              </p:txBody>
            </p:sp>
            <p:sp>
              <p:nvSpPr>
                <p:cNvPr id="2148" name="Rectangle 59"/>
                <p:cNvSpPr>
                  <a:spLocks noChangeArrowheads="1"/>
                </p:cNvSpPr>
                <p:nvPr/>
              </p:nvSpPr>
              <p:spPr bwMode="auto">
                <a:xfrm>
                  <a:off x="1775" y="3145"/>
                  <a:ext cx="1311" cy="74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sp>
          <p:nvSpPr>
            <p:cNvPr id="2131" name="Rectangle 60"/>
            <p:cNvSpPr>
              <a:spLocks noChangeArrowheads="1"/>
            </p:cNvSpPr>
            <p:nvPr/>
          </p:nvSpPr>
          <p:spPr bwMode="auto">
            <a:xfrm>
              <a:off x="-3" y="-3"/>
              <a:ext cx="3092" cy="3899"/>
            </a:xfrm>
            <a:prstGeom prst="rect">
              <a:avLst/>
            </a:prstGeom>
            <a:noFill/>
            <a:ln w="11112">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aphicFrame>
        <p:nvGraphicFramePr>
          <p:cNvPr id="2050" name="Object 2"/>
          <p:cNvGraphicFramePr>
            <a:graphicFrameLocks noChangeAspect="1"/>
          </p:cNvGraphicFramePr>
          <p:nvPr/>
        </p:nvGraphicFramePr>
        <p:xfrm>
          <a:off x="3200401" y="3048001"/>
          <a:ext cx="695325" cy="142875"/>
        </p:xfrm>
        <a:graphic>
          <a:graphicData uri="http://schemas.openxmlformats.org/presentationml/2006/ole">
            <mc:AlternateContent xmlns:mc="http://schemas.openxmlformats.org/markup-compatibility/2006">
              <mc:Choice xmlns:v="urn:schemas-microsoft-com:vml" Requires="v">
                <p:oleObj spid="_x0000_s4385" r:id="rId3" imgW="698500" imgH="139700" progId="Equation.3">
                  <p:embed/>
                </p:oleObj>
              </mc:Choice>
              <mc:Fallback>
                <p:oleObj r:id="rId3" imgW="698500" imgH="139700" progId="Equation.3">
                  <p:embed/>
                  <p:pic>
                    <p:nvPicPr>
                      <p:cNvPr id="205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1" y="3048001"/>
                        <a:ext cx="695325" cy="142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1" name="Object 3"/>
          <p:cNvGraphicFramePr>
            <a:graphicFrameLocks noChangeAspect="1"/>
          </p:cNvGraphicFramePr>
          <p:nvPr/>
        </p:nvGraphicFramePr>
        <p:xfrm>
          <a:off x="3200400" y="3886200"/>
          <a:ext cx="762000" cy="266700"/>
        </p:xfrm>
        <a:graphic>
          <a:graphicData uri="http://schemas.openxmlformats.org/presentationml/2006/ole">
            <mc:AlternateContent xmlns:mc="http://schemas.openxmlformats.org/markup-compatibility/2006">
              <mc:Choice xmlns:v="urn:schemas-microsoft-com:vml" Requires="v">
                <p:oleObj spid="_x0000_s4386" r:id="rId5" imgW="545863" imgH="190417" progId="Equation.3">
                  <p:embed/>
                </p:oleObj>
              </mc:Choice>
              <mc:Fallback>
                <p:oleObj r:id="rId5" imgW="545863" imgH="190417" progId="Equation.3">
                  <p:embed/>
                  <p:pic>
                    <p:nvPicPr>
                      <p:cNvPr id="2051"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400" y="3886200"/>
                        <a:ext cx="762000" cy="266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2" name="Object 4"/>
          <p:cNvGraphicFramePr>
            <a:graphicFrameLocks noChangeAspect="1"/>
          </p:cNvGraphicFramePr>
          <p:nvPr/>
        </p:nvGraphicFramePr>
        <p:xfrm>
          <a:off x="3200400" y="4876800"/>
          <a:ext cx="609600" cy="230188"/>
        </p:xfrm>
        <a:graphic>
          <a:graphicData uri="http://schemas.openxmlformats.org/presentationml/2006/ole">
            <mc:AlternateContent xmlns:mc="http://schemas.openxmlformats.org/markup-compatibility/2006">
              <mc:Choice xmlns:v="urn:schemas-microsoft-com:vml" Requires="v">
                <p:oleObj spid="_x0000_s4387" r:id="rId7" imgW="508000" imgH="190500" progId="Equation.3">
                  <p:embed/>
                </p:oleObj>
              </mc:Choice>
              <mc:Fallback>
                <p:oleObj r:id="rId7" imgW="508000" imgH="190500" progId="Equation.3">
                  <p:embed/>
                  <p:pic>
                    <p:nvPicPr>
                      <p:cNvPr id="2052"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0400" y="4876800"/>
                        <a:ext cx="609600" cy="230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3" name="Object 5"/>
          <p:cNvGraphicFramePr>
            <a:graphicFrameLocks noChangeAspect="1"/>
          </p:cNvGraphicFramePr>
          <p:nvPr/>
        </p:nvGraphicFramePr>
        <p:xfrm>
          <a:off x="3124201" y="5867400"/>
          <a:ext cx="809625" cy="190500"/>
        </p:xfrm>
        <a:graphic>
          <a:graphicData uri="http://schemas.openxmlformats.org/presentationml/2006/ole">
            <mc:AlternateContent xmlns:mc="http://schemas.openxmlformats.org/markup-compatibility/2006">
              <mc:Choice xmlns:v="urn:schemas-microsoft-com:vml" Requires="v">
                <p:oleObj spid="_x0000_s4388" r:id="rId9" imgW="812447" imgH="190417" progId="Equation.3">
                  <p:embed/>
                </p:oleObj>
              </mc:Choice>
              <mc:Fallback>
                <p:oleObj r:id="rId9" imgW="812447" imgH="190417" progId="Equation.3">
                  <p:embed/>
                  <p:pic>
                    <p:nvPicPr>
                      <p:cNvPr id="2053"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4201" y="5867400"/>
                        <a:ext cx="809625" cy="190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059" name="Group 65"/>
          <p:cNvGrpSpPr>
            <a:grpSpLocks/>
          </p:cNvGrpSpPr>
          <p:nvPr/>
        </p:nvGrpSpPr>
        <p:grpSpPr bwMode="auto">
          <a:xfrm>
            <a:off x="4114800" y="2743200"/>
            <a:ext cx="1219200" cy="647700"/>
            <a:chOff x="6984" y="6850"/>
            <a:chExt cx="2250" cy="1260"/>
          </a:xfrm>
        </p:grpSpPr>
        <p:sp>
          <p:nvSpPr>
            <p:cNvPr id="2126" name="Line 66"/>
            <p:cNvSpPr>
              <a:spLocks noChangeShapeType="1"/>
            </p:cNvSpPr>
            <p:nvPr/>
          </p:nvSpPr>
          <p:spPr bwMode="auto">
            <a:xfrm flipV="1">
              <a:off x="7074" y="6850"/>
              <a:ext cx="0" cy="12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2127" name="Line 67"/>
            <p:cNvSpPr>
              <a:spLocks noChangeShapeType="1"/>
            </p:cNvSpPr>
            <p:nvPr/>
          </p:nvSpPr>
          <p:spPr bwMode="auto">
            <a:xfrm flipV="1">
              <a:off x="7084" y="7033"/>
              <a:ext cx="1885" cy="54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2128" name="AutoShape 68"/>
            <p:cNvSpPr>
              <a:spLocks/>
            </p:cNvSpPr>
            <p:nvPr/>
          </p:nvSpPr>
          <p:spPr bwMode="auto">
            <a:xfrm>
              <a:off x="7254" y="7570"/>
              <a:ext cx="90" cy="360"/>
            </a:xfrm>
            <a:prstGeom prst="rightBrace">
              <a:avLst>
                <a:gd name="adj1" fmla="val 33333"/>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sp>
          <p:nvSpPr>
            <p:cNvPr id="2129" name="Line 69"/>
            <p:cNvSpPr>
              <a:spLocks noChangeShapeType="1"/>
            </p:cNvSpPr>
            <p:nvPr/>
          </p:nvSpPr>
          <p:spPr bwMode="auto">
            <a:xfrm>
              <a:off x="6984" y="7930"/>
              <a:ext cx="22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grpSp>
      <p:grpSp>
        <p:nvGrpSpPr>
          <p:cNvPr id="2060" name="Group 70"/>
          <p:cNvGrpSpPr>
            <a:grpSpLocks/>
          </p:cNvGrpSpPr>
          <p:nvPr/>
        </p:nvGrpSpPr>
        <p:grpSpPr bwMode="auto">
          <a:xfrm>
            <a:off x="4038600" y="3581400"/>
            <a:ext cx="1219200" cy="800100"/>
            <a:chOff x="6804" y="8654"/>
            <a:chExt cx="2340" cy="1260"/>
          </a:xfrm>
        </p:grpSpPr>
        <p:sp>
          <p:nvSpPr>
            <p:cNvPr id="2123" name="Line 71"/>
            <p:cNvSpPr>
              <a:spLocks noChangeShapeType="1"/>
            </p:cNvSpPr>
            <p:nvPr/>
          </p:nvSpPr>
          <p:spPr bwMode="auto">
            <a:xfrm>
              <a:off x="6984" y="9734"/>
              <a:ext cx="21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2124" name="Line 72"/>
            <p:cNvSpPr>
              <a:spLocks noChangeShapeType="1"/>
            </p:cNvSpPr>
            <p:nvPr/>
          </p:nvSpPr>
          <p:spPr bwMode="auto">
            <a:xfrm flipV="1">
              <a:off x="7074" y="8654"/>
              <a:ext cx="0" cy="12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2125" name="Freeform 73"/>
            <p:cNvSpPr>
              <a:spLocks/>
            </p:cNvSpPr>
            <p:nvPr/>
          </p:nvSpPr>
          <p:spPr bwMode="auto">
            <a:xfrm>
              <a:off x="6804" y="8654"/>
              <a:ext cx="810" cy="1080"/>
            </a:xfrm>
            <a:custGeom>
              <a:avLst/>
              <a:gdLst>
                <a:gd name="T0" fmla="*/ 0 w 750"/>
                <a:gd name="T1" fmla="*/ 1080 h 1260"/>
                <a:gd name="T2" fmla="*/ 583 w 750"/>
                <a:gd name="T3" fmla="*/ 926 h 1260"/>
                <a:gd name="T4" fmla="*/ 778 w 750"/>
                <a:gd name="T5" fmla="*/ 154 h 1260"/>
                <a:gd name="T6" fmla="*/ 778 w 750"/>
                <a:gd name="T7" fmla="*/ 0 h 1260"/>
                <a:gd name="T8" fmla="*/ 0 60000 65536"/>
                <a:gd name="T9" fmla="*/ 0 60000 65536"/>
                <a:gd name="T10" fmla="*/ 0 60000 65536"/>
                <a:gd name="T11" fmla="*/ 0 60000 65536"/>
                <a:gd name="T12" fmla="*/ 0 w 750"/>
                <a:gd name="T13" fmla="*/ 0 h 1260"/>
                <a:gd name="T14" fmla="*/ 750 w 750"/>
                <a:gd name="T15" fmla="*/ 1260 h 1260"/>
              </a:gdLst>
              <a:ahLst/>
              <a:cxnLst>
                <a:cxn ang="T8">
                  <a:pos x="T0" y="T1"/>
                </a:cxn>
                <a:cxn ang="T9">
                  <a:pos x="T2" y="T3"/>
                </a:cxn>
                <a:cxn ang="T10">
                  <a:pos x="T4" y="T5"/>
                </a:cxn>
                <a:cxn ang="T11">
                  <a:pos x="T6" y="T7"/>
                </a:cxn>
              </a:cxnLst>
              <a:rect l="T12" t="T13" r="T14" b="T15"/>
              <a:pathLst>
                <a:path w="750" h="1260">
                  <a:moveTo>
                    <a:pt x="0" y="1260"/>
                  </a:moveTo>
                  <a:cubicBezTo>
                    <a:pt x="210" y="1260"/>
                    <a:pt x="420" y="1260"/>
                    <a:pt x="540" y="1080"/>
                  </a:cubicBezTo>
                  <a:cubicBezTo>
                    <a:pt x="660" y="900"/>
                    <a:pt x="690" y="360"/>
                    <a:pt x="720" y="180"/>
                  </a:cubicBezTo>
                  <a:cubicBezTo>
                    <a:pt x="750" y="0"/>
                    <a:pt x="735" y="0"/>
                    <a:pt x="720" y="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nvGrpSpPr>
          <p:cNvPr id="2061" name="Group 74"/>
          <p:cNvGrpSpPr>
            <a:grpSpLocks/>
          </p:cNvGrpSpPr>
          <p:nvPr/>
        </p:nvGrpSpPr>
        <p:grpSpPr bwMode="auto">
          <a:xfrm>
            <a:off x="4038600" y="4572000"/>
            <a:ext cx="1295400" cy="800100"/>
            <a:chOff x="6809" y="10390"/>
            <a:chExt cx="2430" cy="1260"/>
          </a:xfrm>
        </p:grpSpPr>
        <p:sp>
          <p:nvSpPr>
            <p:cNvPr id="2120" name="Line 75"/>
            <p:cNvSpPr>
              <a:spLocks noChangeShapeType="1"/>
            </p:cNvSpPr>
            <p:nvPr/>
          </p:nvSpPr>
          <p:spPr bwMode="auto">
            <a:xfrm>
              <a:off x="6809" y="11470"/>
              <a:ext cx="243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2121" name="Line 76"/>
            <p:cNvSpPr>
              <a:spLocks noChangeShapeType="1"/>
            </p:cNvSpPr>
            <p:nvPr/>
          </p:nvSpPr>
          <p:spPr bwMode="auto">
            <a:xfrm flipV="1">
              <a:off x="7079" y="10390"/>
              <a:ext cx="0" cy="12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2122" name="Freeform 77"/>
            <p:cNvSpPr>
              <a:spLocks/>
            </p:cNvSpPr>
            <p:nvPr/>
          </p:nvSpPr>
          <p:spPr bwMode="auto">
            <a:xfrm>
              <a:off x="7259" y="10930"/>
              <a:ext cx="1620" cy="570"/>
            </a:xfrm>
            <a:custGeom>
              <a:avLst/>
              <a:gdLst>
                <a:gd name="T0" fmla="*/ 0 w 1620"/>
                <a:gd name="T1" fmla="*/ 570 h 570"/>
                <a:gd name="T2" fmla="*/ 180 w 1620"/>
                <a:gd name="T3" fmla="*/ 210 h 570"/>
                <a:gd name="T4" fmla="*/ 990 w 1620"/>
                <a:gd name="T5" fmla="*/ 30 h 570"/>
                <a:gd name="T6" fmla="*/ 1620 w 1620"/>
                <a:gd name="T7" fmla="*/ 30 h 570"/>
                <a:gd name="T8" fmla="*/ 0 60000 65536"/>
                <a:gd name="T9" fmla="*/ 0 60000 65536"/>
                <a:gd name="T10" fmla="*/ 0 60000 65536"/>
                <a:gd name="T11" fmla="*/ 0 60000 65536"/>
                <a:gd name="T12" fmla="*/ 0 w 1620"/>
                <a:gd name="T13" fmla="*/ 0 h 570"/>
                <a:gd name="T14" fmla="*/ 1620 w 1620"/>
                <a:gd name="T15" fmla="*/ 570 h 570"/>
              </a:gdLst>
              <a:ahLst/>
              <a:cxnLst>
                <a:cxn ang="T8">
                  <a:pos x="T0" y="T1"/>
                </a:cxn>
                <a:cxn ang="T9">
                  <a:pos x="T2" y="T3"/>
                </a:cxn>
                <a:cxn ang="T10">
                  <a:pos x="T4" y="T5"/>
                </a:cxn>
                <a:cxn ang="T11">
                  <a:pos x="T6" y="T7"/>
                </a:cxn>
              </a:cxnLst>
              <a:rect l="T12" t="T13" r="T14" b="T15"/>
              <a:pathLst>
                <a:path w="1620" h="570">
                  <a:moveTo>
                    <a:pt x="0" y="570"/>
                  </a:moveTo>
                  <a:cubicBezTo>
                    <a:pt x="7" y="435"/>
                    <a:pt x="15" y="300"/>
                    <a:pt x="180" y="210"/>
                  </a:cubicBezTo>
                  <a:cubicBezTo>
                    <a:pt x="345" y="120"/>
                    <a:pt x="750" y="60"/>
                    <a:pt x="990" y="30"/>
                  </a:cubicBezTo>
                  <a:cubicBezTo>
                    <a:pt x="1230" y="0"/>
                    <a:pt x="1425" y="15"/>
                    <a:pt x="1620" y="3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nvGrpSpPr>
          <p:cNvPr id="2062" name="Group 78"/>
          <p:cNvGrpSpPr>
            <a:grpSpLocks/>
          </p:cNvGrpSpPr>
          <p:nvPr/>
        </p:nvGrpSpPr>
        <p:grpSpPr bwMode="auto">
          <a:xfrm>
            <a:off x="4038600" y="5562600"/>
            <a:ext cx="1295400" cy="762000"/>
            <a:chOff x="6804" y="12368"/>
            <a:chExt cx="2520" cy="1440"/>
          </a:xfrm>
        </p:grpSpPr>
        <p:sp>
          <p:nvSpPr>
            <p:cNvPr id="2117" name="Line 79"/>
            <p:cNvSpPr>
              <a:spLocks noChangeShapeType="1"/>
            </p:cNvSpPr>
            <p:nvPr/>
          </p:nvSpPr>
          <p:spPr bwMode="auto">
            <a:xfrm>
              <a:off x="6804" y="13582"/>
              <a:ext cx="25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2118" name="Line 80"/>
            <p:cNvSpPr>
              <a:spLocks noChangeShapeType="1"/>
            </p:cNvSpPr>
            <p:nvPr/>
          </p:nvSpPr>
          <p:spPr bwMode="auto">
            <a:xfrm flipV="1">
              <a:off x="7074" y="12368"/>
              <a:ext cx="0" cy="14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2119" name="Freeform 81"/>
            <p:cNvSpPr>
              <a:spLocks/>
            </p:cNvSpPr>
            <p:nvPr/>
          </p:nvSpPr>
          <p:spPr bwMode="auto">
            <a:xfrm>
              <a:off x="7074" y="13012"/>
              <a:ext cx="1800" cy="570"/>
            </a:xfrm>
            <a:custGeom>
              <a:avLst/>
              <a:gdLst>
                <a:gd name="T0" fmla="*/ 0 w 1800"/>
                <a:gd name="T1" fmla="*/ 570 h 570"/>
                <a:gd name="T2" fmla="*/ 180 w 1800"/>
                <a:gd name="T3" fmla="*/ 210 h 570"/>
                <a:gd name="T4" fmla="*/ 900 w 1800"/>
                <a:gd name="T5" fmla="*/ 30 h 570"/>
                <a:gd name="T6" fmla="*/ 1800 w 1800"/>
                <a:gd name="T7" fmla="*/ 30 h 570"/>
                <a:gd name="T8" fmla="*/ 0 60000 65536"/>
                <a:gd name="T9" fmla="*/ 0 60000 65536"/>
                <a:gd name="T10" fmla="*/ 0 60000 65536"/>
                <a:gd name="T11" fmla="*/ 0 60000 65536"/>
                <a:gd name="T12" fmla="*/ 0 w 1800"/>
                <a:gd name="T13" fmla="*/ 0 h 570"/>
                <a:gd name="T14" fmla="*/ 1800 w 1800"/>
                <a:gd name="T15" fmla="*/ 570 h 570"/>
              </a:gdLst>
              <a:ahLst/>
              <a:cxnLst>
                <a:cxn ang="T8">
                  <a:pos x="T0" y="T1"/>
                </a:cxn>
                <a:cxn ang="T9">
                  <a:pos x="T2" y="T3"/>
                </a:cxn>
                <a:cxn ang="T10">
                  <a:pos x="T4" y="T5"/>
                </a:cxn>
                <a:cxn ang="T11">
                  <a:pos x="T6" y="T7"/>
                </a:cxn>
              </a:cxnLst>
              <a:rect l="T12" t="T13" r="T14" b="T15"/>
              <a:pathLst>
                <a:path w="1800" h="570">
                  <a:moveTo>
                    <a:pt x="0" y="570"/>
                  </a:moveTo>
                  <a:cubicBezTo>
                    <a:pt x="15" y="435"/>
                    <a:pt x="30" y="300"/>
                    <a:pt x="180" y="210"/>
                  </a:cubicBezTo>
                  <a:cubicBezTo>
                    <a:pt x="330" y="120"/>
                    <a:pt x="630" y="60"/>
                    <a:pt x="900" y="30"/>
                  </a:cubicBezTo>
                  <a:cubicBezTo>
                    <a:pt x="1170" y="0"/>
                    <a:pt x="1485" y="15"/>
                    <a:pt x="1800" y="3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nvGrpSpPr>
          <p:cNvPr id="2063" name="Group 82"/>
          <p:cNvGrpSpPr>
            <a:grpSpLocks/>
          </p:cNvGrpSpPr>
          <p:nvPr/>
        </p:nvGrpSpPr>
        <p:grpSpPr bwMode="auto">
          <a:xfrm>
            <a:off x="6400800" y="1981200"/>
            <a:ext cx="3729038" cy="4419600"/>
            <a:chOff x="-3" y="-3"/>
            <a:chExt cx="3069" cy="2983"/>
          </a:xfrm>
        </p:grpSpPr>
        <p:grpSp>
          <p:nvGrpSpPr>
            <p:cNvPr id="2082" name="Group 83"/>
            <p:cNvGrpSpPr>
              <a:grpSpLocks/>
            </p:cNvGrpSpPr>
            <p:nvPr/>
          </p:nvGrpSpPr>
          <p:grpSpPr bwMode="auto">
            <a:xfrm>
              <a:off x="0" y="0"/>
              <a:ext cx="3063" cy="2977"/>
              <a:chOff x="0" y="0"/>
              <a:chExt cx="3063" cy="2977"/>
            </a:xfrm>
          </p:grpSpPr>
          <p:grpSp>
            <p:nvGrpSpPr>
              <p:cNvPr id="2084" name="Group 84"/>
              <p:cNvGrpSpPr>
                <a:grpSpLocks/>
              </p:cNvGrpSpPr>
              <p:nvPr/>
            </p:nvGrpSpPr>
            <p:grpSpPr bwMode="auto">
              <a:xfrm>
                <a:off x="0" y="0"/>
                <a:ext cx="1000" cy="576"/>
                <a:chOff x="0" y="0"/>
                <a:chExt cx="1000" cy="576"/>
              </a:xfrm>
            </p:grpSpPr>
            <p:sp>
              <p:nvSpPr>
                <p:cNvPr id="2113" name="Rectangle 85"/>
                <p:cNvSpPr>
                  <a:spLocks noChangeArrowheads="1"/>
                </p:cNvSpPr>
                <p:nvPr/>
              </p:nvSpPr>
              <p:spPr bwMode="auto">
                <a:xfrm>
                  <a:off x="0" y="0"/>
                  <a:ext cx="1000" cy="576"/>
                </a:xfrm>
                <a:prstGeom prst="rect">
                  <a:avLst/>
                </a:prstGeom>
                <a:solidFill>
                  <a:srgbClr val="6666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nvGrpSpPr>
                <p:cNvPr id="2114" name="Group 86"/>
                <p:cNvGrpSpPr>
                  <a:grpSpLocks/>
                </p:cNvGrpSpPr>
                <p:nvPr/>
              </p:nvGrpSpPr>
              <p:grpSpPr bwMode="auto">
                <a:xfrm>
                  <a:off x="0" y="0"/>
                  <a:ext cx="1000" cy="576"/>
                  <a:chOff x="0" y="0"/>
                  <a:chExt cx="1000" cy="576"/>
                </a:xfrm>
              </p:grpSpPr>
              <p:sp>
                <p:nvSpPr>
                  <p:cNvPr id="2115" name="Rectangle 87"/>
                  <p:cNvSpPr>
                    <a:spLocks noChangeArrowheads="1"/>
                  </p:cNvSpPr>
                  <p:nvPr/>
                </p:nvSpPr>
                <p:spPr bwMode="auto">
                  <a:xfrm>
                    <a:off x="28" y="0"/>
                    <a:ext cx="944" cy="576"/>
                  </a:xfrm>
                  <a:prstGeom prst="rect">
                    <a:avLst/>
                  </a:prstGeom>
                  <a:solidFill>
                    <a:srgbClr val="66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tabLst>
                        <a:tab pos="628650" algn="l"/>
                      </a:tabLst>
                      <a:defRPr>
                        <a:solidFill>
                          <a:schemeClr val="tx1"/>
                        </a:solidFill>
                        <a:latin typeface="Verdana" panose="020B0604030504040204" pitchFamily="34" charset="0"/>
                      </a:defRPr>
                    </a:lvl1pPr>
                    <a:lvl2pPr marL="742950" indent="-285750" eaLnBrk="0" hangingPunct="0">
                      <a:tabLst>
                        <a:tab pos="628650" algn="l"/>
                      </a:tabLst>
                      <a:defRPr>
                        <a:solidFill>
                          <a:schemeClr val="tx1"/>
                        </a:solidFill>
                        <a:latin typeface="Verdana" panose="020B0604030504040204" pitchFamily="34" charset="0"/>
                      </a:defRPr>
                    </a:lvl2pPr>
                    <a:lvl3pPr marL="1143000" indent="-228600" eaLnBrk="0" hangingPunct="0">
                      <a:tabLst>
                        <a:tab pos="628650" algn="l"/>
                      </a:tabLst>
                      <a:defRPr>
                        <a:solidFill>
                          <a:schemeClr val="tx1"/>
                        </a:solidFill>
                        <a:latin typeface="Verdana" panose="020B0604030504040204" pitchFamily="34" charset="0"/>
                      </a:defRPr>
                    </a:lvl3pPr>
                    <a:lvl4pPr marL="1600200" indent="-228600" eaLnBrk="0" hangingPunct="0">
                      <a:tabLst>
                        <a:tab pos="628650" algn="l"/>
                      </a:tabLst>
                      <a:defRPr>
                        <a:solidFill>
                          <a:schemeClr val="tx1"/>
                        </a:solidFill>
                        <a:latin typeface="Verdana" panose="020B0604030504040204" pitchFamily="34" charset="0"/>
                      </a:defRPr>
                    </a:lvl4pPr>
                    <a:lvl5pPr marL="2057400" indent="-228600" eaLnBrk="0" hangingPunct="0">
                      <a:tabLst>
                        <a:tab pos="628650" algn="l"/>
                      </a:tabLst>
                      <a:defRPr>
                        <a:solidFill>
                          <a:schemeClr val="tx1"/>
                        </a:solidFill>
                        <a:latin typeface="Verdana" panose="020B0604030504040204" pitchFamily="34" charset="0"/>
                      </a:defRPr>
                    </a:lvl5pPr>
                    <a:lvl6pPr marL="25146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6pPr>
                    <a:lvl7pPr marL="29718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7pPr>
                    <a:lvl8pPr marL="34290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8pPr>
                    <a:lvl9pPr marL="38862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9pPr>
                  </a:lstStyle>
                  <a:p>
                    <a:pPr eaLnBrk="1" hangingPunct="1"/>
                    <a:r>
                      <a:rPr lang="es-ES" altLang="es-PE" sz="1000">
                        <a:solidFill>
                          <a:srgbClr val="FFFFFF"/>
                        </a:solidFill>
                        <a:latin typeface="Arial" panose="020B0604020202020204" pitchFamily="34" charset="0"/>
                        <a:cs typeface="Arial" panose="020B0604020202020204" pitchFamily="34" charset="0"/>
                      </a:rPr>
                      <a:t>            </a:t>
                    </a:r>
                    <a:endParaRPr lang="es-ES" altLang="es-PE" sz="1000">
                      <a:latin typeface="Arial" panose="020B0604020202020204" pitchFamily="34" charset="0"/>
                      <a:cs typeface="Arial" panose="020B0604020202020204" pitchFamily="34" charset="0"/>
                    </a:endParaRPr>
                  </a:p>
                  <a:p>
                    <a:r>
                      <a:rPr lang="es-ES" altLang="es-PE" sz="1000">
                        <a:solidFill>
                          <a:srgbClr val="FFFFFF"/>
                        </a:solidFill>
                        <a:latin typeface="Arial" panose="020B0604020202020204" pitchFamily="34" charset="0"/>
                        <a:cs typeface="Arial" panose="020B0604020202020204" pitchFamily="34" charset="0"/>
                      </a:rPr>
                      <a:t>  </a:t>
                    </a:r>
                    <a:r>
                      <a:rPr lang="es-ES_tradnl" altLang="es-PE" sz="1000">
                        <a:solidFill>
                          <a:srgbClr val="FFFFFF"/>
                        </a:solidFill>
                        <a:latin typeface="Arial" panose="020B0604020202020204" pitchFamily="34" charset="0"/>
                        <a:cs typeface="Arial" panose="020B0604020202020204" pitchFamily="34" charset="0"/>
                      </a:rPr>
                      <a:t>   </a:t>
                    </a:r>
                    <a:r>
                      <a:rPr lang="es-ES" altLang="es-PE" sz="1000">
                        <a:solidFill>
                          <a:srgbClr val="FFFFFF"/>
                        </a:solidFill>
                        <a:latin typeface="Arial" panose="020B0604020202020204" pitchFamily="34" charset="0"/>
                        <a:cs typeface="Arial" panose="020B0604020202020204" pitchFamily="34" charset="0"/>
                      </a:rPr>
                      <a:t>Tipos de</a:t>
                    </a:r>
                    <a:endParaRPr lang="es-ES" altLang="es-PE" sz="1000">
                      <a:latin typeface="Arial" panose="020B0604020202020204" pitchFamily="34" charset="0"/>
                      <a:cs typeface="Arial" panose="020B0604020202020204" pitchFamily="34" charset="0"/>
                    </a:endParaRPr>
                  </a:p>
                  <a:p>
                    <a:r>
                      <a:rPr lang="es-ES" altLang="es-PE" sz="1000">
                        <a:solidFill>
                          <a:srgbClr val="FFFFFF"/>
                        </a:solidFill>
                        <a:latin typeface="Arial" panose="020B0604020202020204" pitchFamily="34" charset="0"/>
                        <a:cs typeface="Arial" panose="020B0604020202020204" pitchFamily="34" charset="0"/>
                      </a:rPr>
                      <a:t> </a:t>
                    </a:r>
                    <a:r>
                      <a:rPr lang="es-ES_tradnl" altLang="es-PE" sz="1000">
                        <a:solidFill>
                          <a:srgbClr val="FFFFFF"/>
                        </a:solidFill>
                        <a:latin typeface="Arial" panose="020B0604020202020204" pitchFamily="34" charset="0"/>
                        <a:cs typeface="Arial" panose="020B0604020202020204" pitchFamily="34" charset="0"/>
                      </a:rPr>
                      <a:t>  </a:t>
                    </a:r>
                    <a:r>
                      <a:rPr lang="es-ES" altLang="es-PE" sz="1000">
                        <a:solidFill>
                          <a:srgbClr val="FFFFFF"/>
                        </a:solidFill>
                        <a:latin typeface="Arial" panose="020B0604020202020204" pitchFamily="34" charset="0"/>
                        <a:cs typeface="Arial" panose="020B0604020202020204" pitchFamily="34" charset="0"/>
                      </a:rPr>
                      <a:t>Proyección</a:t>
                    </a:r>
                    <a:endParaRPr lang="es-ES" altLang="es-PE" sz="1000">
                      <a:latin typeface="Arial" panose="020B0604020202020204" pitchFamily="34" charset="0"/>
                      <a:cs typeface="Arial" panose="020B0604020202020204" pitchFamily="34" charset="0"/>
                    </a:endParaRPr>
                  </a:p>
                  <a:p>
                    <a:endParaRPr lang="es-ES" altLang="es-PE"/>
                  </a:p>
                </p:txBody>
              </p:sp>
              <p:sp>
                <p:nvSpPr>
                  <p:cNvPr id="2116" name="Rectangle 88"/>
                  <p:cNvSpPr>
                    <a:spLocks noChangeArrowheads="1"/>
                  </p:cNvSpPr>
                  <p:nvPr/>
                </p:nvSpPr>
                <p:spPr bwMode="auto">
                  <a:xfrm>
                    <a:off x="0" y="0"/>
                    <a:ext cx="1000" cy="57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grpSp>
            <p:nvGrpSpPr>
              <p:cNvPr id="2085" name="Group 89"/>
              <p:cNvGrpSpPr>
                <a:grpSpLocks/>
              </p:cNvGrpSpPr>
              <p:nvPr/>
            </p:nvGrpSpPr>
            <p:grpSpPr bwMode="auto">
              <a:xfrm>
                <a:off x="1000" y="0"/>
                <a:ext cx="777" cy="576"/>
                <a:chOff x="1000" y="0"/>
                <a:chExt cx="777" cy="576"/>
              </a:xfrm>
            </p:grpSpPr>
            <p:sp>
              <p:nvSpPr>
                <p:cNvPr id="2109" name="Rectangle 90"/>
                <p:cNvSpPr>
                  <a:spLocks noChangeArrowheads="1"/>
                </p:cNvSpPr>
                <p:nvPr/>
              </p:nvSpPr>
              <p:spPr bwMode="auto">
                <a:xfrm>
                  <a:off x="1000" y="0"/>
                  <a:ext cx="777" cy="576"/>
                </a:xfrm>
                <a:prstGeom prst="rect">
                  <a:avLst/>
                </a:prstGeom>
                <a:solidFill>
                  <a:srgbClr val="6666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nvGrpSpPr>
                <p:cNvPr id="2110" name="Group 91"/>
                <p:cNvGrpSpPr>
                  <a:grpSpLocks/>
                </p:cNvGrpSpPr>
                <p:nvPr/>
              </p:nvGrpSpPr>
              <p:grpSpPr bwMode="auto">
                <a:xfrm>
                  <a:off x="1000" y="0"/>
                  <a:ext cx="777" cy="576"/>
                  <a:chOff x="1000" y="0"/>
                  <a:chExt cx="777" cy="576"/>
                </a:xfrm>
              </p:grpSpPr>
              <p:sp>
                <p:nvSpPr>
                  <p:cNvPr id="2111" name="Rectangle 92"/>
                  <p:cNvSpPr>
                    <a:spLocks noChangeArrowheads="1"/>
                  </p:cNvSpPr>
                  <p:nvPr/>
                </p:nvSpPr>
                <p:spPr bwMode="auto">
                  <a:xfrm>
                    <a:off x="1028" y="0"/>
                    <a:ext cx="721" cy="576"/>
                  </a:xfrm>
                  <a:prstGeom prst="rect">
                    <a:avLst/>
                  </a:prstGeom>
                  <a:solidFill>
                    <a:srgbClr val="66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tabLst>
                        <a:tab pos="628650" algn="l"/>
                      </a:tabLst>
                      <a:defRPr>
                        <a:solidFill>
                          <a:schemeClr val="tx1"/>
                        </a:solidFill>
                        <a:latin typeface="Verdana" panose="020B0604030504040204" pitchFamily="34" charset="0"/>
                      </a:defRPr>
                    </a:lvl1pPr>
                    <a:lvl2pPr marL="742950" indent="-285750" eaLnBrk="0" hangingPunct="0">
                      <a:tabLst>
                        <a:tab pos="628650" algn="l"/>
                      </a:tabLst>
                      <a:defRPr>
                        <a:solidFill>
                          <a:schemeClr val="tx1"/>
                        </a:solidFill>
                        <a:latin typeface="Verdana" panose="020B0604030504040204" pitchFamily="34" charset="0"/>
                      </a:defRPr>
                    </a:lvl2pPr>
                    <a:lvl3pPr marL="1143000" indent="-228600" eaLnBrk="0" hangingPunct="0">
                      <a:tabLst>
                        <a:tab pos="628650" algn="l"/>
                      </a:tabLst>
                      <a:defRPr>
                        <a:solidFill>
                          <a:schemeClr val="tx1"/>
                        </a:solidFill>
                        <a:latin typeface="Verdana" panose="020B0604030504040204" pitchFamily="34" charset="0"/>
                      </a:defRPr>
                    </a:lvl3pPr>
                    <a:lvl4pPr marL="1600200" indent="-228600" eaLnBrk="0" hangingPunct="0">
                      <a:tabLst>
                        <a:tab pos="628650" algn="l"/>
                      </a:tabLst>
                      <a:defRPr>
                        <a:solidFill>
                          <a:schemeClr val="tx1"/>
                        </a:solidFill>
                        <a:latin typeface="Verdana" panose="020B0604030504040204" pitchFamily="34" charset="0"/>
                      </a:defRPr>
                    </a:lvl4pPr>
                    <a:lvl5pPr marL="2057400" indent="-228600" eaLnBrk="0" hangingPunct="0">
                      <a:tabLst>
                        <a:tab pos="628650" algn="l"/>
                      </a:tabLst>
                      <a:defRPr>
                        <a:solidFill>
                          <a:schemeClr val="tx1"/>
                        </a:solidFill>
                        <a:latin typeface="Verdana" panose="020B0604030504040204" pitchFamily="34" charset="0"/>
                      </a:defRPr>
                    </a:lvl5pPr>
                    <a:lvl6pPr marL="25146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6pPr>
                    <a:lvl7pPr marL="29718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7pPr>
                    <a:lvl8pPr marL="34290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8pPr>
                    <a:lvl9pPr marL="38862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9pPr>
                  </a:lstStyle>
                  <a:p>
                    <a:pPr eaLnBrk="1" hangingPunct="1"/>
                    <a:endParaRPr lang="es-ES_tradnl" altLang="es-PE" sz="900">
                      <a:solidFill>
                        <a:srgbClr val="FFFFFF"/>
                      </a:solidFill>
                      <a:latin typeface="Arial" panose="020B0604020202020204" pitchFamily="34" charset="0"/>
                      <a:cs typeface="Arial" panose="020B0604020202020204" pitchFamily="34" charset="0"/>
                    </a:endParaRPr>
                  </a:p>
                  <a:p>
                    <a:pPr eaLnBrk="1" hangingPunct="1"/>
                    <a:r>
                      <a:rPr lang="es-ES" altLang="es-PE" sz="900">
                        <a:solidFill>
                          <a:srgbClr val="FFFFFF"/>
                        </a:solidFill>
                        <a:latin typeface="Arial" panose="020B0604020202020204" pitchFamily="34" charset="0"/>
                        <a:cs typeface="Arial" panose="020B0604020202020204" pitchFamily="34" charset="0"/>
                      </a:rPr>
                      <a:t>  ECUACIÓN</a:t>
                    </a:r>
                    <a:endParaRPr lang="es-ES" altLang="es-PE" sz="900">
                      <a:latin typeface="Arial" panose="020B0604020202020204" pitchFamily="34" charset="0"/>
                      <a:cs typeface="Arial" panose="020B0604020202020204" pitchFamily="34" charset="0"/>
                    </a:endParaRPr>
                  </a:p>
                  <a:p>
                    <a:pPr algn="just"/>
                    <a:r>
                      <a:rPr lang="es-ES" altLang="es-PE" sz="1000">
                        <a:solidFill>
                          <a:srgbClr val="FFFFFF"/>
                        </a:solidFill>
                        <a:latin typeface="Arial" panose="020B0604020202020204" pitchFamily="34" charset="0"/>
                        <a:cs typeface="Arial" panose="020B0604020202020204" pitchFamily="34" charset="0"/>
                      </a:rPr>
                      <a:t>         F </a:t>
                    </a:r>
                    <a:r>
                      <a:rPr lang="es-ES_tradnl" altLang="es-PE" sz="1000">
                        <a:solidFill>
                          <a:srgbClr val="FFFFFF"/>
                        </a:solidFill>
                        <a:latin typeface="Arial" panose="020B0604020202020204" pitchFamily="34" charset="0"/>
                        <a:cs typeface="Arial" panose="020B0604020202020204" pitchFamily="34" charset="0"/>
                      </a:rPr>
                      <a:t>      </a:t>
                    </a:r>
                    <a:r>
                      <a:rPr lang="es-ES" altLang="es-PE" sz="1000">
                        <a:solidFill>
                          <a:srgbClr val="FFFFFF"/>
                        </a:solidFill>
                        <a:latin typeface="Arial" panose="020B0604020202020204" pitchFamily="34" charset="0"/>
                        <a:cs typeface="Arial" panose="020B0604020202020204" pitchFamily="34" charset="0"/>
                      </a:rPr>
                      <a:t>(tiempo)</a:t>
                    </a:r>
                    <a:endParaRPr lang="es-ES" altLang="es-PE" sz="1000">
                      <a:latin typeface="Arial" panose="020B0604020202020204" pitchFamily="34" charset="0"/>
                      <a:cs typeface="Arial" panose="020B0604020202020204" pitchFamily="34" charset="0"/>
                    </a:endParaRPr>
                  </a:p>
                  <a:p>
                    <a:pPr algn="just"/>
                    <a:endParaRPr lang="es-ES" altLang="es-PE"/>
                  </a:p>
                </p:txBody>
              </p:sp>
              <p:sp>
                <p:nvSpPr>
                  <p:cNvPr id="2112" name="Rectangle 93"/>
                  <p:cNvSpPr>
                    <a:spLocks noChangeArrowheads="1"/>
                  </p:cNvSpPr>
                  <p:nvPr/>
                </p:nvSpPr>
                <p:spPr bwMode="auto">
                  <a:xfrm>
                    <a:off x="1000" y="0"/>
                    <a:ext cx="777" cy="57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grpSp>
            <p:nvGrpSpPr>
              <p:cNvPr id="2086" name="Group 94"/>
              <p:cNvGrpSpPr>
                <a:grpSpLocks/>
              </p:cNvGrpSpPr>
              <p:nvPr/>
            </p:nvGrpSpPr>
            <p:grpSpPr bwMode="auto">
              <a:xfrm>
                <a:off x="1777" y="0"/>
                <a:ext cx="1286" cy="576"/>
                <a:chOff x="1777" y="0"/>
                <a:chExt cx="1286" cy="576"/>
              </a:xfrm>
            </p:grpSpPr>
            <p:sp>
              <p:nvSpPr>
                <p:cNvPr id="2105" name="Rectangle 95"/>
                <p:cNvSpPr>
                  <a:spLocks noChangeArrowheads="1"/>
                </p:cNvSpPr>
                <p:nvPr/>
              </p:nvSpPr>
              <p:spPr bwMode="auto">
                <a:xfrm>
                  <a:off x="1777" y="0"/>
                  <a:ext cx="1286" cy="576"/>
                </a:xfrm>
                <a:prstGeom prst="rect">
                  <a:avLst/>
                </a:prstGeom>
                <a:solidFill>
                  <a:srgbClr val="6666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nvGrpSpPr>
                <p:cNvPr id="2106" name="Group 96"/>
                <p:cNvGrpSpPr>
                  <a:grpSpLocks/>
                </p:cNvGrpSpPr>
                <p:nvPr/>
              </p:nvGrpSpPr>
              <p:grpSpPr bwMode="auto">
                <a:xfrm>
                  <a:off x="1777" y="0"/>
                  <a:ext cx="1286" cy="576"/>
                  <a:chOff x="1777" y="0"/>
                  <a:chExt cx="1286" cy="576"/>
                </a:xfrm>
              </p:grpSpPr>
              <p:sp>
                <p:nvSpPr>
                  <p:cNvPr id="2107" name="Rectangle 97"/>
                  <p:cNvSpPr>
                    <a:spLocks noChangeArrowheads="1"/>
                  </p:cNvSpPr>
                  <p:nvPr/>
                </p:nvSpPr>
                <p:spPr bwMode="auto">
                  <a:xfrm>
                    <a:off x="1805" y="0"/>
                    <a:ext cx="1230" cy="576"/>
                  </a:xfrm>
                  <a:prstGeom prst="rect">
                    <a:avLst/>
                  </a:prstGeom>
                  <a:solidFill>
                    <a:srgbClr val="66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tabLst>
                        <a:tab pos="628650" algn="l"/>
                      </a:tabLst>
                      <a:defRPr>
                        <a:solidFill>
                          <a:schemeClr val="tx1"/>
                        </a:solidFill>
                        <a:latin typeface="Verdana" panose="020B0604030504040204" pitchFamily="34" charset="0"/>
                      </a:defRPr>
                    </a:lvl1pPr>
                    <a:lvl2pPr marL="742950" indent="-285750" eaLnBrk="0" hangingPunct="0">
                      <a:tabLst>
                        <a:tab pos="628650" algn="l"/>
                      </a:tabLst>
                      <a:defRPr>
                        <a:solidFill>
                          <a:schemeClr val="tx1"/>
                        </a:solidFill>
                        <a:latin typeface="Verdana" panose="020B0604030504040204" pitchFamily="34" charset="0"/>
                      </a:defRPr>
                    </a:lvl2pPr>
                    <a:lvl3pPr marL="1143000" indent="-228600" eaLnBrk="0" hangingPunct="0">
                      <a:tabLst>
                        <a:tab pos="628650" algn="l"/>
                      </a:tabLst>
                      <a:defRPr>
                        <a:solidFill>
                          <a:schemeClr val="tx1"/>
                        </a:solidFill>
                        <a:latin typeface="Verdana" panose="020B0604030504040204" pitchFamily="34" charset="0"/>
                      </a:defRPr>
                    </a:lvl3pPr>
                    <a:lvl4pPr marL="1600200" indent="-228600" eaLnBrk="0" hangingPunct="0">
                      <a:tabLst>
                        <a:tab pos="628650" algn="l"/>
                      </a:tabLst>
                      <a:defRPr>
                        <a:solidFill>
                          <a:schemeClr val="tx1"/>
                        </a:solidFill>
                        <a:latin typeface="Verdana" panose="020B0604030504040204" pitchFamily="34" charset="0"/>
                      </a:defRPr>
                    </a:lvl4pPr>
                    <a:lvl5pPr marL="2057400" indent="-228600" eaLnBrk="0" hangingPunct="0">
                      <a:tabLst>
                        <a:tab pos="628650" algn="l"/>
                      </a:tabLst>
                      <a:defRPr>
                        <a:solidFill>
                          <a:schemeClr val="tx1"/>
                        </a:solidFill>
                        <a:latin typeface="Verdana" panose="020B0604030504040204" pitchFamily="34" charset="0"/>
                      </a:defRPr>
                    </a:lvl5pPr>
                    <a:lvl6pPr marL="25146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6pPr>
                    <a:lvl7pPr marL="29718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7pPr>
                    <a:lvl8pPr marL="34290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8pPr>
                    <a:lvl9pPr marL="38862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9pPr>
                  </a:lstStyle>
                  <a:p>
                    <a:pPr algn="ctr" eaLnBrk="1" hangingPunct="1"/>
                    <a:endParaRPr lang="es-ES_tradnl" altLang="es-PE" sz="1000">
                      <a:solidFill>
                        <a:srgbClr val="FFFFFF"/>
                      </a:solidFill>
                      <a:latin typeface="Arial" panose="020B0604020202020204" pitchFamily="34" charset="0"/>
                      <a:cs typeface="Arial" panose="020B0604020202020204" pitchFamily="34" charset="0"/>
                    </a:endParaRPr>
                  </a:p>
                  <a:p>
                    <a:pPr algn="ctr" eaLnBrk="1" hangingPunct="1"/>
                    <a:endParaRPr lang="es-ES_tradnl" altLang="es-PE" sz="1000">
                      <a:solidFill>
                        <a:srgbClr val="FFFFFF"/>
                      </a:solidFill>
                      <a:latin typeface="Arial" panose="020B0604020202020204" pitchFamily="34" charset="0"/>
                      <a:cs typeface="Arial" panose="020B0604020202020204" pitchFamily="34" charset="0"/>
                    </a:endParaRPr>
                  </a:p>
                  <a:p>
                    <a:pPr algn="ctr" eaLnBrk="1" hangingPunct="1"/>
                    <a:r>
                      <a:rPr lang="es-ES" altLang="es-PE" sz="1000">
                        <a:solidFill>
                          <a:srgbClr val="FFFFFF"/>
                        </a:solidFill>
                        <a:latin typeface="Arial" panose="020B0604020202020204" pitchFamily="34" charset="0"/>
                        <a:cs typeface="Arial" panose="020B0604020202020204" pitchFamily="34" charset="0"/>
                      </a:rPr>
                      <a:t>Grafico</a:t>
                    </a:r>
                    <a:endParaRPr lang="es-ES" altLang="es-PE" sz="1000">
                      <a:latin typeface="Arial" panose="020B0604020202020204" pitchFamily="34" charset="0"/>
                      <a:cs typeface="Arial" panose="020B0604020202020204" pitchFamily="34" charset="0"/>
                    </a:endParaRPr>
                  </a:p>
                  <a:p>
                    <a:pPr algn="ctr"/>
                    <a:endParaRPr lang="es-ES" altLang="es-PE"/>
                  </a:p>
                </p:txBody>
              </p:sp>
              <p:sp>
                <p:nvSpPr>
                  <p:cNvPr id="2108" name="Rectangle 98"/>
                  <p:cNvSpPr>
                    <a:spLocks noChangeArrowheads="1"/>
                  </p:cNvSpPr>
                  <p:nvPr/>
                </p:nvSpPr>
                <p:spPr bwMode="auto">
                  <a:xfrm>
                    <a:off x="1777" y="0"/>
                    <a:ext cx="1286" cy="57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grpSp>
            <p:nvGrpSpPr>
              <p:cNvPr id="2087" name="Group 99"/>
              <p:cNvGrpSpPr>
                <a:grpSpLocks/>
              </p:cNvGrpSpPr>
              <p:nvPr/>
            </p:nvGrpSpPr>
            <p:grpSpPr bwMode="auto">
              <a:xfrm>
                <a:off x="0" y="576"/>
                <a:ext cx="1000" cy="1457"/>
                <a:chOff x="0" y="576"/>
                <a:chExt cx="1000" cy="1457"/>
              </a:xfrm>
            </p:grpSpPr>
            <p:sp>
              <p:nvSpPr>
                <p:cNvPr id="2103" name="Rectangle 100"/>
                <p:cNvSpPr>
                  <a:spLocks noChangeArrowheads="1"/>
                </p:cNvSpPr>
                <p:nvPr/>
              </p:nvSpPr>
              <p:spPr bwMode="auto">
                <a:xfrm>
                  <a:off x="28" y="576"/>
                  <a:ext cx="944" cy="1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tabLst>
                      <a:tab pos="628650" algn="l"/>
                    </a:tabLst>
                    <a:defRPr>
                      <a:solidFill>
                        <a:schemeClr val="tx1"/>
                      </a:solidFill>
                      <a:latin typeface="Verdana" panose="020B0604030504040204" pitchFamily="34" charset="0"/>
                    </a:defRPr>
                  </a:lvl1pPr>
                  <a:lvl2pPr marL="742950" indent="-285750" eaLnBrk="0" hangingPunct="0">
                    <a:tabLst>
                      <a:tab pos="628650" algn="l"/>
                    </a:tabLst>
                    <a:defRPr>
                      <a:solidFill>
                        <a:schemeClr val="tx1"/>
                      </a:solidFill>
                      <a:latin typeface="Verdana" panose="020B0604030504040204" pitchFamily="34" charset="0"/>
                    </a:defRPr>
                  </a:lvl2pPr>
                  <a:lvl3pPr marL="1143000" indent="-228600" eaLnBrk="0" hangingPunct="0">
                    <a:tabLst>
                      <a:tab pos="628650" algn="l"/>
                    </a:tabLst>
                    <a:defRPr>
                      <a:solidFill>
                        <a:schemeClr val="tx1"/>
                      </a:solidFill>
                      <a:latin typeface="Verdana" panose="020B0604030504040204" pitchFamily="34" charset="0"/>
                    </a:defRPr>
                  </a:lvl3pPr>
                  <a:lvl4pPr marL="1600200" indent="-228600" eaLnBrk="0" hangingPunct="0">
                    <a:tabLst>
                      <a:tab pos="628650" algn="l"/>
                    </a:tabLst>
                    <a:defRPr>
                      <a:solidFill>
                        <a:schemeClr val="tx1"/>
                      </a:solidFill>
                      <a:latin typeface="Verdana" panose="020B0604030504040204" pitchFamily="34" charset="0"/>
                    </a:defRPr>
                  </a:lvl4pPr>
                  <a:lvl5pPr marL="2057400" indent="-228600" eaLnBrk="0" hangingPunct="0">
                    <a:tabLst>
                      <a:tab pos="628650" algn="l"/>
                    </a:tabLst>
                    <a:defRPr>
                      <a:solidFill>
                        <a:schemeClr val="tx1"/>
                      </a:solidFill>
                      <a:latin typeface="Verdana" panose="020B0604030504040204" pitchFamily="34" charset="0"/>
                    </a:defRPr>
                  </a:lvl5pPr>
                  <a:lvl6pPr marL="25146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6pPr>
                  <a:lvl7pPr marL="29718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7pPr>
                  <a:lvl8pPr marL="34290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8pPr>
                  <a:lvl9pPr marL="38862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9pPr>
                </a:lstStyle>
                <a:p>
                  <a:pPr algn="ctr" eaLnBrk="1" hangingPunct="1"/>
                  <a:r>
                    <a:rPr lang="es-ES" altLang="es-PE" sz="1000">
                      <a:latin typeface="Arial" panose="020B0604020202020204" pitchFamily="34" charset="0"/>
                      <a:cs typeface="Arial" panose="020B0604020202020204" pitchFamily="34" charset="0"/>
                    </a:rPr>
                    <a:t> </a:t>
                  </a:r>
                </a:p>
                <a:p>
                  <a:pPr algn="ctr"/>
                  <a:r>
                    <a:rPr lang="es-ES" altLang="es-PE" sz="1000">
                      <a:latin typeface="Arial" panose="020B0604020202020204" pitchFamily="34" charset="0"/>
                      <a:cs typeface="Arial" panose="020B0604020202020204" pitchFamily="34" charset="0"/>
                    </a:rPr>
                    <a:t> </a:t>
                  </a:r>
                </a:p>
                <a:p>
                  <a:pPr algn="ctr"/>
                  <a:r>
                    <a:rPr lang="es-ES" altLang="es-PE" sz="1000">
                      <a:latin typeface="Arial" panose="020B0604020202020204" pitchFamily="34" charset="0"/>
                      <a:cs typeface="Arial" panose="020B0604020202020204" pitchFamily="34" charset="0"/>
                    </a:rPr>
                    <a:t> </a:t>
                  </a:r>
                </a:p>
                <a:p>
                  <a:pPr algn="ctr"/>
                  <a:r>
                    <a:rPr lang="es-ES" altLang="es-PE" sz="1000">
                      <a:latin typeface="Arial" panose="020B0604020202020204" pitchFamily="34" charset="0"/>
                      <a:cs typeface="Arial" panose="020B0604020202020204" pitchFamily="34" charset="0"/>
                    </a:rPr>
                    <a:t> </a:t>
                  </a:r>
                </a:p>
                <a:p>
                  <a:pPr algn="ctr"/>
                  <a:r>
                    <a:rPr lang="es-ES" altLang="es-PE" sz="1000">
                      <a:latin typeface="Arial" panose="020B0604020202020204" pitchFamily="34" charset="0"/>
                      <a:cs typeface="Arial" panose="020B0604020202020204" pitchFamily="34" charset="0"/>
                    </a:rPr>
                    <a:t>Proy. Asintótica</a:t>
                  </a:r>
                </a:p>
                <a:p>
                  <a:pPr algn="ctr"/>
                  <a:endParaRPr lang="es-ES" altLang="es-PE"/>
                </a:p>
              </p:txBody>
            </p:sp>
            <p:sp>
              <p:nvSpPr>
                <p:cNvPr id="2104" name="Rectangle 101"/>
                <p:cNvSpPr>
                  <a:spLocks noChangeArrowheads="1"/>
                </p:cNvSpPr>
                <p:nvPr/>
              </p:nvSpPr>
              <p:spPr bwMode="auto">
                <a:xfrm>
                  <a:off x="0" y="576"/>
                  <a:ext cx="1000" cy="145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nvGrpSpPr>
              <p:cNvPr id="2088" name="Group 102"/>
              <p:cNvGrpSpPr>
                <a:grpSpLocks/>
              </p:cNvGrpSpPr>
              <p:nvPr/>
            </p:nvGrpSpPr>
            <p:grpSpPr bwMode="auto">
              <a:xfrm>
                <a:off x="1000" y="576"/>
                <a:ext cx="777" cy="1457"/>
                <a:chOff x="1000" y="576"/>
                <a:chExt cx="777" cy="1457"/>
              </a:xfrm>
            </p:grpSpPr>
            <p:sp>
              <p:nvSpPr>
                <p:cNvPr id="2101" name="Rectangle 103"/>
                <p:cNvSpPr>
                  <a:spLocks noChangeArrowheads="1"/>
                </p:cNvSpPr>
                <p:nvPr/>
              </p:nvSpPr>
              <p:spPr bwMode="auto">
                <a:xfrm>
                  <a:off x="1028" y="576"/>
                  <a:ext cx="721" cy="1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tabLst>
                      <a:tab pos="628650" algn="l"/>
                    </a:tabLst>
                    <a:defRPr>
                      <a:solidFill>
                        <a:schemeClr val="tx1"/>
                      </a:solidFill>
                      <a:latin typeface="Verdana" panose="020B0604030504040204" pitchFamily="34" charset="0"/>
                    </a:defRPr>
                  </a:lvl1pPr>
                  <a:lvl2pPr marL="742950" indent="-285750" eaLnBrk="0" hangingPunct="0">
                    <a:tabLst>
                      <a:tab pos="628650" algn="l"/>
                    </a:tabLst>
                    <a:defRPr>
                      <a:solidFill>
                        <a:schemeClr val="tx1"/>
                      </a:solidFill>
                      <a:latin typeface="Verdana" panose="020B0604030504040204" pitchFamily="34" charset="0"/>
                    </a:defRPr>
                  </a:lvl2pPr>
                  <a:lvl3pPr marL="1143000" indent="-228600" eaLnBrk="0" hangingPunct="0">
                    <a:tabLst>
                      <a:tab pos="628650" algn="l"/>
                    </a:tabLst>
                    <a:defRPr>
                      <a:solidFill>
                        <a:schemeClr val="tx1"/>
                      </a:solidFill>
                      <a:latin typeface="Verdana" panose="020B0604030504040204" pitchFamily="34" charset="0"/>
                    </a:defRPr>
                  </a:lvl3pPr>
                  <a:lvl4pPr marL="1600200" indent="-228600" eaLnBrk="0" hangingPunct="0">
                    <a:tabLst>
                      <a:tab pos="628650" algn="l"/>
                    </a:tabLst>
                    <a:defRPr>
                      <a:solidFill>
                        <a:schemeClr val="tx1"/>
                      </a:solidFill>
                      <a:latin typeface="Verdana" panose="020B0604030504040204" pitchFamily="34" charset="0"/>
                    </a:defRPr>
                  </a:lvl4pPr>
                  <a:lvl5pPr marL="2057400" indent="-228600" eaLnBrk="0" hangingPunct="0">
                    <a:tabLst>
                      <a:tab pos="628650" algn="l"/>
                    </a:tabLst>
                    <a:defRPr>
                      <a:solidFill>
                        <a:schemeClr val="tx1"/>
                      </a:solidFill>
                      <a:latin typeface="Verdana" panose="020B0604030504040204" pitchFamily="34" charset="0"/>
                    </a:defRPr>
                  </a:lvl5pPr>
                  <a:lvl6pPr marL="25146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6pPr>
                  <a:lvl7pPr marL="29718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7pPr>
                  <a:lvl8pPr marL="34290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8pPr>
                  <a:lvl9pPr marL="38862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9pPr>
                </a:lstStyle>
                <a:p>
                  <a:pPr algn="just" eaLnBrk="1" hangingPunct="1"/>
                  <a:r>
                    <a:rPr lang="es-ES" altLang="es-PE" sz="1000">
                      <a:latin typeface="Arial" panose="020B0604020202020204" pitchFamily="34" charset="0"/>
                      <a:cs typeface="Arial" panose="020B0604020202020204" pitchFamily="34" charset="0"/>
                    </a:rPr>
                    <a:t> </a:t>
                  </a:r>
                </a:p>
                <a:p>
                  <a:pPr algn="just"/>
                  <a:r>
                    <a:rPr lang="es-ES" altLang="es-PE" sz="1000">
                      <a:latin typeface="Arial" panose="020B0604020202020204" pitchFamily="34" charset="0"/>
                      <a:cs typeface="Arial" panose="020B0604020202020204" pitchFamily="34" charset="0"/>
                    </a:rPr>
                    <a:t>     </a:t>
                  </a:r>
                </a:p>
                <a:p>
                  <a:pPr algn="just"/>
                  <a:r>
                    <a:rPr lang="es-ES" altLang="es-PE" sz="1000">
                      <a:latin typeface="Arial" panose="020B0604020202020204" pitchFamily="34" charset="0"/>
                      <a:cs typeface="Arial" panose="020B0604020202020204" pitchFamily="34" charset="0"/>
                    </a:rPr>
                    <a:t> </a:t>
                  </a:r>
                </a:p>
                <a:p>
                  <a:pPr algn="just"/>
                  <a:r>
                    <a:rPr lang="es-ES" altLang="es-PE" sz="1000">
                      <a:latin typeface="Arial" panose="020B0604020202020204" pitchFamily="34" charset="0"/>
                      <a:cs typeface="Arial" panose="020B0604020202020204" pitchFamily="34" charset="0"/>
                    </a:rPr>
                    <a:t> </a:t>
                  </a:r>
                </a:p>
                <a:p>
                  <a:pPr algn="just"/>
                  <a:r>
                    <a:rPr lang="es-ES" altLang="es-PE" sz="1000">
                      <a:latin typeface="Arial" panose="020B0604020202020204" pitchFamily="34" charset="0"/>
                      <a:cs typeface="Arial" panose="020B0604020202020204" pitchFamily="34" charset="0"/>
                    </a:rPr>
                    <a:t> </a:t>
                  </a:r>
                </a:p>
                <a:p>
                  <a:pPr algn="just"/>
                  <a:endParaRPr lang="es-ES" altLang="es-PE"/>
                </a:p>
              </p:txBody>
            </p:sp>
            <p:sp>
              <p:nvSpPr>
                <p:cNvPr id="2102" name="Rectangle 104"/>
                <p:cNvSpPr>
                  <a:spLocks noChangeArrowheads="1"/>
                </p:cNvSpPr>
                <p:nvPr/>
              </p:nvSpPr>
              <p:spPr bwMode="auto">
                <a:xfrm>
                  <a:off x="1000" y="576"/>
                  <a:ext cx="777" cy="145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nvGrpSpPr>
              <p:cNvPr id="2089" name="Group 105"/>
              <p:cNvGrpSpPr>
                <a:grpSpLocks/>
              </p:cNvGrpSpPr>
              <p:nvPr/>
            </p:nvGrpSpPr>
            <p:grpSpPr bwMode="auto">
              <a:xfrm>
                <a:off x="1777" y="576"/>
                <a:ext cx="1286" cy="1457"/>
                <a:chOff x="1777" y="576"/>
                <a:chExt cx="1286" cy="1457"/>
              </a:xfrm>
            </p:grpSpPr>
            <p:sp>
              <p:nvSpPr>
                <p:cNvPr id="2099" name="Rectangle 106"/>
                <p:cNvSpPr>
                  <a:spLocks noChangeArrowheads="1"/>
                </p:cNvSpPr>
                <p:nvPr/>
              </p:nvSpPr>
              <p:spPr bwMode="auto">
                <a:xfrm>
                  <a:off x="1805" y="576"/>
                  <a:ext cx="1230" cy="1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tabLst>
                      <a:tab pos="600075" algn="l"/>
                    </a:tabLst>
                    <a:defRPr>
                      <a:solidFill>
                        <a:schemeClr val="tx1"/>
                      </a:solidFill>
                      <a:latin typeface="Verdana" panose="020B0604030504040204" pitchFamily="34" charset="0"/>
                    </a:defRPr>
                  </a:lvl1pPr>
                  <a:lvl2pPr marL="742950" indent="-285750" eaLnBrk="0" hangingPunct="0">
                    <a:tabLst>
                      <a:tab pos="600075" algn="l"/>
                    </a:tabLst>
                    <a:defRPr>
                      <a:solidFill>
                        <a:schemeClr val="tx1"/>
                      </a:solidFill>
                      <a:latin typeface="Verdana" panose="020B0604030504040204" pitchFamily="34" charset="0"/>
                    </a:defRPr>
                  </a:lvl2pPr>
                  <a:lvl3pPr marL="1143000" indent="-228600" eaLnBrk="0" hangingPunct="0">
                    <a:tabLst>
                      <a:tab pos="600075" algn="l"/>
                    </a:tabLst>
                    <a:defRPr>
                      <a:solidFill>
                        <a:schemeClr val="tx1"/>
                      </a:solidFill>
                      <a:latin typeface="Verdana" panose="020B0604030504040204" pitchFamily="34" charset="0"/>
                    </a:defRPr>
                  </a:lvl3pPr>
                  <a:lvl4pPr marL="1600200" indent="-228600" eaLnBrk="0" hangingPunct="0">
                    <a:tabLst>
                      <a:tab pos="600075" algn="l"/>
                    </a:tabLst>
                    <a:defRPr>
                      <a:solidFill>
                        <a:schemeClr val="tx1"/>
                      </a:solidFill>
                      <a:latin typeface="Verdana" panose="020B0604030504040204" pitchFamily="34" charset="0"/>
                    </a:defRPr>
                  </a:lvl4pPr>
                  <a:lvl5pPr marL="2057400" indent="-228600" eaLnBrk="0" hangingPunct="0">
                    <a:tabLst>
                      <a:tab pos="600075" algn="l"/>
                    </a:tabLst>
                    <a:defRPr>
                      <a:solidFill>
                        <a:schemeClr val="tx1"/>
                      </a:solidFill>
                      <a:latin typeface="Verdana" panose="020B0604030504040204" pitchFamily="34" charset="0"/>
                    </a:defRPr>
                  </a:lvl5pPr>
                  <a:lvl6pPr marL="2514600" indent="-228600" eaLnBrk="0" fontAlgn="base" hangingPunct="0">
                    <a:spcBef>
                      <a:spcPct val="0"/>
                    </a:spcBef>
                    <a:spcAft>
                      <a:spcPct val="0"/>
                    </a:spcAft>
                    <a:tabLst>
                      <a:tab pos="600075" algn="l"/>
                    </a:tabLst>
                    <a:defRPr>
                      <a:solidFill>
                        <a:schemeClr val="tx1"/>
                      </a:solidFill>
                      <a:latin typeface="Verdana" panose="020B0604030504040204" pitchFamily="34" charset="0"/>
                    </a:defRPr>
                  </a:lvl6pPr>
                  <a:lvl7pPr marL="2971800" indent="-228600" eaLnBrk="0" fontAlgn="base" hangingPunct="0">
                    <a:spcBef>
                      <a:spcPct val="0"/>
                    </a:spcBef>
                    <a:spcAft>
                      <a:spcPct val="0"/>
                    </a:spcAft>
                    <a:tabLst>
                      <a:tab pos="600075" algn="l"/>
                    </a:tabLst>
                    <a:defRPr>
                      <a:solidFill>
                        <a:schemeClr val="tx1"/>
                      </a:solidFill>
                      <a:latin typeface="Verdana" panose="020B0604030504040204" pitchFamily="34" charset="0"/>
                    </a:defRPr>
                  </a:lvl7pPr>
                  <a:lvl8pPr marL="3429000" indent="-228600" eaLnBrk="0" fontAlgn="base" hangingPunct="0">
                    <a:spcBef>
                      <a:spcPct val="0"/>
                    </a:spcBef>
                    <a:spcAft>
                      <a:spcPct val="0"/>
                    </a:spcAft>
                    <a:tabLst>
                      <a:tab pos="600075" algn="l"/>
                    </a:tabLst>
                    <a:defRPr>
                      <a:solidFill>
                        <a:schemeClr val="tx1"/>
                      </a:solidFill>
                      <a:latin typeface="Verdana" panose="020B0604030504040204" pitchFamily="34" charset="0"/>
                    </a:defRPr>
                  </a:lvl8pPr>
                  <a:lvl9pPr marL="3886200" indent="-228600" eaLnBrk="0" fontAlgn="base" hangingPunct="0">
                    <a:spcBef>
                      <a:spcPct val="0"/>
                    </a:spcBef>
                    <a:spcAft>
                      <a:spcPct val="0"/>
                    </a:spcAft>
                    <a:tabLst>
                      <a:tab pos="600075" algn="l"/>
                    </a:tabLst>
                    <a:defRPr>
                      <a:solidFill>
                        <a:schemeClr val="tx1"/>
                      </a:solidFill>
                      <a:latin typeface="Verdana" panose="020B0604030504040204" pitchFamily="34" charset="0"/>
                    </a:defRPr>
                  </a:lvl9pPr>
                </a:lstStyle>
                <a:p>
                  <a:pPr eaLnBrk="1" hangingPunct="1"/>
                  <a:r>
                    <a:rPr lang="es-BO" altLang="es-PE" sz="1200">
                      <a:cs typeface="Times New Roman" panose="02020603050405020304" pitchFamily="18" charset="0"/>
                    </a:rPr>
                    <a:t> </a:t>
                  </a:r>
                </a:p>
                <a:p>
                  <a:r>
                    <a:rPr lang="es-BO" altLang="es-PE" sz="1200">
                      <a:cs typeface="Times New Roman" panose="02020603050405020304" pitchFamily="18" charset="0"/>
                    </a:rPr>
                    <a:t> </a:t>
                  </a:r>
                </a:p>
                <a:p>
                  <a:r>
                    <a:rPr lang="es-BO" altLang="es-PE" sz="1200">
                      <a:cs typeface="Times New Roman" panose="02020603050405020304" pitchFamily="18" charset="0"/>
                    </a:rPr>
                    <a:t>              </a:t>
                  </a:r>
                </a:p>
                <a:p>
                  <a:r>
                    <a:rPr lang="es-BO" altLang="es-PE" sz="1200">
                      <a:cs typeface="Times New Roman" panose="02020603050405020304" pitchFamily="18" charset="0"/>
                    </a:rPr>
                    <a:t> </a:t>
                  </a:r>
                </a:p>
                <a:p>
                  <a:r>
                    <a:rPr lang="es-BO" altLang="es-PE" sz="1200">
                      <a:cs typeface="Times New Roman" panose="02020603050405020304" pitchFamily="18" charset="0"/>
                    </a:rPr>
                    <a:t> </a:t>
                  </a:r>
                </a:p>
                <a:p>
                  <a:r>
                    <a:rPr lang="es-BO" altLang="es-PE" sz="1200">
                      <a:cs typeface="Times New Roman" panose="02020603050405020304" pitchFamily="18" charset="0"/>
                    </a:rPr>
                    <a:t> </a:t>
                  </a:r>
                </a:p>
                <a:p>
                  <a:r>
                    <a:rPr lang="es-ES" altLang="es-PE" sz="1400"/>
                    <a:t/>
                  </a:r>
                  <a:br>
                    <a:rPr lang="es-ES" altLang="es-PE" sz="1400"/>
                  </a:br>
                  <a:endParaRPr lang="es-BO" altLang="es-PE" sz="1200">
                    <a:cs typeface="Times New Roman" panose="02020603050405020304" pitchFamily="18" charset="0"/>
                  </a:endParaRPr>
                </a:p>
                <a:p>
                  <a:r>
                    <a:rPr lang="es-BO" altLang="es-PE" sz="1200">
                      <a:cs typeface="Times New Roman" panose="02020603050405020304" pitchFamily="18" charset="0"/>
                    </a:rPr>
                    <a:t> </a:t>
                  </a:r>
                </a:p>
                <a:p>
                  <a:r>
                    <a:rPr lang="es-BO" altLang="es-PE" sz="1200">
                      <a:cs typeface="Times New Roman" panose="02020603050405020304" pitchFamily="18" charset="0"/>
                    </a:rPr>
                    <a:t> </a:t>
                  </a:r>
                </a:p>
                <a:p>
                  <a:endParaRPr lang="es-BO" altLang="es-PE"/>
                </a:p>
              </p:txBody>
            </p:sp>
            <p:sp>
              <p:nvSpPr>
                <p:cNvPr id="2100" name="Rectangle 107"/>
                <p:cNvSpPr>
                  <a:spLocks noChangeArrowheads="1"/>
                </p:cNvSpPr>
                <p:nvPr/>
              </p:nvSpPr>
              <p:spPr bwMode="auto">
                <a:xfrm>
                  <a:off x="1777" y="576"/>
                  <a:ext cx="1286" cy="145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nvGrpSpPr>
              <p:cNvPr id="2090" name="Group 108"/>
              <p:cNvGrpSpPr>
                <a:grpSpLocks/>
              </p:cNvGrpSpPr>
              <p:nvPr/>
            </p:nvGrpSpPr>
            <p:grpSpPr bwMode="auto">
              <a:xfrm>
                <a:off x="0" y="2033"/>
                <a:ext cx="1000" cy="944"/>
                <a:chOff x="0" y="2033"/>
                <a:chExt cx="1000" cy="944"/>
              </a:xfrm>
            </p:grpSpPr>
            <p:sp>
              <p:nvSpPr>
                <p:cNvPr id="2097" name="Rectangle 109"/>
                <p:cNvSpPr>
                  <a:spLocks noChangeArrowheads="1"/>
                </p:cNvSpPr>
                <p:nvPr/>
              </p:nvSpPr>
              <p:spPr bwMode="auto">
                <a:xfrm>
                  <a:off x="28" y="2033"/>
                  <a:ext cx="944" cy="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tabLst>
                      <a:tab pos="628650" algn="l"/>
                    </a:tabLst>
                    <a:defRPr>
                      <a:solidFill>
                        <a:schemeClr val="tx1"/>
                      </a:solidFill>
                      <a:latin typeface="Verdana" panose="020B0604030504040204" pitchFamily="34" charset="0"/>
                    </a:defRPr>
                  </a:lvl1pPr>
                  <a:lvl2pPr marL="742950" indent="-285750" eaLnBrk="0" hangingPunct="0">
                    <a:tabLst>
                      <a:tab pos="628650" algn="l"/>
                    </a:tabLst>
                    <a:defRPr>
                      <a:solidFill>
                        <a:schemeClr val="tx1"/>
                      </a:solidFill>
                      <a:latin typeface="Verdana" panose="020B0604030504040204" pitchFamily="34" charset="0"/>
                    </a:defRPr>
                  </a:lvl2pPr>
                  <a:lvl3pPr marL="1143000" indent="-228600" eaLnBrk="0" hangingPunct="0">
                    <a:tabLst>
                      <a:tab pos="628650" algn="l"/>
                    </a:tabLst>
                    <a:defRPr>
                      <a:solidFill>
                        <a:schemeClr val="tx1"/>
                      </a:solidFill>
                      <a:latin typeface="Verdana" panose="020B0604030504040204" pitchFamily="34" charset="0"/>
                    </a:defRPr>
                  </a:lvl3pPr>
                  <a:lvl4pPr marL="1600200" indent="-228600" eaLnBrk="0" hangingPunct="0">
                    <a:tabLst>
                      <a:tab pos="628650" algn="l"/>
                    </a:tabLst>
                    <a:defRPr>
                      <a:solidFill>
                        <a:schemeClr val="tx1"/>
                      </a:solidFill>
                      <a:latin typeface="Verdana" panose="020B0604030504040204" pitchFamily="34" charset="0"/>
                    </a:defRPr>
                  </a:lvl4pPr>
                  <a:lvl5pPr marL="2057400" indent="-228600" eaLnBrk="0" hangingPunct="0">
                    <a:tabLst>
                      <a:tab pos="628650" algn="l"/>
                    </a:tabLst>
                    <a:defRPr>
                      <a:solidFill>
                        <a:schemeClr val="tx1"/>
                      </a:solidFill>
                      <a:latin typeface="Verdana" panose="020B0604030504040204" pitchFamily="34" charset="0"/>
                    </a:defRPr>
                  </a:lvl5pPr>
                  <a:lvl6pPr marL="25146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6pPr>
                  <a:lvl7pPr marL="29718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7pPr>
                  <a:lvl8pPr marL="34290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8pPr>
                  <a:lvl9pPr marL="38862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9pPr>
                </a:lstStyle>
                <a:p>
                  <a:pPr eaLnBrk="1" hangingPunct="1"/>
                  <a:r>
                    <a:rPr lang="es-ES" altLang="es-PE" sz="1000">
                      <a:latin typeface="Arial" panose="020B0604020202020204" pitchFamily="34" charset="0"/>
                      <a:cs typeface="Arial" panose="020B0604020202020204" pitchFamily="34" charset="0"/>
                    </a:rPr>
                    <a:t> </a:t>
                  </a:r>
                </a:p>
                <a:p>
                  <a:r>
                    <a:rPr lang="es-ES" altLang="es-PE" sz="1000">
                      <a:latin typeface="Arial" panose="020B0604020202020204" pitchFamily="34" charset="0"/>
                      <a:cs typeface="Arial" panose="020B0604020202020204" pitchFamily="34" charset="0"/>
                    </a:rPr>
                    <a:t> </a:t>
                  </a:r>
                </a:p>
                <a:p>
                  <a:r>
                    <a:rPr lang="es-ES" altLang="es-PE" sz="1000">
                      <a:latin typeface="Arial" panose="020B0604020202020204" pitchFamily="34" charset="0"/>
                      <a:cs typeface="Arial" panose="020B0604020202020204" pitchFamily="34" charset="0"/>
                    </a:rPr>
                    <a:t> </a:t>
                  </a:r>
                </a:p>
                <a:p>
                  <a:r>
                    <a:rPr lang="es-ES" altLang="es-PE" sz="1000">
                      <a:latin typeface="Arial" panose="020B0604020202020204" pitchFamily="34" charset="0"/>
                      <a:cs typeface="Arial" panose="020B0604020202020204" pitchFamily="34" charset="0"/>
                    </a:rPr>
                    <a:t>      Proy. Gomportz</a:t>
                  </a:r>
                </a:p>
                <a:p>
                  <a:endParaRPr lang="es-ES" altLang="es-PE"/>
                </a:p>
              </p:txBody>
            </p:sp>
            <p:sp>
              <p:nvSpPr>
                <p:cNvPr id="2098" name="Rectangle 110"/>
                <p:cNvSpPr>
                  <a:spLocks noChangeArrowheads="1"/>
                </p:cNvSpPr>
                <p:nvPr/>
              </p:nvSpPr>
              <p:spPr bwMode="auto">
                <a:xfrm>
                  <a:off x="0" y="2033"/>
                  <a:ext cx="1000" cy="94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nvGrpSpPr>
              <p:cNvPr id="2091" name="Group 111"/>
              <p:cNvGrpSpPr>
                <a:grpSpLocks/>
              </p:cNvGrpSpPr>
              <p:nvPr/>
            </p:nvGrpSpPr>
            <p:grpSpPr bwMode="auto">
              <a:xfrm>
                <a:off x="1000" y="2033"/>
                <a:ext cx="777" cy="944"/>
                <a:chOff x="1000" y="2033"/>
                <a:chExt cx="777" cy="944"/>
              </a:xfrm>
            </p:grpSpPr>
            <p:sp>
              <p:nvSpPr>
                <p:cNvPr id="2095" name="Rectangle 112"/>
                <p:cNvSpPr>
                  <a:spLocks noChangeArrowheads="1"/>
                </p:cNvSpPr>
                <p:nvPr/>
              </p:nvSpPr>
              <p:spPr bwMode="auto">
                <a:xfrm>
                  <a:off x="1028" y="2033"/>
                  <a:ext cx="721" cy="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es-BO" altLang="es-PE" sz="1000">
                      <a:latin typeface="Arial" panose="020B0604020202020204" pitchFamily="34" charset="0"/>
                      <a:cs typeface="Arial" panose="020B0604020202020204" pitchFamily="34" charset="0"/>
                    </a:rPr>
                    <a:t> </a:t>
                  </a:r>
                  <a:endParaRPr lang="es-BO" altLang="es-PE" sz="1200">
                    <a:cs typeface="Times New Roman" panose="02020603050405020304" pitchFamily="18" charset="0"/>
                  </a:endParaRPr>
                </a:p>
                <a:p>
                  <a:r>
                    <a:rPr lang="es-BO" altLang="es-PE" sz="1000">
                      <a:latin typeface="Arial" panose="020B0604020202020204" pitchFamily="34" charset="0"/>
                      <a:cs typeface="Arial" panose="020B0604020202020204" pitchFamily="34" charset="0"/>
                    </a:rPr>
                    <a:t> </a:t>
                  </a:r>
                  <a:endParaRPr lang="es-BO" altLang="es-PE" sz="1200">
                    <a:cs typeface="Times New Roman" panose="02020603050405020304" pitchFamily="18" charset="0"/>
                  </a:endParaRPr>
                </a:p>
                <a:p>
                  <a:r>
                    <a:rPr lang="es-BO" altLang="es-PE" sz="1000">
                      <a:latin typeface="Arial" panose="020B0604020202020204" pitchFamily="34" charset="0"/>
                      <a:cs typeface="Arial" panose="020B0604020202020204" pitchFamily="34" charset="0"/>
                    </a:rPr>
                    <a:t> </a:t>
                  </a:r>
                  <a:endParaRPr lang="es-BO" altLang="es-PE" sz="1200">
                    <a:cs typeface="Times New Roman" panose="02020603050405020304" pitchFamily="18" charset="0"/>
                  </a:endParaRPr>
                </a:p>
                <a:p>
                  <a:r>
                    <a:rPr lang="es-BO" altLang="es-PE" sz="1000">
                      <a:latin typeface="Arial" panose="020B0604020202020204" pitchFamily="34" charset="0"/>
                      <a:cs typeface="Arial" panose="020B0604020202020204" pitchFamily="34" charset="0"/>
                    </a:rPr>
                    <a:t> </a:t>
                  </a:r>
                  <a:endParaRPr lang="es-BO" altLang="es-PE" sz="1200">
                    <a:cs typeface="Times New Roman" panose="02020603050405020304" pitchFamily="18" charset="0"/>
                  </a:endParaRPr>
                </a:p>
                <a:p>
                  <a:r>
                    <a:rPr lang="es-BO" altLang="es-PE" sz="1200">
                      <a:cs typeface="Times New Roman" panose="02020603050405020304" pitchFamily="18" charset="0"/>
                    </a:rPr>
                    <a:t> </a:t>
                  </a:r>
                </a:p>
                <a:p>
                  <a:endParaRPr lang="es-BO" altLang="es-PE"/>
                </a:p>
              </p:txBody>
            </p:sp>
            <p:sp>
              <p:nvSpPr>
                <p:cNvPr id="2096" name="Rectangle 113"/>
                <p:cNvSpPr>
                  <a:spLocks noChangeArrowheads="1"/>
                </p:cNvSpPr>
                <p:nvPr/>
              </p:nvSpPr>
              <p:spPr bwMode="auto">
                <a:xfrm>
                  <a:off x="1000" y="2033"/>
                  <a:ext cx="777" cy="94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nvGrpSpPr>
              <p:cNvPr id="2092" name="Group 114"/>
              <p:cNvGrpSpPr>
                <a:grpSpLocks/>
              </p:cNvGrpSpPr>
              <p:nvPr/>
            </p:nvGrpSpPr>
            <p:grpSpPr bwMode="auto">
              <a:xfrm>
                <a:off x="1777" y="2033"/>
                <a:ext cx="1286" cy="944"/>
                <a:chOff x="1777" y="2033"/>
                <a:chExt cx="1286" cy="944"/>
              </a:xfrm>
            </p:grpSpPr>
            <p:sp>
              <p:nvSpPr>
                <p:cNvPr id="2093" name="Rectangle 115"/>
                <p:cNvSpPr>
                  <a:spLocks noChangeArrowheads="1"/>
                </p:cNvSpPr>
                <p:nvPr/>
              </p:nvSpPr>
              <p:spPr bwMode="auto">
                <a:xfrm>
                  <a:off x="1805" y="2033"/>
                  <a:ext cx="1230" cy="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tabLst>
                      <a:tab pos="628650" algn="l"/>
                    </a:tabLst>
                    <a:defRPr>
                      <a:solidFill>
                        <a:schemeClr val="tx1"/>
                      </a:solidFill>
                      <a:latin typeface="Verdana" panose="020B0604030504040204" pitchFamily="34" charset="0"/>
                    </a:defRPr>
                  </a:lvl1pPr>
                  <a:lvl2pPr marL="742950" indent="-285750" eaLnBrk="0" hangingPunct="0">
                    <a:tabLst>
                      <a:tab pos="628650" algn="l"/>
                    </a:tabLst>
                    <a:defRPr>
                      <a:solidFill>
                        <a:schemeClr val="tx1"/>
                      </a:solidFill>
                      <a:latin typeface="Verdana" panose="020B0604030504040204" pitchFamily="34" charset="0"/>
                    </a:defRPr>
                  </a:lvl2pPr>
                  <a:lvl3pPr marL="1143000" indent="-228600" eaLnBrk="0" hangingPunct="0">
                    <a:tabLst>
                      <a:tab pos="628650" algn="l"/>
                    </a:tabLst>
                    <a:defRPr>
                      <a:solidFill>
                        <a:schemeClr val="tx1"/>
                      </a:solidFill>
                      <a:latin typeface="Verdana" panose="020B0604030504040204" pitchFamily="34" charset="0"/>
                    </a:defRPr>
                  </a:lvl3pPr>
                  <a:lvl4pPr marL="1600200" indent="-228600" eaLnBrk="0" hangingPunct="0">
                    <a:tabLst>
                      <a:tab pos="628650" algn="l"/>
                    </a:tabLst>
                    <a:defRPr>
                      <a:solidFill>
                        <a:schemeClr val="tx1"/>
                      </a:solidFill>
                      <a:latin typeface="Verdana" panose="020B0604030504040204" pitchFamily="34" charset="0"/>
                    </a:defRPr>
                  </a:lvl4pPr>
                  <a:lvl5pPr marL="2057400" indent="-228600" eaLnBrk="0" hangingPunct="0">
                    <a:tabLst>
                      <a:tab pos="628650" algn="l"/>
                    </a:tabLst>
                    <a:defRPr>
                      <a:solidFill>
                        <a:schemeClr val="tx1"/>
                      </a:solidFill>
                      <a:latin typeface="Verdana" panose="020B0604030504040204" pitchFamily="34" charset="0"/>
                    </a:defRPr>
                  </a:lvl5pPr>
                  <a:lvl6pPr marL="25146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6pPr>
                  <a:lvl7pPr marL="29718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7pPr>
                  <a:lvl8pPr marL="34290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8pPr>
                  <a:lvl9pPr marL="3886200" indent="-228600" eaLnBrk="0" fontAlgn="base" hangingPunct="0">
                    <a:spcBef>
                      <a:spcPct val="0"/>
                    </a:spcBef>
                    <a:spcAft>
                      <a:spcPct val="0"/>
                    </a:spcAft>
                    <a:tabLst>
                      <a:tab pos="628650" algn="l"/>
                    </a:tabLst>
                    <a:defRPr>
                      <a:solidFill>
                        <a:schemeClr val="tx1"/>
                      </a:solidFill>
                      <a:latin typeface="Verdana" panose="020B0604030504040204" pitchFamily="34" charset="0"/>
                    </a:defRPr>
                  </a:lvl9pPr>
                </a:lstStyle>
                <a:p>
                  <a:pPr eaLnBrk="1" hangingPunct="1"/>
                  <a:r>
                    <a:rPr lang="es-BO" altLang="es-PE" sz="1000">
                      <a:latin typeface="Arial" panose="020B0604020202020204" pitchFamily="34" charset="0"/>
                      <a:cs typeface="Arial" panose="020B0604020202020204" pitchFamily="34" charset="0"/>
                    </a:rPr>
                    <a:t> </a:t>
                  </a:r>
                  <a:endParaRPr lang="es-BO" altLang="es-PE" sz="1200">
                    <a:cs typeface="Times New Roman" panose="02020603050405020304" pitchFamily="18" charset="0"/>
                  </a:endParaRPr>
                </a:p>
                <a:p>
                  <a:r>
                    <a:rPr lang="es-BO" altLang="es-PE" sz="1000">
                      <a:latin typeface="Arial" panose="020B0604020202020204" pitchFamily="34" charset="0"/>
                      <a:cs typeface="Arial" panose="020B0604020202020204" pitchFamily="34" charset="0"/>
                    </a:rPr>
                    <a:t> </a:t>
                  </a:r>
                  <a:endParaRPr lang="es-BO" altLang="es-PE" sz="1200">
                    <a:cs typeface="Times New Roman" panose="02020603050405020304" pitchFamily="18" charset="0"/>
                  </a:endParaRPr>
                </a:p>
                <a:p>
                  <a:r>
                    <a:rPr lang="es-BO" altLang="es-PE" sz="1000">
                      <a:latin typeface="Arial" panose="020B0604020202020204" pitchFamily="34" charset="0"/>
                      <a:cs typeface="Arial" panose="020B0604020202020204" pitchFamily="34" charset="0"/>
                    </a:rPr>
                    <a:t> </a:t>
                  </a:r>
                  <a:endParaRPr lang="es-BO" altLang="es-PE" sz="1200">
                    <a:cs typeface="Times New Roman" panose="02020603050405020304" pitchFamily="18" charset="0"/>
                  </a:endParaRPr>
                </a:p>
                <a:p>
                  <a:r>
                    <a:rPr lang="es-ES" altLang="es-PE" sz="1000">
                      <a:latin typeface="Arial" panose="020B0604020202020204" pitchFamily="34" charset="0"/>
                      <a:cs typeface="Arial" panose="020B0604020202020204" pitchFamily="34" charset="0"/>
                    </a:rPr>
                    <a:t> </a:t>
                  </a:r>
                </a:p>
                <a:p>
                  <a:endParaRPr lang="es-ES" altLang="es-PE"/>
                </a:p>
              </p:txBody>
            </p:sp>
            <p:sp>
              <p:nvSpPr>
                <p:cNvPr id="2094" name="Rectangle 116"/>
                <p:cNvSpPr>
                  <a:spLocks noChangeArrowheads="1"/>
                </p:cNvSpPr>
                <p:nvPr/>
              </p:nvSpPr>
              <p:spPr bwMode="auto">
                <a:xfrm>
                  <a:off x="1777" y="2033"/>
                  <a:ext cx="1286" cy="94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sp>
          <p:nvSpPr>
            <p:cNvPr id="2083" name="Rectangle 117"/>
            <p:cNvSpPr>
              <a:spLocks noChangeArrowheads="1"/>
            </p:cNvSpPr>
            <p:nvPr/>
          </p:nvSpPr>
          <p:spPr bwMode="auto">
            <a:xfrm>
              <a:off x="-3" y="-3"/>
              <a:ext cx="3069" cy="2983"/>
            </a:xfrm>
            <a:prstGeom prst="rect">
              <a:avLst/>
            </a:prstGeom>
            <a:noFill/>
            <a:ln w="11112">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aphicFrame>
        <p:nvGraphicFramePr>
          <p:cNvPr id="2054" name="Object 6"/>
          <p:cNvGraphicFramePr>
            <a:graphicFrameLocks noChangeAspect="1"/>
          </p:cNvGraphicFramePr>
          <p:nvPr/>
        </p:nvGraphicFramePr>
        <p:xfrm>
          <a:off x="7772400" y="3276600"/>
          <a:ext cx="609600" cy="342900"/>
        </p:xfrm>
        <a:graphic>
          <a:graphicData uri="http://schemas.openxmlformats.org/presentationml/2006/ole">
            <mc:AlternateContent xmlns:mc="http://schemas.openxmlformats.org/markup-compatibility/2006">
              <mc:Choice xmlns:v="urn:schemas-microsoft-com:vml" Requires="v">
                <p:oleObj spid="_x0000_s4389" r:id="rId11" imgW="609336" imgH="342751" progId="Equation.3">
                  <p:embed/>
                </p:oleObj>
              </mc:Choice>
              <mc:Fallback>
                <p:oleObj r:id="rId11" imgW="609336" imgH="342751" progId="Equation.3">
                  <p:embed/>
                  <p:pic>
                    <p:nvPicPr>
                      <p:cNvPr id="2054"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72400" y="3276600"/>
                        <a:ext cx="6096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5" name="Object 7"/>
          <p:cNvGraphicFramePr>
            <a:graphicFrameLocks noChangeAspect="1"/>
          </p:cNvGraphicFramePr>
          <p:nvPr/>
        </p:nvGraphicFramePr>
        <p:xfrm>
          <a:off x="7772401" y="4114800"/>
          <a:ext cx="600075" cy="342900"/>
        </p:xfrm>
        <a:graphic>
          <a:graphicData uri="http://schemas.openxmlformats.org/presentationml/2006/ole">
            <mc:AlternateContent xmlns:mc="http://schemas.openxmlformats.org/markup-compatibility/2006">
              <mc:Choice xmlns:v="urn:schemas-microsoft-com:vml" Requires="v">
                <p:oleObj spid="_x0000_s4390" r:id="rId13" imgW="596900" imgH="342900" progId="Equation.3">
                  <p:embed/>
                </p:oleObj>
              </mc:Choice>
              <mc:Fallback>
                <p:oleObj r:id="rId13" imgW="596900" imgH="342900" progId="Equation.3">
                  <p:embed/>
                  <p:pic>
                    <p:nvPicPr>
                      <p:cNvPr id="2055"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2401" y="4114800"/>
                        <a:ext cx="600075"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6" name="Object 8"/>
          <p:cNvGraphicFramePr>
            <a:graphicFrameLocks noChangeAspect="1"/>
          </p:cNvGraphicFramePr>
          <p:nvPr/>
        </p:nvGraphicFramePr>
        <p:xfrm>
          <a:off x="7696201" y="5486400"/>
          <a:ext cx="752475" cy="381000"/>
        </p:xfrm>
        <a:graphic>
          <a:graphicData uri="http://schemas.openxmlformats.org/presentationml/2006/ole">
            <mc:AlternateContent xmlns:mc="http://schemas.openxmlformats.org/markup-compatibility/2006">
              <mc:Choice xmlns:v="urn:schemas-microsoft-com:vml" Requires="v">
                <p:oleObj spid="_x0000_s4391" r:id="rId15" imgW="672808" imgH="330057" progId="Equation.3">
                  <p:embed/>
                </p:oleObj>
              </mc:Choice>
              <mc:Fallback>
                <p:oleObj r:id="rId15" imgW="672808" imgH="330057" progId="Equation.3">
                  <p:embed/>
                  <p:pic>
                    <p:nvPicPr>
                      <p:cNvPr id="2056"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696201" y="5486400"/>
                        <a:ext cx="75247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064" name="Group 121"/>
          <p:cNvGrpSpPr>
            <a:grpSpLocks/>
          </p:cNvGrpSpPr>
          <p:nvPr/>
        </p:nvGrpSpPr>
        <p:grpSpPr bwMode="auto">
          <a:xfrm>
            <a:off x="8763000" y="3048000"/>
            <a:ext cx="1314450" cy="1714500"/>
            <a:chOff x="6834" y="2416"/>
            <a:chExt cx="2430" cy="2700"/>
          </a:xfrm>
        </p:grpSpPr>
        <p:sp>
          <p:nvSpPr>
            <p:cNvPr id="2073" name="Line 122"/>
            <p:cNvSpPr>
              <a:spLocks noChangeShapeType="1"/>
            </p:cNvSpPr>
            <p:nvPr/>
          </p:nvSpPr>
          <p:spPr bwMode="auto">
            <a:xfrm flipV="1">
              <a:off x="7104" y="2416"/>
              <a:ext cx="0" cy="12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2074" name="AutoShape 123"/>
            <p:cNvSpPr>
              <a:spLocks/>
            </p:cNvSpPr>
            <p:nvPr/>
          </p:nvSpPr>
          <p:spPr bwMode="auto">
            <a:xfrm>
              <a:off x="7257" y="3163"/>
              <a:ext cx="90" cy="360"/>
            </a:xfrm>
            <a:prstGeom prst="rightBrace">
              <a:avLst>
                <a:gd name="adj1" fmla="val 33333"/>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sp>
          <p:nvSpPr>
            <p:cNvPr id="2075" name="Line 124"/>
            <p:cNvSpPr>
              <a:spLocks noChangeShapeType="1"/>
            </p:cNvSpPr>
            <p:nvPr/>
          </p:nvSpPr>
          <p:spPr bwMode="auto">
            <a:xfrm>
              <a:off x="6987" y="3523"/>
              <a:ext cx="22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2076" name="Line 125"/>
            <p:cNvSpPr>
              <a:spLocks noChangeShapeType="1"/>
            </p:cNvSpPr>
            <p:nvPr/>
          </p:nvSpPr>
          <p:spPr bwMode="auto">
            <a:xfrm>
              <a:off x="7104" y="3136"/>
              <a:ext cx="207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s-PE"/>
            </a:p>
          </p:txBody>
        </p:sp>
        <p:sp>
          <p:nvSpPr>
            <p:cNvPr id="2077" name="Freeform 126"/>
            <p:cNvSpPr>
              <a:spLocks/>
            </p:cNvSpPr>
            <p:nvPr/>
          </p:nvSpPr>
          <p:spPr bwMode="auto">
            <a:xfrm>
              <a:off x="7284" y="2416"/>
              <a:ext cx="1710" cy="570"/>
            </a:xfrm>
            <a:custGeom>
              <a:avLst/>
              <a:gdLst>
                <a:gd name="T0" fmla="*/ 0 w 1710"/>
                <a:gd name="T1" fmla="*/ 0 h 570"/>
                <a:gd name="T2" fmla="*/ 90 w 1710"/>
                <a:gd name="T3" fmla="*/ 360 h 570"/>
                <a:gd name="T4" fmla="*/ 450 w 1710"/>
                <a:gd name="T5" fmla="*/ 540 h 570"/>
                <a:gd name="T6" fmla="*/ 1170 w 1710"/>
                <a:gd name="T7" fmla="*/ 540 h 570"/>
                <a:gd name="T8" fmla="*/ 1710 w 1710"/>
                <a:gd name="T9" fmla="*/ 540 h 570"/>
                <a:gd name="T10" fmla="*/ 0 60000 65536"/>
                <a:gd name="T11" fmla="*/ 0 60000 65536"/>
                <a:gd name="T12" fmla="*/ 0 60000 65536"/>
                <a:gd name="T13" fmla="*/ 0 60000 65536"/>
                <a:gd name="T14" fmla="*/ 0 60000 65536"/>
                <a:gd name="T15" fmla="*/ 0 w 1710"/>
                <a:gd name="T16" fmla="*/ 0 h 570"/>
                <a:gd name="T17" fmla="*/ 1710 w 1710"/>
                <a:gd name="T18" fmla="*/ 570 h 570"/>
              </a:gdLst>
              <a:ahLst/>
              <a:cxnLst>
                <a:cxn ang="T10">
                  <a:pos x="T0" y="T1"/>
                </a:cxn>
                <a:cxn ang="T11">
                  <a:pos x="T2" y="T3"/>
                </a:cxn>
                <a:cxn ang="T12">
                  <a:pos x="T4" y="T5"/>
                </a:cxn>
                <a:cxn ang="T13">
                  <a:pos x="T6" y="T7"/>
                </a:cxn>
                <a:cxn ang="T14">
                  <a:pos x="T8" y="T9"/>
                </a:cxn>
              </a:cxnLst>
              <a:rect l="T15" t="T16" r="T17" b="T18"/>
              <a:pathLst>
                <a:path w="1710" h="570">
                  <a:moveTo>
                    <a:pt x="0" y="0"/>
                  </a:moveTo>
                  <a:cubicBezTo>
                    <a:pt x="7" y="135"/>
                    <a:pt x="15" y="270"/>
                    <a:pt x="90" y="360"/>
                  </a:cubicBezTo>
                  <a:cubicBezTo>
                    <a:pt x="165" y="450"/>
                    <a:pt x="270" y="510"/>
                    <a:pt x="450" y="540"/>
                  </a:cubicBezTo>
                  <a:cubicBezTo>
                    <a:pt x="630" y="570"/>
                    <a:pt x="960" y="540"/>
                    <a:pt x="1170" y="540"/>
                  </a:cubicBezTo>
                  <a:cubicBezTo>
                    <a:pt x="1380" y="540"/>
                    <a:pt x="1620" y="540"/>
                    <a:pt x="1710" y="54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sp>
          <p:nvSpPr>
            <p:cNvPr id="2078" name="Line 127"/>
            <p:cNvSpPr>
              <a:spLocks noChangeShapeType="1"/>
            </p:cNvSpPr>
            <p:nvPr/>
          </p:nvSpPr>
          <p:spPr bwMode="auto">
            <a:xfrm>
              <a:off x="7022" y="5116"/>
              <a:ext cx="21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2079" name="Freeform 128"/>
            <p:cNvSpPr>
              <a:spLocks/>
            </p:cNvSpPr>
            <p:nvPr/>
          </p:nvSpPr>
          <p:spPr bwMode="auto">
            <a:xfrm>
              <a:off x="7104" y="4186"/>
              <a:ext cx="1980" cy="930"/>
            </a:xfrm>
            <a:custGeom>
              <a:avLst/>
              <a:gdLst>
                <a:gd name="T0" fmla="*/ 0 w 1980"/>
                <a:gd name="T1" fmla="*/ 930 h 930"/>
                <a:gd name="T2" fmla="*/ 90 w 1980"/>
                <a:gd name="T3" fmla="*/ 570 h 930"/>
                <a:gd name="T4" fmla="*/ 360 w 1980"/>
                <a:gd name="T5" fmla="*/ 210 h 930"/>
                <a:gd name="T6" fmla="*/ 990 w 1980"/>
                <a:gd name="T7" fmla="*/ 30 h 930"/>
                <a:gd name="T8" fmla="*/ 1980 w 1980"/>
                <a:gd name="T9" fmla="*/ 30 h 930"/>
                <a:gd name="T10" fmla="*/ 0 60000 65536"/>
                <a:gd name="T11" fmla="*/ 0 60000 65536"/>
                <a:gd name="T12" fmla="*/ 0 60000 65536"/>
                <a:gd name="T13" fmla="*/ 0 60000 65536"/>
                <a:gd name="T14" fmla="*/ 0 60000 65536"/>
                <a:gd name="T15" fmla="*/ 0 w 1980"/>
                <a:gd name="T16" fmla="*/ 0 h 930"/>
                <a:gd name="T17" fmla="*/ 1980 w 1980"/>
                <a:gd name="T18" fmla="*/ 930 h 930"/>
              </a:gdLst>
              <a:ahLst/>
              <a:cxnLst>
                <a:cxn ang="T10">
                  <a:pos x="T0" y="T1"/>
                </a:cxn>
                <a:cxn ang="T11">
                  <a:pos x="T2" y="T3"/>
                </a:cxn>
                <a:cxn ang="T12">
                  <a:pos x="T4" y="T5"/>
                </a:cxn>
                <a:cxn ang="T13">
                  <a:pos x="T6" y="T7"/>
                </a:cxn>
                <a:cxn ang="T14">
                  <a:pos x="T8" y="T9"/>
                </a:cxn>
              </a:cxnLst>
              <a:rect l="T15" t="T16" r="T17" b="T18"/>
              <a:pathLst>
                <a:path w="1980" h="930">
                  <a:moveTo>
                    <a:pt x="0" y="930"/>
                  </a:moveTo>
                  <a:cubicBezTo>
                    <a:pt x="15" y="810"/>
                    <a:pt x="30" y="690"/>
                    <a:pt x="90" y="570"/>
                  </a:cubicBezTo>
                  <a:cubicBezTo>
                    <a:pt x="150" y="450"/>
                    <a:pt x="210" y="300"/>
                    <a:pt x="360" y="210"/>
                  </a:cubicBezTo>
                  <a:cubicBezTo>
                    <a:pt x="510" y="120"/>
                    <a:pt x="720" y="60"/>
                    <a:pt x="990" y="30"/>
                  </a:cubicBezTo>
                  <a:cubicBezTo>
                    <a:pt x="1260" y="0"/>
                    <a:pt x="1620" y="15"/>
                    <a:pt x="1980" y="3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sp>
          <p:nvSpPr>
            <p:cNvPr id="2080" name="Line 129"/>
            <p:cNvSpPr>
              <a:spLocks noChangeShapeType="1"/>
            </p:cNvSpPr>
            <p:nvPr/>
          </p:nvSpPr>
          <p:spPr bwMode="auto">
            <a:xfrm>
              <a:off x="7104" y="4036"/>
              <a:ext cx="216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s-PE"/>
            </a:p>
          </p:txBody>
        </p:sp>
        <p:sp>
          <p:nvSpPr>
            <p:cNvPr id="2081" name="AutoShape 130"/>
            <p:cNvSpPr>
              <a:spLocks/>
            </p:cNvSpPr>
            <p:nvPr/>
          </p:nvSpPr>
          <p:spPr bwMode="auto">
            <a:xfrm>
              <a:off x="6834" y="4036"/>
              <a:ext cx="270" cy="1080"/>
            </a:xfrm>
            <a:prstGeom prst="leftBrace">
              <a:avLst>
                <a:gd name="adj1" fmla="val 33333"/>
                <a:gd name="adj2" fmla="val 58333"/>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grpSp>
        <p:nvGrpSpPr>
          <p:cNvPr id="2065" name="Group 131"/>
          <p:cNvGrpSpPr>
            <a:grpSpLocks/>
          </p:cNvGrpSpPr>
          <p:nvPr/>
        </p:nvGrpSpPr>
        <p:grpSpPr bwMode="auto">
          <a:xfrm>
            <a:off x="8686800" y="5181600"/>
            <a:ext cx="1295400" cy="914400"/>
            <a:chOff x="7011" y="5741"/>
            <a:chExt cx="2250" cy="1440"/>
          </a:xfrm>
        </p:grpSpPr>
        <p:sp>
          <p:nvSpPr>
            <p:cNvPr id="2070" name="Line 132"/>
            <p:cNvSpPr>
              <a:spLocks noChangeShapeType="1"/>
            </p:cNvSpPr>
            <p:nvPr/>
          </p:nvSpPr>
          <p:spPr bwMode="auto">
            <a:xfrm flipV="1">
              <a:off x="7112" y="5741"/>
              <a:ext cx="0" cy="14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2071" name="Line 133"/>
            <p:cNvSpPr>
              <a:spLocks noChangeShapeType="1"/>
            </p:cNvSpPr>
            <p:nvPr/>
          </p:nvSpPr>
          <p:spPr bwMode="auto">
            <a:xfrm>
              <a:off x="7011" y="6998"/>
              <a:ext cx="22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2072" name="Freeform 134"/>
            <p:cNvSpPr>
              <a:spLocks/>
            </p:cNvSpPr>
            <p:nvPr/>
          </p:nvSpPr>
          <p:spPr bwMode="auto">
            <a:xfrm>
              <a:off x="7112" y="6101"/>
              <a:ext cx="1830" cy="855"/>
            </a:xfrm>
            <a:custGeom>
              <a:avLst/>
              <a:gdLst>
                <a:gd name="T0" fmla="*/ 0 w 1830"/>
                <a:gd name="T1" fmla="*/ 855 h 855"/>
                <a:gd name="T2" fmla="*/ 105 w 1830"/>
                <a:gd name="T3" fmla="*/ 705 h 855"/>
                <a:gd name="T4" fmla="*/ 630 w 1830"/>
                <a:gd name="T5" fmla="*/ 525 h 855"/>
                <a:gd name="T6" fmla="*/ 690 w 1830"/>
                <a:gd name="T7" fmla="*/ 435 h 855"/>
                <a:gd name="T8" fmla="*/ 780 w 1830"/>
                <a:gd name="T9" fmla="*/ 255 h 855"/>
                <a:gd name="T10" fmla="*/ 960 w 1830"/>
                <a:gd name="T11" fmla="*/ 150 h 855"/>
                <a:gd name="T12" fmla="*/ 1050 w 1830"/>
                <a:gd name="T13" fmla="*/ 120 h 855"/>
                <a:gd name="T14" fmla="*/ 1290 w 1830"/>
                <a:gd name="T15" fmla="*/ 15 h 855"/>
                <a:gd name="T16" fmla="*/ 1665 w 1830"/>
                <a:gd name="T17" fmla="*/ 0 h 855"/>
                <a:gd name="T18" fmla="*/ 1830 w 1830"/>
                <a:gd name="T19" fmla="*/ 15 h 8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30"/>
                <a:gd name="T31" fmla="*/ 0 h 855"/>
                <a:gd name="T32" fmla="*/ 1830 w 1830"/>
                <a:gd name="T33" fmla="*/ 855 h 85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30" h="855">
                  <a:moveTo>
                    <a:pt x="0" y="855"/>
                  </a:moveTo>
                  <a:cubicBezTo>
                    <a:pt x="27" y="775"/>
                    <a:pt x="22" y="733"/>
                    <a:pt x="105" y="705"/>
                  </a:cubicBezTo>
                  <a:cubicBezTo>
                    <a:pt x="281" y="529"/>
                    <a:pt x="377" y="541"/>
                    <a:pt x="630" y="525"/>
                  </a:cubicBezTo>
                  <a:cubicBezTo>
                    <a:pt x="650" y="495"/>
                    <a:pt x="670" y="465"/>
                    <a:pt x="690" y="435"/>
                  </a:cubicBezTo>
                  <a:cubicBezTo>
                    <a:pt x="738" y="363"/>
                    <a:pt x="695" y="312"/>
                    <a:pt x="780" y="255"/>
                  </a:cubicBezTo>
                  <a:cubicBezTo>
                    <a:pt x="838" y="216"/>
                    <a:pt x="897" y="178"/>
                    <a:pt x="960" y="150"/>
                  </a:cubicBezTo>
                  <a:cubicBezTo>
                    <a:pt x="989" y="137"/>
                    <a:pt x="1024" y="138"/>
                    <a:pt x="1050" y="120"/>
                  </a:cubicBezTo>
                  <a:cubicBezTo>
                    <a:pt x="1112" y="79"/>
                    <a:pt x="1216" y="18"/>
                    <a:pt x="1290" y="15"/>
                  </a:cubicBezTo>
                  <a:cubicBezTo>
                    <a:pt x="1415" y="10"/>
                    <a:pt x="1540" y="5"/>
                    <a:pt x="1665" y="0"/>
                  </a:cubicBezTo>
                  <a:cubicBezTo>
                    <a:pt x="1800" y="17"/>
                    <a:pt x="1745" y="15"/>
                    <a:pt x="1830" y="15"/>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pSp>
      <p:sp>
        <p:nvSpPr>
          <p:cNvPr id="2066" name="Line 135"/>
          <p:cNvSpPr>
            <a:spLocks noChangeShapeType="1"/>
          </p:cNvSpPr>
          <p:nvPr/>
        </p:nvSpPr>
        <p:spPr bwMode="auto">
          <a:xfrm flipV="1">
            <a:off x="8915400" y="4038600"/>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2067" name="Text Box 136"/>
          <p:cNvSpPr txBox="1">
            <a:spLocks noChangeArrowheads="1"/>
          </p:cNvSpPr>
          <p:nvPr/>
        </p:nvSpPr>
        <p:spPr bwMode="auto">
          <a:xfrm>
            <a:off x="8534400" y="4343401"/>
            <a:ext cx="3048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_tradnl" altLang="es-PE" sz="1000">
                <a:latin typeface="Arial" panose="020B0604020202020204" pitchFamily="34" charset="0"/>
              </a:rPr>
              <a:t>a</a:t>
            </a:r>
            <a:endParaRPr lang="es-ES" altLang="es-PE" sz="1000">
              <a:latin typeface="Arial" panose="020B0604020202020204" pitchFamily="34" charset="0"/>
            </a:endParaRPr>
          </a:p>
        </p:txBody>
      </p:sp>
      <p:sp>
        <p:nvSpPr>
          <p:cNvPr id="2068" name="Text Box 137"/>
          <p:cNvSpPr txBox="1">
            <a:spLocks noChangeArrowheads="1"/>
          </p:cNvSpPr>
          <p:nvPr/>
        </p:nvSpPr>
        <p:spPr bwMode="auto">
          <a:xfrm>
            <a:off x="9067800" y="3505201"/>
            <a:ext cx="3810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_tradnl" altLang="es-PE" sz="1000">
                <a:latin typeface="Arial" panose="020B0604020202020204" pitchFamily="34" charset="0"/>
              </a:rPr>
              <a:t>a</a:t>
            </a:r>
            <a:endParaRPr lang="es-ES" altLang="es-PE" sz="1000">
              <a:latin typeface="Arial" panose="020B0604020202020204" pitchFamily="34" charset="0"/>
            </a:endParaRPr>
          </a:p>
        </p:txBody>
      </p:sp>
      <p:sp>
        <p:nvSpPr>
          <p:cNvPr id="2069" name="Text Box 142"/>
          <p:cNvSpPr txBox="1">
            <a:spLocks noChangeArrowheads="1"/>
          </p:cNvSpPr>
          <p:nvPr/>
        </p:nvSpPr>
        <p:spPr bwMode="auto">
          <a:xfrm>
            <a:off x="4343400" y="3048001"/>
            <a:ext cx="3048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_tradnl" altLang="es-PE" sz="1000">
                <a:latin typeface="Arial" panose="020B0604020202020204" pitchFamily="34" charset="0"/>
              </a:rPr>
              <a:t>a</a:t>
            </a:r>
            <a:endParaRPr lang="es-ES" altLang="es-PE" sz="1000">
              <a:latin typeface="Arial" panose="020B0604020202020204" pitchFamily="34" charset="0"/>
            </a:endParaRPr>
          </a:p>
        </p:txBody>
      </p:sp>
    </p:spTree>
    <p:extLst>
      <p:ext uri="{BB962C8B-B14F-4D97-AF65-F5344CB8AC3E}">
        <p14:creationId xmlns:p14="http://schemas.microsoft.com/office/powerpoint/2010/main" val="21563193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s-MX" dirty="0" smtClean="0"/>
              <a:t>Regresión lineal</a:t>
            </a:r>
            <a:endParaRPr lang="es-ES" dirty="0" smtClean="0"/>
          </a:p>
        </p:txBody>
      </p:sp>
      <p:sp>
        <p:nvSpPr>
          <p:cNvPr id="16388" name="Line 4"/>
          <p:cNvSpPr>
            <a:spLocks noChangeShapeType="1"/>
          </p:cNvSpPr>
          <p:nvPr/>
        </p:nvSpPr>
        <p:spPr bwMode="auto">
          <a:xfrm>
            <a:off x="4724400" y="1981200"/>
            <a:ext cx="0" cy="434340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s-PE"/>
          </a:p>
        </p:txBody>
      </p:sp>
      <p:sp>
        <p:nvSpPr>
          <p:cNvPr id="16389" name="Line 5"/>
          <p:cNvSpPr>
            <a:spLocks noChangeShapeType="1"/>
          </p:cNvSpPr>
          <p:nvPr/>
        </p:nvSpPr>
        <p:spPr bwMode="auto">
          <a:xfrm>
            <a:off x="4572000" y="6172200"/>
            <a:ext cx="5257800" cy="0"/>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16390" name="Text Box 6"/>
          <p:cNvSpPr txBox="1">
            <a:spLocks noChangeArrowheads="1"/>
          </p:cNvSpPr>
          <p:nvPr/>
        </p:nvSpPr>
        <p:spPr bwMode="auto">
          <a:xfrm>
            <a:off x="4495800" y="6172200"/>
            <a:ext cx="304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t>0</a:t>
            </a:r>
            <a:endParaRPr lang="es-ES" sz="1200"/>
          </a:p>
        </p:txBody>
      </p:sp>
      <p:sp>
        <p:nvSpPr>
          <p:cNvPr id="16391" name="Text Box 20"/>
          <p:cNvSpPr txBox="1">
            <a:spLocks noChangeArrowheads="1"/>
          </p:cNvSpPr>
          <p:nvPr/>
        </p:nvSpPr>
        <p:spPr bwMode="auto">
          <a:xfrm>
            <a:off x="9677400" y="6202364"/>
            <a:ext cx="304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cs typeface="Times New Roman" pitchFamily="18" charset="0"/>
              </a:rPr>
              <a:t>x</a:t>
            </a:r>
            <a:endParaRPr lang="es-ES" sz="1200"/>
          </a:p>
        </p:txBody>
      </p:sp>
      <p:sp>
        <p:nvSpPr>
          <p:cNvPr id="16392" name="Text Box 21"/>
          <p:cNvSpPr txBox="1">
            <a:spLocks noChangeArrowheads="1"/>
          </p:cNvSpPr>
          <p:nvPr/>
        </p:nvSpPr>
        <p:spPr bwMode="auto">
          <a:xfrm>
            <a:off x="4495800" y="1905000"/>
            <a:ext cx="304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cs typeface="Times New Roman" pitchFamily="18" charset="0"/>
              </a:rPr>
              <a:t>y</a:t>
            </a:r>
            <a:endParaRPr lang="es-ES" sz="1200"/>
          </a:p>
        </p:txBody>
      </p:sp>
    </p:spTree>
    <p:extLst>
      <p:ext uri="{BB962C8B-B14F-4D97-AF65-F5344CB8AC3E}">
        <p14:creationId xmlns:p14="http://schemas.microsoft.com/office/powerpoint/2010/main" val="231375262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762000" y="203548"/>
            <a:ext cx="10363200" cy="1143000"/>
          </a:xfrm>
        </p:spPr>
        <p:txBody>
          <a:bodyPr/>
          <a:lstStyle/>
          <a:p>
            <a:r>
              <a:rPr lang="es-MX" smtClean="0"/>
              <a:t>GRÁFICAMENTE</a:t>
            </a:r>
            <a:endParaRPr lang="es-ES" smtClean="0"/>
          </a:p>
        </p:txBody>
      </p:sp>
      <p:sp>
        <p:nvSpPr>
          <p:cNvPr id="17411" name="Rectangle 3"/>
          <p:cNvSpPr>
            <a:spLocks noGrp="1" noChangeArrowheads="1"/>
          </p:cNvSpPr>
          <p:nvPr>
            <p:ph type="body" sz="half" idx="1"/>
          </p:nvPr>
        </p:nvSpPr>
        <p:spPr>
          <a:xfrm>
            <a:off x="569119" y="1752600"/>
            <a:ext cx="3024188" cy="4114800"/>
          </a:xfrm>
        </p:spPr>
        <p:txBody>
          <a:bodyPr/>
          <a:lstStyle/>
          <a:p>
            <a:pPr>
              <a:buFontTx/>
              <a:buNone/>
            </a:pPr>
            <a:r>
              <a:rPr lang="es-MX" dirty="0"/>
              <a:t>	</a:t>
            </a:r>
            <a:r>
              <a:rPr lang="es-MX" dirty="0" smtClean="0"/>
              <a:t>Datos de referencia</a:t>
            </a:r>
            <a:endParaRPr lang="es-ES" dirty="0"/>
          </a:p>
        </p:txBody>
      </p:sp>
      <p:grpSp>
        <p:nvGrpSpPr>
          <p:cNvPr id="2" name="Grupo 1"/>
          <p:cNvGrpSpPr/>
          <p:nvPr/>
        </p:nvGrpSpPr>
        <p:grpSpPr>
          <a:xfrm>
            <a:off x="4495800" y="1905000"/>
            <a:ext cx="5486400" cy="4572001"/>
            <a:chOff x="4495800" y="1905000"/>
            <a:chExt cx="5486400" cy="4572001"/>
          </a:xfrm>
        </p:grpSpPr>
        <p:sp>
          <p:nvSpPr>
            <p:cNvPr id="17412" name="Line 4"/>
            <p:cNvSpPr>
              <a:spLocks noChangeShapeType="1"/>
            </p:cNvSpPr>
            <p:nvPr/>
          </p:nvSpPr>
          <p:spPr bwMode="auto">
            <a:xfrm>
              <a:off x="4724400" y="1981200"/>
              <a:ext cx="0" cy="434340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s-PE"/>
            </a:p>
          </p:txBody>
        </p:sp>
        <p:sp>
          <p:nvSpPr>
            <p:cNvPr id="17413" name="Line 5"/>
            <p:cNvSpPr>
              <a:spLocks noChangeShapeType="1"/>
            </p:cNvSpPr>
            <p:nvPr/>
          </p:nvSpPr>
          <p:spPr bwMode="auto">
            <a:xfrm>
              <a:off x="4572000" y="6172200"/>
              <a:ext cx="5257800" cy="0"/>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17414" name="Text Box 6"/>
            <p:cNvSpPr txBox="1">
              <a:spLocks noChangeArrowheads="1"/>
            </p:cNvSpPr>
            <p:nvPr/>
          </p:nvSpPr>
          <p:spPr bwMode="auto">
            <a:xfrm>
              <a:off x="4495800" y="6172200"/>
              <a:ext cx="304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t>0</a:t>
              </a:r>
              <a:endParaRPr lang="es-ES" sz="1200"/>
            </a:p>
          </p:txBody>
        </p:sp>
        <p:sp>
          <p:nvSpPr>
            <p:cNvPr id="17415" name="Text Box 7"/>
            <p:cNvSpPr txBox="1">
              <a:spLocks noChangeArrowheads="1"/>
            </p:cNvSpPr>
            <p:nvPr/>
          </p:nvSpPr>
          <p:spPr bwMode="auto">
            <a:xfrm>
              <a:off x="5791200" y="4495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7416" name="Text Box 9"/>
            <p:cNvSpPr txBox="1">
              <a:spLocks noChangeArrowheads="1"/>
            </p:cNvSpPr>
            <p:nvPr/>
          </p:nvSpPr>
          <p:spPr bwMode="auto">
            <a:xfrm>
              <a:off x="4876800" y="5029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7417" name="Text Box 10"/>
            <p:cNvSpPr txBox="1">
              <a:spLocks noChangeArrowheads="1"/>
            </p:cNvSpPr>
            <p:nvPr/>
          </p:nvSpPr>
          <p:spPr bwMode="auto">
            <a:xfrm>
              <a:off x="5562600" y="5257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7418" name="Text Box 11"/>
            <p:cNvSpPr txBox="1">
              <a:spLocks noChangeArrowheads="1"/>
            </p:cNvSpPr>
            <p:nvPr/>
          </p:nvSpPr>
          <p:spPr bwMode="auto">
            <a:xfrm>
              <a:off x="6400800" y="4800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7419" name="Text Box 12"/>
            <p:cNvSpPr txBox="1">
              <a:spLocks noChangeArrowheads="1"/>
            </p:cNvSpPr>
            <p:nvPr/>
          </p:nvSpPr>
          <p:spPr bwMode="auto">
            <a:xfrm>
              <a:off x="6629400" y="426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7420" name="Text Box 13"/>
            <p:cNvSpPr txBox="1">
              <a:spLocks noChangeArrowheads="1"/>
            </p:cNvSpPr>
            <p:nvPr/>
          </p:nvSpPr>
          <p:spPr bwMode="auto">
            <a:xfrm>
              <a:off x="7162800" y="4343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7421" name="Text Box 14"/>
            <p:cNvSpPr txBox="1">
              <a:spLocks noChangeArrowheads="1"/>
            </p:cNvSpPr>
            <p:nvPr/>
          </p:nvSpPr>
          <p:spPr bwMode="auto">
            <a:xfrm>
              <a:off x="7391400" y="3810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7422" name="Text Box 15"/>
            <p:cNvSpPr txBox="1">
              <a:spLocks noChangeArrowheads="1"/>
            </p:cNvSpPr>
            <p:nvPr/>
          </p:nvSpPr>
          <p:spPr bwMode="auto">
            <a:xfrm>
              <a:off x="8001000" y="396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7423" name="Text Box 16"/>
            <p:cNvSpPr txBox="1">
              <a:spLocks noChangeArrowheads="1"/>
            </p:cNvSpPr>
            <p:nvPr/>
          </p:nvSpPr>
          <p:spPr bwMode="auto">
            <a:xfrm>
              <a:off x="8229600" y="3429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7424" name="Text Box 17"/>
            <p:cNvSpPr txBox="1">
              <a:spLocks noChangeArrowheads="1"/>
            </p:cNvSpPr>
            <p:nvPr/>
          </p:nvSpPr>
          <p:spPr bwMode="auto">
            <a:xfrm>
              <a:off x="8839200" y="3505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7425" name="Text Box 18"/>
            <p:cNvSpPr txBox="1">
              <a:spLocks noChangeArrowheads="1"/>
            </p:cNvSpPr>
            <p:nvPr/>
          </p:nvSpPr>
          <p:spPr bwMode="auto">
            <a:xfrm>
              <a:off x="89916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7426" name="Text Box 20"/>
            <p:cNvSpPr txBox="1">
              <a:spLocks noChangeArrowheads="1"/>
            </p:cNvSpPr>
            <p:nvPr/>
          </p:nvSpPr>
          <p:spPr bwMode="auto">
            <a:xfrm>
              <a:off x="9677400" y="6202364"/>
              <a:ext cx="304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cs typeface="Times New Roman" pitchFamily="18" charset="0"/>
                </a:rPr>
                <a:t>x</a:t>
              </a:r>
              <a:endParaRPr lang="es-ES" sz="1200"/>
            </a:p>
          </p:txBody>
        </p:sp>
        <p:sp>
          <p:nvSpPr>
            <p:cNvPr id="17427" name="Text Box 21"/>
            <p:cNvSpPr txBox="1">
              <a:spLocks noChangeArrowheads="1"/>
            </p:cNvSpPr>
            <p:nvPr/>
          </p:nvSpPr>
          <p:spPr bwMode="auto">
            <a:xfrm>
              <a:off x="4495800" y="1905000"/>
              <a:ext cx="304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cs typeface="Times New Roman" pitchFamily="18" charset="0"/>
                </a:rPr>
                <a:t>y</a:t>
              </a:r>
              <a:endParaRPr lang="es-ES" sz="1200"/>
            </a:p>
          </p:txBody>
        </p:sp>
      </p:grpSp>
    </p:spTree>
    <p:extLst>
      <p:ext uri="{BB962C8B-B14F-4D97-AF65-F5344CB8AC3E}">
        <p14:creationId xmlns:p14="http://schemas.microsoft.com/office/powerpoint/2010/main" val="204114295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s-MX" smtClean="0"/>
              <a:t>GRÁFICAMENTE</a:t>
            </a:r>
            <a:endParaRPr lang="es-ES" smtClean="0"/>
          </a:p>
        </p:txBody>
      </p:sp>
      <p:sp>
        <p:nvSpPr>
          <p:cNvPr id="18435" name="Rectangle 3"/>
          <p:cNvSpPr>
            <a:spLocks noGrp="1" noChangeArrowheads="1"/>
          </p:cNvSpPr>
          <p:nvPr>
            <p:ph type="body" sz="half" idx="1"/>
          </p:nvPr>
        </p:nvSpPr>
        <p:spPr>
          <a:xfrm>
            <a:off x="1295400" y="1981200"/>
            <a:ext cx="3144838" cy="4114800"/>
          </a:xfrm>
        </p:spPr>
        <p:txBody>
          <a:bodyPr/>
          <a:lstStyle/>
          <a:p>
            <a:pPr>
              <a:buFontTx/>
              <a:buNone/>
            </a:pPr>
            <a:r>
              <a:rPr lang="es-MX" dirty="0"/>
              <a:t>	</a:t>
            </a:r>
            <a:r>
              <a:rPr lang="es-MX" dirty="0" smtClean="0">
                <a:solidFill>
                  <a:srgbClr val="333300"/>
                </a:solidFill>
              </a:rPr>
              <a:t>La tendencia de los datos existentes</a:t>
            </a:r>
            <a:endParaRPr lang="es-ES" dirty="0">
              <a:solidFill>
                <a:srgbClr val="333300"/>
              </a:solidFill>
            </a:endParaRPr>
          </a:p>
        </p:txBody>
      </p:sp>
      <p:sp>
        <p:nvSpPr>
          <p:cNvPr id="18436" name="Line 4"/>
          <p:cNvSpPr>
            <a:spLocks noChangeShapeType="1"/>
          </p:cNvSpPr>
          <p:nvPr/>
        </p:nvSpPr>
        <p:spPr bwMode="auto">
          <a:xfrm>
            <a:off x="4724400" y="1981200"/>
            <a:ext cx="0" cy="434340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s-PE"/>
          </a:p>
        </p:txBody>
      </p:sp>
      <p:sp>
        <p:nvSpPr>
          <p:cNvPr id="18437" name="Line 5"/>
          <p:cNvSpPr>
            <a:spLocks noChangeShapeType="1"/>
          </p:cNvSpPr>
          <p:nvPr/>
        </p:nvSpPr>
        <p:spPr bwMode="auto">
          <a:xfrm>
            <a:off x="4572000" y="6172200"/>
            <a:ext cx="5257800" cy="0"/>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18438" name="Text Box 6"/>
          <p:cNvSpPr txBox="1">
            <a:spLocks noChangeArrowheads="1"/>
          </p:cNvSpPr>
          <p:nvPr/>
        </p:nvSpPr>
        <p:spPr bwMode="auto">
          <a:xfrm>
            <a:off x="4495800" y="6172200"/>
            <a:ext cx="304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t>0</a:t>
            </a:r>
            <a:endParaRPr lang="es-ES" sz="1200"/>
          </a:p>
        </p:txBody>
      </p:sp>
      <p:sp>
        <p:nvSpPr>
          <p:cNvPr id="18439" name="Text Box 7"/>
          <p:cNvSpPr txBox="1">
            <a:spLocks noChangeArrowheads="1"/>
          </p:cNvSpPr>
          <p:nvPr/>
        </p:nvSpPr>
        <p:spPr bwMode="auto">
          <a:xfrm>
            <a:off x="5791200" y="4495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8440" name="Line 8"/>
          <p:cNvSpPr>
            <a:spLocks noChangeShapeType="1"/>
          </p:cNvSpPr>
          <p:nvPr/>
        </p:nvSpPr>
        <p:spPr bwMode="auto">
          <a:xfrm flipV="1">
            <a:off x="4648200" y="3200400"/>
            <a:ext cx="4876800" cy="2438400"/>
          </a:xfrm>
          <a:prstGeom prst="line">
            <a:avLst/>
          </a:prstGeom>
          <a:noFill/>
          <a:ln w="1270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18441" name="Text Box 9"/>
          <p:cNvSpPr txBox="1">
            <a:spLocks noChangeArrowheads="1"/>
          </p:cNvSpPr>
          <p:nvPr/>
        </p:nvSpPr>
        <p:spPr bwMode="auto">
          <a:xfrm>
            <a:off x="4876800" y="5029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8442" name="Text Box 10"/>
          <p:cNvSpPr txBox="1">
            <a:spLocks noChangeArrowheads="1"/>
          </p:cNvSpPr>
          <p:nvPr/>
        </p:nvSpPr>
        <p:spPr bwMode="auto">
          <a:xfrm>
            <a:off x="5562600" y="5257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8443" name="Text Box 11"/>
          <p:cNvSpPr txBox="1">
            <a:spLocks noChangeArrowheads="1"/>
          </p:cNvSpPr>
          <p:nvPr/>
        </p:nvSpPr>
        <p:spPr bwMode="auto">
          <a:xfrm>
            <a:off x="6400800" y="4800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8444" name="Text Box 12"/>
          <p:cNvSpPr txBox="1">
            <a:spLocks noChangeArrowheads="1"/>
          </p:cNvSpPr>
          <p:nvPr/>
        </p:nvSpPr>
        <p:spPr bwMode="auto">
          <a:xfrm>
            <a:off x="6629400" y="426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8445" name="Text Box 13"/>
          <p:cNvSpPr txBox="1">
            <a:spLocks noChangeArrowheads="1"/>
          </p:cNvSpPr>
          <p:nvPr/>
        </p:nvSpPr>
        <p:spPr bwMode="auto">
          <a:xfrm>
            <a:off x="7162800" y="4343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8446" name="Text Box 14"/>
          <p:cNvSpPr txBox="1">
            <a:spLocks noChangeArrowheads="1"/>
          </p:cNvSpPr>
          <p:nvPr/>
        </p:nvSpPr>
        <p:spPr bwMode="auto">
          <a:xfrm>
            <a:off x="7391400" y="3810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8447" name="Text Box 15"/>
          <p:cNvSpPr txBox="1">
            <a:spLocks noChangeArrowheads="1"/>
          </p:cNvSpPr>
          <p:nvPr/>
        </p:nvSpPr>
        <p:spPr bwMode="auto">
          <a:xfrm>
            <a:off x="8001000" y="396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8448" name="Text Box 16"/>
          <p:cNvSpPr txBox="1">
            <a:spLocks noChangeArrowheads="1"/>
          </p:cNvSpPr>
          <p:nvPr/>
        </p:nvSpPr>
        <p:spPr bwMode="auto">
          <a:xfrm>
            <a:off x="8229600" y="3429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8449" name="Text Box 17"/>
          <p:cNvSpPr txBox="1">
            <a:spLocks noChangeArrowheads="1"/>
          </p:cNvSpPr>
          <p:nvPr/>
        </p:nvSpPr>
        <p:spPr bwMode="auto">
          <a:xfrm>
            <a:off x="8839200" y="3505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8450" name="Text Box 18"/>
          <p:cNvSpPr txBox="1">
            <a:spLocks noChangeArrowheads="1"/>
          </p:cNvSpPr>
          <p:nvPr/>
        </p:nvSpPr>
        <p:spPr bwMode="auto">
          <a:xfrm>
            <a:off x="89916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8451" name="Text Box 20"/>
          <p:cNvSpPr txBox="1">
            <a:spLocks noChangeArrowheads="1"/>
          </p:cNvSpPr>
          <p:nvPr/>
        </p:nvSpPr>
        <p:spPr bwMode="auto">
          <a:xfrm>
            <a:off x="9677400" y="6202364"/>
            <a:ext cx="304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cs typeface="Times New Roman" pitchFamily="18" charset="0"/>
              </a:rPr>
              <a:t>x</a:t>
            </a:r>
            <a:endParaRPr lang="es-ES" sz="1200"/>
          </a:p>
        </p:txBody>
      </p:sp>
      <p:sp>
        <p:nvSpPr>
          <p:cNvPr id="18452" name="Text Box 21"/>
          <p:cNvSpPr txBox="1">
            <a:spLocks noChangeArrowheads="1"/>
          </p:cNvSpPr>
          <p:nvPr/>
        </p:nvSpPr>
        <p:spPr bwMode="auto">
          <a:xfrm>
            <a:off x="4495800" y="1905000"/>
            <a:ext cx="304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cs typeface="Times New Roman" pitchFamily="18" charset="0"/>
              </a:rPr>
              <a:t>y</a:t>
            </a:r>
            <a:endParaRPr lang="es-ES" sz="1200"/>
          </a:p>
        </p:txBody>
      </p:sp>
      <p:sp>
        <p:nvSpPr>
          <p:cNvPr id="18453" name="Text Box 41"/>
          <p:cNvSpPr txBox="1">
            <a:spLocks noChangeArrowheads="1"/>
          </p:cNvSpPr>
          <p:nvPr/>
        </p:nvSpPr>
        <p:spPr bwMode="auto">
          <a:xfrm>
            <a:off x="9296400" y="2743201"/>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800" b="1">
                <a:solidFill>
                  <a:srgbClr val="0000FF"/>
                </a:solidFill>
                <a:cs typeface="Times New Roman" pitchFamily="18" charset="0"/>
              </a:rPr>
              <a:t>L</a:t>
            </a:r>
            <a:endParaRPr lang="es-ES" sz="1800" b="1">
              <a:solidFill>
                <a:srgbClr val="0000FF"/>
              </a:solidFill>
            </a:endParaRPr>
          </a:p>
        </p:txBody>
      </p:sp>
      <p:sp>
        <p:nvSpPr>
          <p:cNvPr id="18454" name="Freeform 42"/>
          <p:cNvSpPr>
            <a:spLocks/>
          </p:cNvSpPr>
          <p:nvPr/>
        </p:nvSpPr>
        <p:spPr bwMode="auto">
          <a:xfrm>
            <a:off x="9463088" y="3005138"/>
            <a:ext cx="292100" cy="203200"/>
          </a:xfrm>
          <a:custGeom>
            <a:avLst/>
            <a:gdLst>
              <a:gd name="T0" fmla="*/ 0 w 184"/>
              <a:gd name="T1" fmla="*/ 128 h 128"/>
              <a:gd name="T2" fmla="*/ 119 w 184"/>
              <a:gd name="T3" fmla="*/ 118 h 128"/>
              <a:gd name="T4" fmla="*/ 165 w 184"/>
              <a:gd name="T5" fmla="*/ 109 h 128"/>
              <a:gd name="T6" fmla="*/ 110 w 184"/>
              <a:gd name="T7" fmla="*/ 45 h 128"/>
              <a:gd name="T8" fmla="*/ 101 w 184"/>
              <a:gd name="T9" fmla="*/ 0 h 128"/>
              <a:gd name="T10" fmla="*/ 0 60000 65536"/>
              <a:gd name="T11" fmla="*/ 0 60000 65536"/>
              <a:gd name="T12" fmla="*/ 0 60000 65536"/>
              <a:gd name="T13" fmla="*/ 0 60000 65536"/>
              <a:gd name="T14" fmla="*/ 0 60000 65536"/>
              <a:gd name="T15" fmla="*/ 0 w 184"/>
              <a:gd name="T16" fmla="*/ 0 h 128"/>
              <a:gd name="T17" fmla="*/ 184 w 184"/>
              <a:gd name="T18" fmla="*/ 128 h 128"/>
            </a:gdLst>
            <a:ahLst/>
            <a:cxnLst>
              <a:cxn ang="T10">
                <a:pos x="T0" y="T1"/>
              </a:cxn>
              <a:cxn ang="T11">
                <a:pos x="T2" y="T3"/>
              </a:cxn>
              <a:cxn ang="T12">
                <a:pos x="T4" y="T5"/>
              </a:cxn>
              <a:cxn ang="T13">
                <a:pos x="T6" y="T7"/>
              </a:cxn>
              <a:cxn ang="T14">
                <a:pos x="T8" y="T9"/>
              </a:cxn>
            </a:cxnLst>
            <a:rect l="T15" t="T16" r="T17" b="T18"/>
            <a:pathLst>
              <a:path w="184" h="128">
                <a:moveTo>
                  <a:pt x="0" y="128"/>
                </a:moveTo>
                <a:cubicBezTo>
                  <a:pt x="40" y="125"/>
                  <a:pt x="79" y="123"/>
                  <a:pt x="119" y="118"/>
                </a:cubicBezTo>
                <a:cubicBezTo>
                  <a:pt x="135" y="116"/>
                  <a:pt x="154" y="120"/>
                  <a:pt x="165" y="109"/>
                </a:cubicBezTo>
                <a:cubicBezTo>
                  <a:pt x="184" y="91"/>
                  <a:pt x="124" y="50"/>
                  <a:pt x="110" y="45"/>
                </a:cubicBezTo>
                <a:cubicBezTo>
                  <a:pt x="99" y="12"/>
                  <a:pt x="101" y="27"/>
                  <a:pt x="101" y="0"/>
                </a:cubicBezTo>
              </a:path>
            </a:pathLst>
          </a:custGeom>
          <a:noFill/>
          <a:ln w="12700">
            <a:solidFill>
              <a:schemeClr val="tx1"/>
            </a:solidFill>
            <a:round/>
            <a:headEnd type="triangle" w="med" len="med"/>
            <a:tailEnd type="none" w="sm" len="sm"/>
          </a:ln>
          <a:extLst>
            <a:ext uri="{909E8E84-426E-40DD-AFC4-6F175D3DCCD1}">
              <a14:hiddenFill xmlns:a14="http://schemas.microsoft.com/office/drawing/2010/main">
                <a:solidFill>
                  <a:srgbClr val="FFFFFF"/>
                </a:solidFill>
              </a14:hiddenFill>
            </a:ext>
          </a:extLst>
        </p:spPr>
        <p:txBody>
          <a:bodyPr/>
          <a:lstStyle/>
          <a:p>
            <a:endParaRPr lang="es-AR"/>
          </a:p>
        </p:txBody>
      </p:sp>
      <p:sp>
        <p:nvSpPr>
          <p:cNvPr id="23" name="Rectangle 11"/>
          <p:cNvSpPr>
            <a:spLocks noChangeArrowheads="1"/>
          </p:cNvSpPr>
          <p:nvPr/>
        </p:nvSpPr>
        <p:spPr bwMode="auto">
          <a:xfrm>
            <a:off x="9755188" y="2725738"/>
            <a:ext cx="1676400" cy="381000"/>
          </a:xfrm>
          <a:prstGeom prst="rect">
            <a:avLst/>
          </a:prstGeom>
          <a:solidFill>
            <a:srgbClr val="C0C0C0">
              <a:alpha val="50195"/>
            </a:srgbClr>
          </a:solidFill>
          <a:ln w="9525">
            <a:solidFill>
              <a:schemeClr val="tx1"/>
            </a:solidFill>
            <a:miter lim="800000"/>
            <a:headEnd/>
            <a:tailEnd/>
          </a:ln>
        </p:spPr>
        <p:txBody>
          <a:bodyPr wrap="none" anchor="ct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es-ES_tradnl" altLang="es-PE" dirty="0" smtClean="0"/>
              <a:t>Y = b + </a:t>
            </a:r>
            <a:r>
              <a:rPr lang="es-ES_tradnl" altLang="es-PE" dirty="0" err="1" smtClean="0"/>
              <a:t>mX</a:t>
            </a:r>
            <a:endParaRPr lang="es-ES_tradnl" altLang="es-PE" dirty="0"/>
          </a:p>
        </p:txBody>
      </p:sp>
    </p:spTree>
    <p:extLst>
      <p:ext uri="{BB962C8B-B14F-4D97-AF65-F5344CB8AC3E}">
        <p14:creationId xmlns:p14="http://schemas.microsoft.com/office/powerpoint/2010/main" val="217917543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s-MX" smtClean="0"/>
              <a:t>GRÁFICAMENTE</a:t>
            </a:r>
            <a:endParaRPr lang="es-ES" smtClean="0"/>
          </a:p>
        </p:txBody>
      </p:sp>
      <p:sp>
        <p:nvSpPr>
          <p:cNvPr id="19459" name="Rectangle 3"/>
          <p:cNvSpPr>
            <a:spLocks noGrp="1" noChangeArrowheads="1"/>
          </p:cNvSpPr>
          <p:nvPr>
            <p:ph type="body" sz="half" idx="1"/>
          </p:nvPr>
        </p:nvSpPr>
        <p:spPr>
          <a:xfrm>
            <a:off x="827903" y="1981200"/>
            <a:ext cx="3286897" cy="4114800"/>
          </a:xfrm>
        </p:spPr>
        <p:txBody>
          <a:bodyPr/>
          <a:lstStyle/>
          <a:p>
            <a:pPr>
              <a:buFontTx/>
              <a:buNone/>
            </a:pPr>
            <a:r>
              <a:rPr lang="es-MX" sz="2000" dirty="0"/>
              <a:t>CRITERIO</a:t>
            </a:r>
            <a:r>
              <a:rPr lang="es-MX" sz="2000" dirty="0" smtClean="0"/>
              <a:t>:</a:t>
            </a:r>
          </a:p>
          <a:p>
            <a:pPr>
              <a:buFontTx/>
              <a:buNone/>
            </a:pPr>
            <a:r>
              <a:rPr lang="es-MX" sz="2000" dirty="0" smtClean="0"/>
              <a:t> El error que se comete al representar dicho dato en la recta L es la </a:t>
            </a:r>
            <a:r>
              <a:rPr lang="es-MX" sz="2000" dirty="0"/>
              <a:t>distancia, </a:t>
            </a:r>
            <a:r>
              <a:rPr lang="es-MX" sz="2000" dirty="0" err="1" smtClean="0">
                <a:cs typeface="Times New Roman" pitchFamily="18" charset="0"/>
              </a:rPr>
              <a:t>δ</a:t>
            </a:r>
            <a:r>
              <a:rPr lang="es-MX" sz="2000" dirty="0" err="1" smtClean="0"/>
              <a:t>y</a:t>
            </a:r>
            <a:r>
              <a:rPr lang="es-MX" sz="2000" dirty="0" smtClean="0"/>
              <a:t>.</a:t>
            </a:r>
            <a:endParaRPr lang="es-MX" sz="2000" dirty="0"/>
          </a:p>
          <a:p>
            <a:pPr>
              <a:buFontTx/>
              <a:buNone/>
            </a:pPr>
            <a:endParaRPr lang="es-ES" sz="2000" dirty="0">
              <a:solidFill>
                <a:srgbClr val="333300"/>
              </a:solidFill>
            </a:endParaRPr>
          </a:p>
        </p:txBody>
      </p:sp>
      <p:grpSp>
        <p:nvGrpSpPr>
          <p:cNvPr id="2" name="Grupo 1"/>
          <p:cNvGrpSpPr/>
          <p:nvPr/>
        </p:nvGrpSpPr>
        <p:grpSpPr>
          <a:xfrm>
            <a:off x="4495800" y="1905000"/>
            <a:ext cx="5715000" cy="4572001"/>
            <a:chOff x="4495800" y="1905000"/>
            <a:chExt cx="5715000" cy="4572001"/>
          </a:xfrm>
        </p:grpSpPr>
        <p:sp>
          <p:nvSpPr>
            <p:cNvPr id="19460" name="Line 4"/>
            <p:cNvSpPr>
              <a:spLocks noChangeShapeType="1"/>
            </p:cNvSpPr>
            <p:nvPr/>
          </p:nvSpPr>
          <p:spPr bwMode="auto">
            <a:xfrm>
              <a:off x="4724400" y="1981200"/>
              <a:ext cx="0" cy="434340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s-PE"/>
            </a:p>
          </p:txBody>
        </p:sp>
        <p:sp>
          <p:nvSpPr>
            <p:cNvPr id="19461" name="Line 5"/>
            <p:cNvSpPr>
              <a:spLocks noChangeShapeType="1"/>
            </p:cNvSpPr>
            <p:nvPr/>
          </p:nvSpPr>
          <p:spPr bwMode="auto">
            <a:xfrm>
              <a:off x="4572000" y="6172200"/>
              <a:ext cx="5257800" cy="0"/>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19462" name="Text Box 6"/>
            <p:cNvSpPr txBox="1">
              <a:spLocks noChangeArrowheads="1"/>
            </p:cNvSpPr>
            <p:nvPr/>
          </p:nvSpPr>
          <p:spPr bwMode="auto">
            <a:xfrm>
              <a:off x="4495800" y="6172200"/>
              <a:ext cx="304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t>0</a:t>
              </a:r>
              <a:endParaRPr lang="es-ES" sz="1200"/>
            </a:p>
          </p:txBody>
        </p:sp>
        <p:sp>
          <p:nvSpPr>
            <p:cNvPr id="19463" name="Text Box 7"/>
            <p:cNvSpPr txBox="1">
              <a:spLocks noChangeArrowheads="1"/>
            </p:cNvSpPr>
            <p:nvPr/>
          </p:nvSpPr>
          <p:spPr bwMode="auto">
            <a:xfrm>
              <a:off x="5791200" y="4495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9464" name="Line 8"/>
            <p:cNvSpPr>
              <a:spLocks noChangeShapeType="1"/>
            </p:cNvSpPr>
            <p:nvPr/>
          </p:nvSpPr>
          <p:spPr bwMode="auto">
            <a:xfrm flipV="1">
              <a:off x="4648200" y="3200400"/>
              <a:ext cx="4876800" cy="2438400"/>
            </a:xfrm>
            <a:prstGeom prst="line">
              <a:avLst/>
            </a:prstGeom>
            <a:noFill/>
            <a:ln w="1270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19465" name="Text Box 9"/>
            <p:cNvSpPr txBox="1">
              <a:spLocks noChangeArrowheads="1"/>
            </p:cNvSpPr>
            <p:nvPr/>
          </p:nvSpPr>
          <p:spPr bwMode="auto">
            <a:xfrm>
              <a:off x="4876800" y="5029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9466" name="Text Box 10"/>
            <p:cNvSpPr txBox="1">
              <a:spLocks noChangeArrowheads="1"/>
            </p:cNvSpPr>
            <p:nvPr/>
          </p:nvSpPr>
          <p:spPr bwMode="auto">
            <a:xfrm>
              <a:off x="5562600" y="5257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9467" name="Text Box 11"/>
            <p:cNvSpPr txBox="1">
              <a:spLocks noChangeArrowheads="1"/>
            </p:cNvSpPr>
            <p:nvPr/>
          </p:nvSpPr>
          <p:spPr bwMode="auto">
            <a:xfrm>
              <a:off x="6400800" y="4800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9468" name="Text Box 12"/>
            <p:cNvSpPr txBox="1">
              <a:spLocks noChangeArrowheads="1"/>
            </p:cNvSpPr>
            <p:nvPr/>
          </p:nvSpPr>
          <p:spPr bwMode="auto">
            <a:xfrm>
              <a:off x="6629400" y="426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9469" name="Text Box 13"/>
            <p:cNvSpPr txBox="1">
              <a:spLocks noChangeArrowheads="1"/>
            </p:cNvSpPr>
            <p:nvPr/>
          </p:nvSpPr>
          <p:spPr bwMode="auto">
            <a:xfrm>
              <a:off x="7162800" y="4343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9470" name="Text Box 14"/>
            <p:cNvSpPr txBox="1">
              <a:spLocks noChangeArrowheads="1"/>
            </p:cNvSpPr>
            <p:nvPr/>
          </p:nvSpPr>
          <p:spPr bwMode="auto">
            <a:xfrm>
              <a:off x="7391400" y="3810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9471" name="Text Box 15"/>
            <p:cNvSpPr txBox="1">
              <a:spLocks noChangeArrowheads="1"/>
            </p:cNvSpPr>
            <p:nvPr/>
          </p:nvSpPr>
          <p:spPr bwMode="auto">
            <a:xfrm>
              <a:off x="8001000" y="396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9472" name="Text Box 16"/>
            <p:cNvSpPr txBox="1">
              <a:spLocks noChangeArrowheads="1"/>
            </p:cNvSpPr>
            <p:nvPr/>
          </p:nvSpPr>
          <p:spPr bwMode="auto">
            <a:xfrm>
              <a:off x="8229600" y="3429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9473" name="Text Box 17"/>
            <p:cNvSpPr txBox="1">
              <a:spLocks noChangeArrowheads="1"/>
            </p:cNvSpPr>
            <p:nvPr/>
          </p:nvSpPr>
          <p:spPr bwMode="auto">
            <a:xfrm>
              <a:off x="8839200" y="3505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9474" name="Text Box 18"/>
            <p:cNvSpPr txBox="1">
              <a:spLocks noChangeArrowheads="1"/>
            </p:cNvSpPr>
            <p:nvPr/>
          </p:nvSpPr>
          <p:spPr bwMode="auto">
            <a:xfrm>
              <a:off x="89916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19475" name="Line 19"/>
            <p:cNvSpPr>
              <a:spLocks noChangeShapeType="1"/>
            </p:cNvSpPr>
            <p:nvPr/>
          </p:nvSpPr>
          <p:spPr bwMode="auto">
            <a:xfrm>
              <a:off x="5943600" y="4648200"/>
              <a:ext cx="0" cy="381000"/>
            </a:xfrm>
            <a:prstGeom prst="line">
              <a:avLst/>
            </a:prstGeom>
            <a:noFill/>
            <a:ln w="1270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19476" name="Text Box 20"/>
            <p:cNvSpPr txBox="1">
              <a:spLocks noChangeArrowheads="1"/>
            </p:cNvSpPr>
            <p:nvPr/>
          </p:nvSpPr>
          <p:spPr bwMode="auto">
            <a:xfrm>
              <a:off x="9677400" y="6202364"/>
              <a:ext cx="304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cs typeface="Times New Roman" pitchFamily="18" charset="0"/>
                </a:rPr>
                <a:t>x</a:t>
              </a:r>
              <a:endParaRPr lang="es-ES" sz="1200"/>
            </a:p>
          </p:txBody>
        </p:sp>
        <p:sp>
          <p:nvSpPr>
            <p:cNvPr id="19477" name="Text Box 21"/>
            <p:cNvSpPr txBox="1">
              <a:spLocks noChangeArrowheads="1"/>
            </p:cNvSpPr>
            <p:nvPr/>
          </p:nvSpPr>
          <p:spPr bwMode="auto">
            <a:xfrm>
              <a:off x="4495800" y="1905000"/>
              <a:ext cx="304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cs typeface="Times New Roman" pitchFamily="18" charset="0"/>
                </a:rPr>
                <a:t>y</a:t>
              </a:r>
              <a:endParaRPr lang="es-ES" sz="1200"/>
            </a:p>
          </p:txBody>
        </p:sp>
        <p:sp>
          <p:nvSpPr>
            <p:cNvPr id="19478" name="Text Box 22"/>
            <p:cNvSpPr txBox="1">
              <a:spLocks noChangeArrowheads="1"/>
            </p:cNvSpPr>
            <p:nvPr/>
          </p:nvSpPr>
          <p:spPr bwMode="auto">
            <a:xfrm>
              <a:off x="5943600" y="4191000"/>
              <a:ext cx="533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cs typeface="Times New Roman" pitchFamily="18" charset="0"/>
                </a:rPr>
                <a:t>δy</a:t>
              </a:r>
              <a:endParaRPr lang="es-ES" sz="1200"/>
            </a:p>
          </p:txBody>
        </p:sp>
        <p:sp>
          <p:nvSpPr>
            <p:cNvPr id="19479" name="Freeform 23"/>
            <p:cNvSpPr>
              <a:spLocks/>
            </p:cNvSpPr>
            <p:nvPr/>
          </p:nvSpPr>
          <p:spPr bwMode="auto">
            <a:xfrm>
              <a:off x="5965826" y="4419600"/>
              <a:ext cx="206375" cy="414338"/>
            </a:xfrm>
            <a:custGeom>
              <a:avLst/>
              <a:gdLst>
                <a:gd name="T0" fmla="*/ 0 w 173"/>
                <a:gd name="T1" fmla="*/ 138 h 138"/>
                <a:gd name="T2" fmla="*/ 91 w 173"/>
                <a:gd name="T3" fmla="*/ 128 h 138"/>
                <a:gd name="T4" fmla="*/ 173 w 173"/>
                <a:gd name="T5" fmla="*/ 0 h 138"/>
                <a:gd name="T6" fmla="*/ 0 60000 65536"/>
                <a:gd name="T7" fmla="*/ 0 60000 65536"/>
                <a:gd name="T8" fmla="*/ 0 60000 65536"/>
                <a:gd name="T9" fmla="*/ 0 w 173"/>
                <a:gd name="T10" fmla="*/ 0 h 138"/>
                <a:gd name="T11" fmla="*/ 173 w 173"/>
                <a:gd name="T12" fmla="*/ 138 h 138"/>
              </a:gdLst>
              <a:ahLst/>
              <a:cxnLst>
                <a:cxn ang="T6">
                  <a:pos x="T0" y="T1"/>
                </a:cxn>
                <a:cxn ang="T7">
                  <a:pos x="T2" y="T3"/>
                </a:cxn>
                <a:cxn ang="T8">
                  <a:pos x="T4" y="T5"/>
                </a:cxn>
              </a:cxnLst>
              <a:rect l="T9" t="T10" r="T11" b="T12"/>
              <a:pathLst>
                <a:path w="173" h="138">
                  <a:moveTo>
                    <a:pt x="0" y="138"/>
                  </a:moveTo>
                  <a:cubicBezTo>
                    <a:pt x="30" y="135"/>
                    <a:pt x="62" y="138"/>
                    <a:pt x="91" y="128"/>
                  </a:cubicBezTo>
                  <a:cubicBezTo>
                    <a:pt x="137" y="113"/>
                    <a:pt x="85" y="0"/>
                    <a:pt x="173" y="0"/>
                  </a:cubicBezTo>
                </a:path>
              </a:pathLst>
            </a:custGeom>
            <a:noFill/>
            <a:ln w="12700">
              <a:solidFill>
                <a:schemeClr val="tx1"/>
              </a:solidFill>
              <a:round/>
              <a:headEnd type="triangle" w="med" len="med"/>
              <a:tailEnd type="none" w="sm" len="sm"/>
            </a:ln>
            <a:extLst>
              <a:ext uri="{909E8E84-426E-40DD-AFC4-6F175D3DCCD1}">
                <a14:hiddenFill xmlns:a14="http://schemas.microsoft.com/office/drawing/2010/main">
                  <a:solidFill>
                    <a:srgbClr val="FFFFFF"/>
                  </a:solidFill>
                </a14:hiddenFill>
              </a:ext>
            </a:extLst>
          </p:spPr>
          <p:txBody>
            <a:bodyPr/>
            <a:lstStyle/>
            <a:p>
              <a:endParaRPr lang="es-AR"/>
            </a:p>
          </p:txBody>
        </p:sp>
        <p:sp>
          <p:nvSpPr>
            <p:cNvPr id="19480" name="Text Box 40"/>
            <p:cNvSpPr txBox="1">
              <a:spLocks noChangeArrowheads="1"/>
            </p:cNvSpPr>
            <p:nvPr/>
          </p:nvSpPr>
          <p:spPr bwMode="auto">
            <a:xfrm>
              <a:off x="6248400" y="4495800"/>
              <a:ext cx="3962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
                  <a:cs typeface="Times New Roman" pitchFamily="18" charset="0"/>
                </a:rPr>
                <a:t>δ</a:t>
              </a:r>
              <a:r>
                <a:rPr lang="es-MX">
                  <a:cs typeface="Times New Roman" pitchFamily="18" charset="0"/>
                </a:rPr>
                <a:t>y = y</a:t>
              </a:r>
              <a:r>
                <a:rPr lang="es-MX" baseline="-25000">
                  <a:cs typeface="Times New Roman" pitchFamily="18" charset="0"/>
                </a:rPr>
                <a:t>i</a:t>
              </a:r>
              <a:r>
                <a:rPr lang="es-MX">
                  <a:cs typeface="Times New Roman" pitchFamily="18" charset="0"/>
                </a:rPr>
                <a:t> – y(x</a:t>
              </a:r>
              <a:r>
                <a:rPr lang="es-MX" baseline="-25000">
                  <a:cs typeface="Times New Roman" pitchFamily="18" charset="0"/>
                </a:rPr>
                <a:t>i</a:t>
              </a:r>
              <a:r>
                <a:rPr lang="es-MX">
                  <a:cs typeface="Times New Roman" pitchFamily="18" charset="0"/>
                </a:rPr>
                <a:t>)</a:t>
              </a:r>
            </a:p>
            <a:p>
              <a:pPr>
                <a:spcBef>
                  <a:spcPct val="50000"/>
                </a:spcBef>
              </a:pPr>
              <a:endParaRPr lang="es-MX">
                <a:solidFill>
                  <a:schemeClr val="bg1"/>
                </a:solidFill>
                <a:cs typeface="Times New Roman" pitchFamily="18" charset="0"/>
              </a:endParaRPr>
            </a:p>
            <a:p>
              <a:pPr>
                <a:spcBef>
                  <a:spcPct val="50000"/>
                </a:spcBef>
              </a:pPr>
              <a:endParaRPr lang="es-ES" baseline="30000">
                <a:solidFill>
                  <a:srgbClr val="333300"/>
                </a:solidFill>
                <a:cs typeface="Times New Roman" pitchFamily="18" charset="0"/>
              </a:endParaRPr>
            </a:p>
          </p:txBody>
        </p:sp>
        <p:sp>
          <p:nvSpPr>
            <p:cNvPr id="19481" name="Text Box 41"/>
            <p:cNvSpPr txBox="1">
              <a:spLocks noChangeArrowheads="1"/>
            </p:cNvSpPr>
            <p:nvPr/>
          </p:nvSpPr>
          <p:spPr bwMode="auto">
            <a:xfrm>
              <a:off x="9296400" y="2743201"/>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800" b="1">
                  <a:solidFill>
                    <a:srgbClr val="0000FF"/>
                  </a:solidFill>
                  <a:cs typeface="Times New Roman" pitchFamily="18" charset="0"/>
                </a:rPr>
                <a:t>L</a:t>
              </a:r>
              <a:endParaRPr lang="es-ES" sz="1800" b="1">
                <a:solidFill>
                  <a:srgbClr val="0000FF"/>
                </a:solidFill>
              </a:endParaRPr>
            </a:p>
          </p:txBody>
        </p:sp>
      </p:grpSp>
    </p:spTree>
    <p:extLst>
      <p:ext uri="{BB962C8B-B14F-4D97-AF65-F5344CB8AC3E}">
        <p14:creationId xmlns:p14="http://schemas.microsoft.com/office/powerpoint/2010/main" val="239577039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s-MX" smtClean="0"/>
              <a:t>GRÁFICAMENTE</a:t>
            </a:r>
            <a:endParaRPr lang="es-ES" smtClean="0"/>
          </a:p>
        </p:txBody>
      </p:sp>
      <p:sp>
        <p:nvSpPr>
          <p:cNvPr id="20483" name="Rectangle 3"/>
          <p:cNvSpPr>
            <a:spLocks noGrp="1" noChangeArrowheads="1"/>
          </p:cNvSpPr>
          <p:nvPr>
            <p:ph type="body" sz="half" idx="1"/>
          </p:nvPr>
        </p:nvSpPr>
        <p:spPr>
          <a:xfrm>
            <a:off x="1371600" y="1981200"/>
            <a:ext cx="2743200" cy="4114800"/>
          </a:xfrm>
        </p:spPr>
        <p:txBody>
          <a:bodyPr/>
          <a:lstStyle/>
          <a:p>
            <a:pPr>
              <a:buFontTx/>
              <a:buNone/>
            </a:pPr>
            <a:r>
              <a:rPr lang="es-MX" sz="2000" dirty="0"/>
              <a:t>CRITERIO: </a:t>
            </a:r>
            <a:endParaRPr lang="es-MX" sz="2000" dirty="0" smtClean="0"/>
          </a:p>
          <a:p>
            <a:pPr>
              <a:buFontTx/>
              <a:buNone/>
            </a:pPr>
            <a:r>
              <a:rPr lang="es-MX" sz="2000" dirty="0" smtClean="0"/>
              <a:t>Cada uno de los datos presenta un error respecto de la recta que lo representa. La idea es que la recta tenga el menor error total al representar todos los datos.</a:t>
            </a:r>
            <a:endParaRPr lang="es-MX" sz="2000" dirty="0"/>
          </a:p>
        </p:txBody>
      </p:sp>
      <p:sp>
        <p:nvSpPr>
          <p:cNvPr id="20484" name="Line 4"/>
          <p:cNvSpPr>
            <a:spLocks noChangeShapeType="1"/>
          </p:cNvSpPr>
          <p:nvPr/>
        </p:nvSpPr>
        <p:spPr bwMode="auto">
          <a:xfrm>
            <a:off x="4724400" y="1981200"/>
            <a:ext cx="0" cy="434340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s-PE"/>
          </a:p>
        </p:txBody>
      </p:sp>
      <p:sp>
        <p:nvSpPr>
          <p:cNvPr id="20485" name="Line 5"/>
          <p:cNvSpPr>
            <a:spLocks noChangeShapeType="1"/>
          </p:cNvSpPr>
          <p:nvPr/>
        </p:nvSpPr>
        <p:spPr bwMode="auto">
          <a:xfrm>
            <a:off x="4572000" y="6172200"/>
            <a:ext cx="5257800" cy="0"/>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20486" name="Text Box 6"/>
          <p:cNvSpPr txBox="1">
            <a:spLocks noChangeArrowheads="1"/>
          </p:cNvSpPr>
          <p:nvPr/>
        </p:nvSpPr>
        <p:spPr bwMode="auto">
          <a:xfrm>
            <a:off x="4495800" y="6172200"/>
            <a:ext cx="304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t>0</a:t>
            </a:r>
            <a:endParaRPr lang="es-ES" sz="1200"/>
          </a:p>
        </p:txBody>
      </p:sp>
      <p:sp>
        <p:nvSpPr>
          <p:cNvPr id="20487" name="Text Box 7"/>
          <p:cNvSpPr txBox="1">
            <a:spLocks noChangeArrowheads="1"/>
          </p:cNvSpPr>
          <p:nvPr/>
        </p:nvSpPr>
        <p:spPr bwMode="auto">
          <a:xfrm>
            <a:off x="5791200" y="4495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20488" name="Line 8"/>
          <p:cNvSpPr>
            <a:spLocks noChangeShapeType="1"/>
          </p:cNvSpPr>
          <p:nvPr/>
        </p:nvSpPr>
        <p:spPr bwMode="auto">
          <a:xfrm flipV="1">
            <a:off x="4648200" y="3200400"/>
            <a:ext cx="4876800" cy="2438400"/>
          </a:xfrm>
          <a:prstGeom prst="line">
            <a:avLst/>
          </a:prstGeom>
          <a:noFill/>
          <a:ln w="1270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0489" name="Text Box 9"/>
          <p:cNvSpPr txBox="1">
            <a:spLocks noChangeArrowheads="1"/>
          </p:cNvSpPr>
          <p:nvPr/>
        </p:nvSpPr>
        <p:spPr bwMode="auto">
          <a:xfrm>
            <a:off x="4876800" y="5029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20490" name="Text Box 10"/>
          <p:cNvSpPr txBox="1">
            <a:spLocks noChangeArrowheads="1"/>
          </p:cNvSpPr>
          <p:nvPr/>
        </p:nvSpPr>
        <p:spPr bwMode="auto">
          <a:xfrm>
            <a:off x="5562600" y="5257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20491" name="Text Box 11"/>
          <p:cNvSpPr txBox="1">
            <a:spLocks noChangeArrowheads="1"/>
          </p:cNvSpPr>
          <p:nvPr/>
        </p:nvSpPr>
        <p:spPr bwMode="auto">
          <a:xfrm>
            <a:off x="6400800" y="4800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20492" name="Text Box 12"/>
          <p:cNvSpPr txBox="1">
            <a:spLocks noChangeArrowheads="1"/>
          </p:cNvSpPr>
          <p:nvPr/>
        </p:nvSpPr>
        <p:spPr bwMode="auto">
          <a:xfrm>
            <a:off x="6629400" y="426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20493" name="Text Box 13"/>
          <p:cNvSpPr txBox="1">
            <a:spLocks noChangeArrowheads="1"/>
          </p:cNvSpPr>
          <p:nvPr/>
        </p:nvSpPr>
        <p:spPr bwMode="auto">
          <a:xfrm>
            <a:off x="7162800" y="4343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20494" name="Text Box 14"/>
          <p:cNvSpPr txBox="1">
            <a:spLocks noChangeArrowheads="1"/>
          </p:cNvSpPr>
          <p:nvPr/>
        </p:nvSpPr>
        <p:spPr bwMode="auto">
          <a:xfrm>
            <a:off x="7391400" y="3810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20495" name="Text Box 15"/>
          <p:cNvSpPr txBox="1">
            <a:spLocks noChangeArrowheads="1"/>
          </p:cNvSpPr>
          <p:nvPr/>
        </p:nvSpPr>
        <p:spPr bwMode="auto">
          <a:xfrm>
            <a:off x="8001000" y="396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20496" name="Text Box 16"/>
          <p:cNvSpPr txBox="1">
            <a:spLocks noChangeArrowheads="1"/>
          </p:cNvSpPr>
          <p:nvPr/>
        </p:nvSpPr>
        <p:spPr bwMode="auto">
          <a:xfrm>
            <a:off x="8229600" y="3429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20497" name="Text Box 17"/>
          <p:cNvSpPr txBox="1">
            <a:spLocks noChangeArrowheads="1"/>
          </p:cNvSpPr>
          <p:nvPr/>
        </p:nvSpPr>
        <p:spPr bwMode="auto">
          <a:xfrm>
            <a:off x="8839200" y="3505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20498" name="Text Box 18"/>
          <p:cNvSpPr txBox="1">
            <a:spLocks noChangeArrowheads="1"/>
          </p:cNvSpPr>
          <p:nvPr/>
        </p:nvSpPr>
        <p:spPr bwMode="auto">
          <a:xfrm>
            <a:off x="89916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20499" name="Line 19"/>
          <p:cNvSpPr>
            <a:spLocks noChangeShapeType="1"/>
          </p:cNvSpPr>
          <p:nvPr/>
        </p:nvSpPr>
        <p:spPr bwMode="auto">
          <a:xfrm>
            <a:off x="5943600" y="4648200"/>
            <a:ext cx="0" cy="381000"/>
          </a:xfrm>
          <a:prstGeom prst="line">
            <a:avLst/>
          </a:prstGeom>
          <a:noFill/>
          <a:ln w="1270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0500" name="Text Box 20"/>
          <p:cNvSpPr txBox="1">
            <a:spLocks noChangeArrowheads="1"/>
          </p:cNvSpPr>
          <p:nvPr/>
        </p:nvSpPr>
        <p:spPr bwMode="auto">
          <a:xfrm>
            <a:off x="9677400" y="6202364"/>
            <a:ext cx="304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cs typeface="Times New Roman" pitchFamily="18" charset="0"/>
              </a:rPr>
              <a:t>x</a:t>
            </a:r>
            <a:endParaRPr lang="es-ES" sz="1200"/>
          </a:p>
        </p:txBody>
      </p:sp>
      <p:sp>
        <p:nvSpPr>
          <p:cNvPr id="20501" name="Text Box 21"/>
          <p:cNvSpPr txBox="1">
            <a:spLocks noChangeArrowheads="1"/>
          </p:cNvSpPr>
          <p:nvPr/>
        </p:nvSpPr>
        <p:spPr bwMode="auto">
          <a:xfrm>
            <a:off x="4495800" y="1905000"/>
            <a:ext cx="304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cs typeface="Times New Roman" pitchFamily="18" charset="0"/>
              </a:rPr>
              <a:t>y</a:t>
            </a:r>
            <a:endParaRPr lang="es-ES" sz="1200"/>
          </a:p>
        </p:txBody>
      </p:sp>
      <p:sp>
        <p:nvSpPr>
          <p:cNvPr id="20502" name="Text Box 22"/>
          <p:cNvSpPr txBox="1">
            <a:spLocks noChangeArrowheads="1"/>
          </p:cNvSpPr>
          <p:nvPr/>
        </p:nvSpPr>
        <p:spPr bwMode="auto">
          <a:xfrm>
            <a:off x="5943600" y="4191000"/>
            <a:ext cx="533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cs typeface="Times New Roman" pitchFamily="18" charset="0"/>
              </a:rPr>
              <a:t>δy</a:t>
            </a:r>
            <a:endParaRPr lang="es-ES" sz="1200"/>
          </a:p>
        </p:txBody>
      </p:sp>
      <p:sp>
        <p:nvSpPr>
          <p:cNvPr id="20503" name="Freeform 23"/>
          <p:cNvSpPr>
            <a:spLocks/>
          </p:cNvSpPr>
          <p:nvPr/>
        </p:nvSpPr>
        <p:spPr bwMode="auto">
          <a:xfrm>
            <a:off x="5965826" y="4419600"/>
            <a:ext cx="206375" cy="414338"/>
          </a:xfrm>
          <a:custGeom>
            <a:avLst/>
            <a:gdLst>
              <a:gd name="T0" fmla="*/ 0 w 173"/>
              <a:gd name="T1" fmla="*/ 138 h 138"/>
              <a:gd name="T2" fmla="*/ 91 w 173"/>
              <a:gd name="T3" fmla="*/ 128 h 138"/>
              <a:gd name="T4" fmla="*/ 173 w 173"/>
              <a:gd name="T5" fmla="*/ 0 h 138"/>
              <a:gd name="T6" fmla="*/ 0 60000 65536"/>
              <a:gd name="T7" fmla="*/ 0 60000 65536"/>
              <a:gd name="T8" fmla="*/ 0 60000 65536"/>
              <a:gd name="T9" fmla="*/ 0 w 173"/>
              <a:gd name="T10" fmla="*/ 0 h 138"/>
              <a:gd name="T11" fmla="*/ 173 w 173"/>
              <a:gd name="T12" fmla="*/ 138 h 138"/>
            </a:gdLst>
            <a:ahLst/>
            <a:cxnLst>
              <a:cxn ang="T6">
                <a:pos x="T0" y="T1"/>
              </a:cxn>
              <a:cxn ang="T7">
                <a:pos x="T2" y="T3"/>
              </a:cxn>
              <a:cxn ang="T8">
                <a:pos x="T4" y="T5"/>
              </a:cxn>
            </a:cxnLst>
            <a:rect l="T9" t="T10" r="T11" b="T12"/>
            <a:pathLst>
              <a:path w="173" h="138">
                <a:moveTo>
                  <a:pt x="0" y="138"/>
                </a:moveTo>
                <a:cubicBezTo>
                  <a:pt x="30" y="135"/>
                  <a:pt x="62" y="138"/>
                  <a:pt x="91" y="128"/>
                </a:cubicBezTo>
                <a:cubicBezTo>
                  <a:pt x="137" y="113"/>
                  <a:pt x="85" y="0"/>
                  <a:pt x="173" y="0"/>
                </a:cubicBezTo>
              </a:path>
            </a:pathLst>
          </a:custGeom>
          <a:noFill/>
          <a:ln w="12700">
            <a:solidFill>
              <a:schemeClr val="tx1"/>
            </a:solidFill>
            <a:round/>
            <a:headEnd type="triangle" w="med" len="med"/>
            <a:tailEnd type="none" w="sm" len="sm"/>
          </a:ln>
          <a:extLst>
            <a:ext uri="{909E8E84-426E-40DD-AFC4-6F175D3DCCD1}">
              <a14:hiddenFill xmlns:a14="http://schemas.microsoft.com/office/drawing/2010/main">
                <a:solidFill>
                  <a:srgbClr val="FFFFFF"/>
                </a:solidFill>
              </a14:hiddenFill>
            </a:ext>
          </a:extLst>
        </p:spPr>
        <p:txBody>
          <a:bodyPr/>
          <a:lstStyle/>
          <a:p>
            <a:endParaRPr lang="es-AR"/>
          </a:p>
        </p:txBody>
      </p:sp>
      <p:sp>
        <p:nvSpPr>
          <p:cNvPr id="20504" name="Line 24"/>
          <p:cNvSpPr>
            <a:spLocks noChangeShapeType="1"/>
          </p:cNvSpPr>
          <p:nvPr/>
        </p:nvSpPr>
        <p:spPr bwMode="auto">
          <a:xfrm>
            <a:off x="5029200" y="5181600"/>
            <a:ext cx="0" cy="228600"/>
          </a:xfrm>
          <a:prstGeom prst="line">
            <a:avLst/>
          </a:prstGeom>
          <a:noFill/>
          <a:ln w="1270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0505" name="Line 25"/>
          <p:cNvSpPr>
            <a:spLocks noChangeShapeType="1"/>
          </p:cNvSpPr>
          <p:nvPr/>
        </p:nvSpPr>
        <p:spPr bwMode="auto">
          <a:xfrm>
            <a:off x="5715000" y="5105400"/>
            <a:ext cx="0" cy="304800"/>
          </a:xfrm>
          <a:prstGeom prst="line">
            <a:avLst/>
          </a:prstGeom>
          <a:noFill/>
          <a:ln w="1270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0506" name="Line 26"/>
          <p:cNvSpPr>
            <a:spLocks noChangeShapeType="1"/>
          </p:cNvSpPr>
          <p:nvPr/>
        </p:nvSpPr>
        <p:spPr bwMode="auto">
          <a:xfrm>
            <a:off x="6553200" y="4648200"/>
            <a:ext cx="0" cy="304800"/>
          </a:xfrm>
          <a:prstGeom prst="line">
            <a:avLst/>
          </a:prstGeom>
          <a:noFill/>
          <a:ln w="1270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0507" name="Line 27"/>
          <p:cNvSpPr>
            <a:spLocks noChangeShapeType="1"/>
          </p:cNvSpPr>
          <p:nvPr/>
        </p:nvSpPr>
        <p:spPr bwMode="auto">
          <a:xfrm>
            <a:off x="6781800" y="4419600"/>
            <a:ext cx="0" cy="152400"/>
          </a:xfrm>
          <a:prstGeom prst="line">
            <a:avLst/>
          </a:prstGeom>
          <a:noFill/>
          <a:ln w="1270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0508" name="Line 28"/>
          <p:cNvSpPr>
            <a:spLocks noChangeShapeType="1"/>
          </p:cNvSpPr>
          <p:nvPr/>
        </p:nvSpPr>
        <p:spPr bwMode="auto">
          <a:xfrm>
            <a:off x="7315200" y="4267200"/>
            <a:ext cx="0" cy="228600"/>
          </a:xfrm>
          <a:prstGeom prst="line">
            <a:avLst/>
          </a:prstGeom>
          <a:noFill/>
          <a:ln w="1270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0509" name="Line 29"/>
          <p:cNvSpPr>
            <a:spLocks noChangeShapeType="1"/>
          </p:cNvSpPr>
          <p:nvPr/>
        </p:nvSpPr>
        <p:spPr bwMode="auto">
          <a:xfrm>
            <a:off x="7543800" y="3962400"/>
            <a:ext cx="0" cy="228600"/>
          </a:xfrm>
          <a:prstGeom prst="line">
            <a:avLst/>
          </a:prstGeom>
          <a:noFill/>
          <a:ln w="1270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0510" name="Line 30"/>
          <p:cNvSpPr>
            <a:spLocks noChangeShapeType="1"/>
          </p:cNvSpPr>
          <p:nvPr/>
        </p:nvSpPr>
        <p:spPr bwMode="auto">
          <a:xfrm>
            <a:off x="8153400" y="3886200"/>
            <a:ext cx="0" cy="228600"/>
          </a:xfrm>
          <a:prstGeom prst="line">
            <a:avLst/>
          </a:prstGeom>
          <a:noFill/>
          <a:ln w="1270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0511" name="Line 31"/>
          <p:cNvSpPr>
            <a:spLocks noChangeShapeType="1"/>
          </p:cNvSpPr>
          <p:nvPr/>
        </p:nvSpPr>
        <p:spPr bwMode="auto">
          <a:xfrm>
            <a:off x="8382000" y="3581400"/>
            <a:ext cx="0" cy="152400"/>
          </a:xfrm>
          <a:prstGeom prst="line">
            <a:avLst/>
          </a:prstGeom>
          <a:noFill/>
          <a:ln w="1270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0512" name="Line 32"/>
          <p:cNvSpPr>
            <a:spLocks noChangeShapeType="1"/>
          </p:cNvSpPr>
          <p:nvPr/>
        </p:nvSpPr>
        <p:spPr bwMode="auto">
          <a:xfrm>
            <a:off x="8991600" y="3429000"/>
            <a:ext cx="0" cy="228600"/>
          </a:xfrm>
          <a:prstGeom prst="line">
            <a:avLst/>
          </a:prstGeom>
          <a:noFill/>
          <a:ln w="1270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0513" name="Line 33"/>
          <p:cNvSpPr>
            <a:spLocks noChangeShapeType="1"/>
          </p:cNvSpPr>
          <p:nvPr/>
        </p:nvSpPr>
        <p:spPr bwMode="auto">
          <a:xfrm>
            <a:off x="9144000" y="3200400"/>
            <a:ext cx="0" cy="152400"/>
          </a:xfrm>
          <a:prstGeom prst="line">
            <a:avLst/>
          </a:prstGeom>
          <a:noFill/>
          <a:ln w="1270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0514" name="Line 34"/>
          <p:cNvSpPr>
            <a:spLocks noChangeShapeType="1"/>
          </p:cNvSpPr>
          <p:nvPr/>
        </p:nvSpPr>
        <p:spPr bwMode="auto">
          <a:xfrm>
            <a:off x="5943600" y="4648200"/>
            <a:ext cx="0" cy="1524000"/>
          </a:xfrm>
          <a:prstGeom prst="line">
            <a:avLst/>
          </a:prstGeom>
          <a:noFill/>
          <a:ln w="12700">
            <a:solidFill>
              <a:schemeClr val="bg1"/>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0515" name="Line 35"/>
          <p:cNvSpPr>
            <a:spLocks noChangeShapeType="1"/>
          </p:cNvSpPr>
          <p:nvPr/>
        </p:nvSpPr>
        <p:spPr bwMode="auto">
          <a:xfrm flipH="1">
            <a:off x="4724400" y="4648200"/>
            <a:ext cx="1219200" cy="0"/>
          </a:xfrm>
          <a:prstGeom prst="line">
            <a:avLst/>
          </a:prstGeom>
          <a:noFill/>
          <a:ln w="12700">
            <a:solidFill>
              <a:schemeClr val="bg1"/>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0516" name="Line 36"/>
          <p:cNvSpPr>
            <a:spLocks noChangeShapeType="1"/>
          </p:cNvSpPr>
          <p:nvPr/>
        </p:nvSpPr>
        <p:spPr bwMode="auto">
          <a:xfrm flipH="1">
            <a:off x="4724400" y="4953000"/>
            <a:ext cx="1219200" cy="0"/>
          </a:xfrm>
          <a:prstGeom prst="line">
            <a:avLst/>
          </a:prstGeom>
          <a:noFill/>
          <a:ln w="12700">
            <a:solidFill>
              <a:schemeClr val="bg1"/>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0517" name="Text Box 37"/>
          <p:cNvSpPr txBox="1">
            <a:spLocks noChangeArrowheads="1"/>
          </p:cNvSpPr>
          <p:nvPr/>
        </p:nvSpPr>
        <p:spPr bwMode="auto">
          <a:xfrm>
            <a:off x="5791200" y="6172200"/>
            <a:ext cx="457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cs typeface="Times New Roman" pitchFamily="18" charset="0"/>
              </a:rPr>
              <a:t>x</a:t>
            </a:r>
            <a:r>
              <a:rPr lang="es-MX" sz="1200" baseline="-25000">
                <a:cs typeface="Times New Roman" pitchFamily="18" charset="0"/>
              </a:rPr>
              <a:t>i</a:t>
            </a:r>
            <a:endParaRPr lang="es-ES" sz="1200"/>
          </a:p>
        </p:txBody>
      </p:sp>
      <p:sp>
        <p:nvSpPr>
          <p:cNvPr id="20518" name="Text Box 38"/>
          <p:cNvSpPr txBox="1">
            <a:spLocks noChangeArrowheads="1"/>
          </p:cNvSpPr>
          <p:nvPr/>
        </p:nvSpPr>
        <p:spPr bwMode="auto">
          <a:xfrm>
            <a:off x="4343400" y="4495800"/>
            <a:ext cx="457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cs typeface="Times New Roman" pitchFamily="18" charset="0"/>
              </a:rPr>
              <a:t>y</a:t>
            </a:r>
            <a:r>
              <a:rPr lang="es-MX" sz="1200" baseline="-25000">
                <a:cs typeface="Times New Roman" pitchFamily="18" charset="0"/>
              </a:rPr>
              <a:t>i</a:t>
            </a:r>
            <a:endParaRPr lang="es-ES" sz="1200"/>
          </a:p>
        </p:txBody>
      </p:sp>
      <p:sp>
        <p:nvSpPr>
          <p:cNvPr id="20519" name="Text Box 39"/>
          <p:cNvSpPr txBox="1">
            <a:spLocks noChangeArrowheads="1"/>
          </p:cNvSpPr>
          <p:nvPr/>
        </p:nvSpPr>
        <p:spPr bwMode="auto">
          <a:xfrm>
            <a:off x="4191000" y="4830764"/>
            <a:ext cx="609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cs typeface="Times New Roman" pitchFamily="18" charset="0"/>
              </a:rPr>
              <a:t>  y(x</a:t>
            </a:r>
            <a:r>
              <a:rPr lang="es-MX" sz="1200" baseline="-25000">
                <a:cs typeface="Times New Roman" pitchFamily="18" charset="0"/>
              </a:rPr>
              <a:t>i</a:t>
            </a:r>
            <a:r>
              <a:rPr lang="es-MX" sz="1200">
                <a:cs typeface="Times New Roman" pitchFamily="18" charset="0"/>
              </a:rPr>
              <a:t>)</a:t>
            </a:r>
            <a:endParaRPr lang="es-ES" sz="1200"/>
          </a:p>
        </p:txBody>
      </p:sp>
      <p:sp>
        <p:nvSpPr>
          <p:cNvPr id="20520" name="Text Box 40"/>
          <p:cNvSpPr txBox="1">
            <a:spLocks noChangeArrowheads="1"/>
          </p:cNvSpPr>
          <p:nvPr/>
        </p:nvSpPr>
        <p:spPr bwMode="auto">
          <a:xfrm>
            <a:off x="6248400" y="4495800"/>
            <a:ext cx="3962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
                <a:cs typeface="Times New Roman" pitchFamily="18" charset="0"/>
              </a:rPr>
              <a:t>δ</a:t>
            </a:r>
            <a:r>
              <a:rPr lang="es-MX">
                <a:cs typeface="Times New Roman" pitchFamily="18" charset="0"/>
              </a:rPr>
              <a:t>y = y</a:t>
            </a:r>
            <a:r>
              <a:rPr lang="es-MX" baseline="-25000">
                <a:cs typeface="Times New Roman" pitchFamily="18" charset="0"/>
              </a:rPr>
              <a:t>i</a:t>
            </a:r>
            <a:r>
              <a:rPr lang="es-MX">
                <a:cs typeface="Times New Roman" pitchFamily="18" charset="0"/>
              </a:rPr>
              <a:t> – y(x</a:t>
            </a:r>
            <a:r>
              <a:rPr lang="es-MX" baseline="-25000">
                <a:cs typeface="Times New Roman" pitchFamily="18" charset="0"/>
              </a:rPr>
              <a:t>i</a:t>
            </a:r>
            <a:r>
              <a:rPr lang="es-MX">
                <a:cs typeface="Times New Roman" pitchFamily="18" charset="0"/>
              </a:rPr>
              <a:t>)</a:t>
            </a:r>
          </a:p>
          <a:p>
            <a:pPr>
              <a:spcBef>
                <a:spcPct val="50000"/>
              </a:spcBef>
            </a:pPr>
            <a:r>
              <a:rPr lang="es-ES">
                <a:solidFill>
                  <a:schemeClr val="bg1"/>
                </a:solidFill>
                <a:cs typeface="Times New Roman" pitchFamily="18" charset="0"/>
              </a:rPr>
              <a:t>δ</a:t>
            </a:r>
            <a:r>
              <a:rPr lang="es-MX">
                <a:solidFill>
                  <a:schemeClr val="bg1"/>
                </a:solidFill>
                <a:cs typeface="Times New Roman" pitchFamily="18" charset="0"/>
              </a:rPr>
              <a:t>y = y</a:t>
            </a:r>
            <a:r>
              <a:rPr lang="es-MX" baseline="-25000">
                <a:solidFill>
                  <a:schemeClr val="bg1"/>
                </a:solidFill>
                <a:cs typeface="Times New Roman" pitchFamily="18" charset="0"/>
              </a:rPr>
              <a:t>i</a:t>
            </a:r>
            <a:r>
              <a:rPr lang="es-MX">
                <a:solidFill>
                  <a:schemeClr val="bg1"/>
                </a:solidFill>
                <a:cs typeface="Times New Roman" pitchFamily="18" charset="0"/>
              </a:rPr>
              <a:t> – (mx</a:t>
            </a:r>
            <a:r>
              <a:rPr lang="es-MX" baseline="-25000">
                <a:solidFill>
                  <a:schemeClr val="bg1"/>
                </a:solidFill>
                <a:cs typeface="Times New Roman" pitchFamily="18" charset="0"/>
              </a:rPr>
              <a:t>i</a:t>
            </a:r>
            <a:r>
              <a:rPr lang="es-MX">
                <a:solidFill>
                  <a:schemeClr val="bg1"/>
                </a:solidFill>
                <a:cs typeface="Times New Roman" pitchFamily="18" charset="0"/>
              </a:rPr>
              <a:t> + b)</a:t>
            </a:r>
          </a:p>
          <a:p>
            <a:pPr>
              <a:spcBef>
                <a:spcPct val="50000"/>
              </a:spcBef>
            </a:pPr>
            <a:endParaRPr lang="es-ES" baseline="30000">
              <a:solidFill>
                <a:srgbClr val="333300"/>
              </a:solidFill>
              <a:cs typeface="Times New Roman" pitchFamily="18" charset="0"/>
            </a:endParaRPr>
          </a:p>
        </p:txBody>
      </p:sp>
      <p:sp>
        <p:nvSpPr>
          <p:cNvPr id="20521" name="Text Box 41"/>
          <p:cNvSpPr txBox="1">
            <a:spLocks noChangeArrowheads="1"/>
          </p:cNvSpPr>
          <p:nvPr/>
        </p:nvSpPr>
        <p:spPr bwMode="auto">
          <a:xfrm>
            <a:off x="9296400" y="2743201"/>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800" b="1">
                <a:solidFill>
                  <a:srgbClr val="0000FF"/>
                </a:solidFill>
                <a:cs typeface="Times New Roman" pitchFamily="18" charset="0"/>
              </a:rPr>
              <a:t>L</a:t>
            </a:r>
            <a:endParaRPr lang="es-ES" sz="1800" b="1">
              <a:solidFill>
                <a:srgbClr val="0000FF"/>
              </a:solidFill>
            </a:endParaRPr>
          </a:p>
        </p:txBody>
      </p:sp>
      <p:sp>
        <p:nvSpPr>
          <p:cNvPr id="20522" name="Freeform 42"/>
          <p:cNvSpPr>
            <a:spLocks/>
          </p:cNvSpPr>
          <p:nvPr/>
        </p:nvSpPr>
        <p:spPr bwMode="auto">
          <a:xfrm>
            <a:off x="9463088" y="3005138"/>
            <a:ext cx="292100" cy="203200"/>
          </a:xfrm>
          <a:custGeom>
            <a:avLst/>
            <a:gdLst>
              <a:gd name="T0" fmla="*/ 0 w 184"/>
              <a:gd name="T1" fmla="*/ 128 h 128"/>
              <a:gd name="T2" fmla="*/ 119 w 184"/>
              <a:gd name="T3" fmla="*/ 118 h 128"/>
              <a:gd name="T4" fmla="*/ 165 w 184"/>
              <a:gd name="T5" fmla="*/ 109 h 128"/>
              <a:gd name="T6" fmla="*/ 110 w 184"/>
              <a:gd name="T7" fmla="*/ 45 h 128"/>
              <a:gd name="T8" fmla="*/ 101 w 184"/>
              <a:gd name="T9" fmla="*/ 0 h 128"/>
              <a:gd name="T10" fmla="*/ 0 60000 65536"/>
              <a:gd name="T11" fmla="*/ 0 60000 65536"/>
              <a:gd name="T12" fmla="*/ 0 60000 65536"/>
              <a:gd name="T13" fmla="*/ 0 60000 65536"/>
              <a:gd name="T14" fmla="*/ 0 60000 65536"/>
              <a:gd name="T15" fmla="*/ 0 w 184"/>
              <a:gd name="T16" fmla="*/ 0 h 128"/>
              <a:gd name="T17" fmla="*/ 184 w 184"/>
              <a:gd name="T18" fmla="*/ 128 h 128"/>
            </a:gdLst>
            <a:ahLst/>
            <a:cxnLst>
              <a:cxn ang="T10">
                <a:pos x="T0" y="T1"/>
              </a:cxn>
              <a:cxn ang="T11">
                <a:pos x="T2" y="T3"/>
              </a:cxn>
              <a:cxn ang="T12">
                <a:pos x="T4" y="T5"/>
              </a:cxn>
              <a:cxn ang="T13">
                <a:pos x="T6" y="T7"/>
              </a:cxn>
              <a:cxn ang="T14">
                <a:pos x="T8" y="T9"/>
              </a:cxn>
            </a:cxnLst>
            <a:rect l="T15" t="T16" r="T17" b="T18"/>
            <a:pathLst>
              <a:path w="184" h="128">
                <a:moveTo>
                  <a:pt x="0" y="128"/>
                </a:moveTo>
                <a:cubicBezTo>
                  <a:pt x="40" y="125"/>
                  <a:pt x="79" y="123"/>
                  <a:pt x="119" y="118"/>
                </a:cubicBezTo>
                <a:cubicBezTo>
                  <a:pt x="135" y="116"/>
                  <a:pt x="154" y="120"/>
                  <a:pt x="165" y="109"/>
                </a:cubicBezTo>
                <a:cubicBezTo>
                  <a:pt x="184" y="91"/>
                  <a:pt x="124" y="50"/>
                  <a:pt x="110" y="45"/>
                </a:cubicBezTo>
                <a:cubicBezTo>
                  <a:pt x="99" y="12"/>
                  <a:pt x="101" y="27"/>
                  <a:pt x="101" y="0"/>
                </a:cubicBezTo>
              </a:path>
            </a:pathLst>
          </a:custGeom>
          <a:noFill/>
          <a:ln w="12700">
            <a:solidFill>
              <a:schemeClr val="tx1"/>
            </a:solidFill>
            <a:round/>
            <a:headEnd type="triangle" w="med" len="med"/>
            <a:tailEnd type="none" w="sm" len="sm"/>
          </a:ln>
          <a:extLst>
            <a:ext uri="{909E8E84-426E-40DD-AFC4-6F175D3DCCD1}">
              <a14:hiddenFill xmlns:a14="http://schemas.microsoft.com/office/drawing/2010/main">
                <a:solidFill>
                  <a:srgbClr val="FFFFFF"/>
                </a:solidFill>
              </a14:hiddenFill>
            </a:ext>
          </a:extLst>
        </p:spPr>
        <p:txBody>
          <a:bodyPr/>
          <a:lstStyle/>
          <a:p>
            <a:endParaRPr lang="es-AR"/>
          </a:p>
        </p:txBody>
      </p:sp>
    </p:spTree>
    <p:extLst>
      <p:ext uri="{BB962C8B-B14F-4D97-AF65-F5344CB8AC3E}">
        <p14:creationId xmlns:p14="http://schemas.microsoft.com/office/powerpoint/2010/main" val="35703849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s-MX" smtClean="0"/>
              <a:t>GRÁFICAMENTE</a:t>
            </a:r>
            <a:endParaRPr lang="es-ES" smtClean="0"/>
          </a:p>
        </p:txBody>
      </p:sp>
      <p:sp>
        <p:nvSpPr>
          <p:cNvPr id="21507" name="Rectangle 3"/>
          <p:cNvSpPr>
            <a:spLocks noGrp="1" noChangeArrowheads="1"/>
          </p:cNvSpPr>
          <p:nvPr>
            <p:ph type="body" sz="half" idx="1"/>
          </p:nvPr>
        </p:nvSpPr>
        <p:spPr>
          <a:xfrm>
            <a:off x="1219201" y="1981200"/>
            <a:ext cx="2895599" cy="4114800"/>
          </a:xfrm>
        </p:spPr>
        <p:txBody>
          <a:bodyPr/>
          <a:lstStyle/>
          <a:p>
            <a:pPr>
              <a:buFontTx/>
              <a:buNone/>
            </a:pPr>
            <a:r>
              <a:rPr lang="es-MX" sz="2000" dirty="0"/>
              <a:t>CRITERIO: </a:t>
            </a:r>
            <a:endParaRPr lang="es-MX" sz="2000" dirty="0" smtClean="0"/>
          </a:p>
          <a:p>
            <a:pPr>
              <a:buFontTx/>
              <a:buNone/>
            </a:pPr>
            <a:r>
              <a:rPr lang="es-MX" sz="2000" dirty="0" smtClean="0"/>
              <a:t>Dado que la suma de los errores </a:t>
            </a:r>
            <a:r>
              <a:rPr lang="es-MX" sz="2000" dirty="0" err="1" smtClean="0">
                <a:cs typeface="Times New Roman" pitchFamily="18" charset="0"/>
              </a:rPr>
              <a:t>δ</a:t>
            </a:r>
            <a:r>
              <a:rPr lang="es-MX" sz="2000" dirty="0" err="1" smtClean="0"/>
              <a:t>y</a:t>
            </a:r>
            <a:r>
              <a:rPr lang="es-MX" sz="2000" dirty="0"/>
              <a:t>, </a:t>
            </a:r>
            <a:r>
              <a:rPr lang="es-MX" sz="2000" dirty="0" smtClean="0"/>
              <a:t>se pueden compensar, </a:t>
            </a:r>
            <a:r>
              <a:rPr lang="es-MX" sz="2000" dirty="0"/>
              <a:t>s</a:t>
            </a:r>
            <a:r>
              <a:rPr lang="es-MX" sz="2000" dirty="0" smtClean="0"/>
              <a:t>e suma los cuadrados de dichos errores.</a:t>
            </a:r>
            <a:endParaRPr lang="es-MX" sz="2000" dirty="0"/>
          </a:p>
          <a:p>
            <a:pPr>
              <a:buFontTx/>
              <a:buNone/>
            </a:pPr>
            <a:endParaRPr lang="es-ES" sz="2000" dirty="0">
              <a:solidFill>
                <a:srgbClr val="333300"/>
              </a:solidFill>
            </a:endParaRPr>
          </a:p>
        </p:txBody>
      </p:sp>
      <p:sp>
        <p:nvSpPr>
          <p:cNvPr id="21508" name="Line 4"/>
          <p:cNvSpPr>
            <a:spLocks noChangeShapeType="1"/>
          </p:cNvSpPr>
          <p:nvPr/>
        </p:nvSpPr>
        <p:spPr bwMode="auto">
          <a:xfrm>
            <a:off x="4724400" y="1981200"/>
            <a:ext cx="0" cy="434340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s-PE"/>
          </a:p>
        </p:txBody>
      </p:sp>
      <p:sp>
        <p:nvSpPr>
          <p:cNvPr id="21509" name="Line 5"/>
          <p:cNvSpPr>
            <a:spLocks noChangeShapeType="1"/>
          </p:cNvSpPr>
          <p:nvPr/>
        </p:nvSpPr>
        <p:spPr bwMode="auto">
          <a:xfrm>
            <a:off x="4572000" y="6172200"/>
            <a:ext cx="5257800" cy="0"/>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21510" name="Text Box 6"/>
          <p:cNvSpPr txBox="1">
            <a:spLocks noChangeArrowheads="1"/>
          </p:cNvSpPr>
          <p:nvPr/>
        </p:nvSpPr>
        <p:spPr bwMode="auto">
          <a:xfrm>
            <a:off x="4495800" y="6172200"/>
            <a:ext cx="304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t>0</a:t>
            </a:r>
            <a:endParaRPr lang="es-ES" sz="1200"/>
          </a:p>
        </p:txBody>
      </p:sp>
      <p:sp>
        <p:nvSpPr>
          <p:cNvPr id="21511" name="Text Box 7"/>
          <p:cNvSpPr txBox="1">
            <a:spLocks noChangeArrowheads="1"/>
          </p:cNvSpPr>
          <p:nvPr/>
        </p:nvSpPr>
        <p:spPr bwMode="auto">
          <a:xfrm>
            <a:off x="5791200" y="4495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21512" name="Line 8"/>
          <p:cNvSpPr>
            <a:spLocks noChangeShapeType="1"/>
          </p:cNvSpPr>
          <p:nvPr/>
        </p:nvSpPr>
        <p:spPr bwMode="auto">
          <a:xfrm flipV="1">
            <a:off x="4648200" y="3200400"/>
            <a:ext cx="4876800" cy="2438400"/>
          </a:xfrm>
          <a:prstGeom prst="line">
            <a:avLst/>
          </a:prstGeom>
          <a:noFill/>
          <a:ln w="1270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1513" name="Text Box 9"/>
          <p:cNvSpPr txBox="1">
            <a:spLocks noChangeArrowheads="1"/>
          </p:cNvSpPr>
          <p:nvPr/>
        </p:nvSpPr>
        <p:spPr bwMode="auto">
          <a:xfrm>
            <a:off x="4876800" y="5029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21514" name="Text Box 10"/>
          <p:cNvSpPr txBox="1">
            <a:spLocks noChangeArrowheads="1"/>
          </p:cNvSpPr>
          <p:nvPr/>
        </p:nvSpPr>
        <p:spPr bwMode="auto">
          <a:xfrm>
            <a:off x="5562600" y="5257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21515" name="Text Box 11"/>
          <p:cNvSpPr txBox="1">
            <a:spLocks noChangeArrowheads="1"/>
          </p:cNvSpPr>
          <p:nvPr/>
        </p:nvSpPr>
        <p:spPr bwMode="auto">
          <a:xfrm>
            <a:off x="6400800" y="4800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21516" name="Text Box 12"/>
          <p:cNvSpPr txBox="1">
            <a:spLocks noChangeArrowheads="1"/>
          </p:cNvSpPr>
          <p:nvPr/>
        </p:nvSpPr>
        <p:spPr bwMode="auto">
          <a:xfrm>
            <a:off x="6629400" y="426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21517" name="Text Box 13"/>
          <p:cNvSpPr txBox="1">
            <a:spLocks noChangeArrowheads="1"/>
          </p:cNvSpPr>
          <p:nvPr/>
        </p:nvSpPr>
        <p:spPr bwMode="auto">
          <a:xfrm>
            <a:off x="7162800" y="4343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21518" name="Text Box 14"/>
          <p:cNvSpPr txBox="1">
            <a:spLocks noChangeArrowheads="1"/>
          </p:cNvSpPr>
          <p:nvPr/>
        </p:nvSpPr>
        <p:spPr bwMode="auto">
          <a:xfrm>
            <a:off x="7391400" y="3810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21519" name="Text Box 15"/>
          <p:cNvSpPr txBox="1">
            <a:spLocks noChangeArrowheads="1"/>
          </p:cNvSpPr>
          <p:nvPr/>
        </p:nvSpPr>
        <p:spPr bwMode="auto">
          <a:xfrm>
            <a:off x="8001000" y="396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21520" name="Text Box 16"/>
          <p:cNvSpPr txBox="1">
            <a:spLocks noChangeArrowheads="1"/>
          </p:cNvSpPr>
          <p:nvPr/>
        </p:nvSpPr>
        <p:spPr bwMode="auto">
          <a:xfrm>
            <a:off x="8229600" y="3429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21521" name="Text Box 17"/>
          <p:cNvSpPr txBox="1">
            <a:spLocks noChangeArrowheads="1"/>
          </p:cNvSpPr>
          <p:nvPr/>
        </p:nvSpPr>
        <p:spPr bwMode="auto">
          <a:xfrm>
            <a:off x="8839200" y="3505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21522" name="Text Box 18"/>
          <p:cNvSpPr txBox="1">
            <a:spLocks noChangeArrowheads="1"/>
          </p:cNvSpPr>
          <p:nvPr/>
        </p:nvSpPr>
        <p:spPr bwMode="auto">
          <a:xfrm>
            <a:off x="89916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400" b="1">
                <a:cs typeface="Times New Roman" pitchFamily="18" charset="0"/>
              </a:rPr>
              <a:t>+</a:t>
            </a:r>
            <a:endParaRPr lang="es-ES" sz="1400" b="1"/>
          </a:p>
        </p:txBody>
      </p:sp>
      <p:sp>
        <p:nvSpPr>
          <p:cNvPr id="21523" name="Line 19"/>
          <p:cNvSpPr>
            <a:spLocks noChangeShapeType="1"/>
          </p:cNvSpPr>
          <p:nvPr/>
        </p:nvSpPr>
        <p:spPr bwMode="auto">
          <a:xfrm>
            <a:off x="5943600" y="4648200"/>
            <a:ext cx="0" cy="381000"/>
          </a:xfrm>
          <a:prstGeom prst="line">
            <a:avLst/>
          </a:prstGeom>
          <a:noFill/>
          <a:ln w="1270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1524" name="Text Box 20"/>
          <p:cNvSpPr txBox="1">
            <a:spLocks noChangeArrowheads="1"/>
          </p:cNvSpPr>
          <p:nvPr/>
        </p:nvSpPr>
        <p:spPr bwMode="auto">
          <a:xfrm>
            <a:off x="9677400" y="6202364"/>
            <a:ext cx="304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cs typeface="Times New Roman" pitchFamily="18" charset="0"/>
              </a:rPr>
              <a:t>x</a:t>
            </a:r>
            <a:endParaRPr lang="es-ES" sz="1200"/>
          </a:p>
        </p:txBody>
      </p:sp>
      <p:sp>
        <p:nvSpPr>
          <p:cNvPr id="21525" name="Text Box 21"/>
          <p:cNvSpPr txBox="1">
            <a:spLocks noChangeArrowheads="1"/>
          </p:cNvSpPr>
          <p:nvPr/>
        </p:nvSpPr>
        <p:spPr bwMode="auto">
          <a:xfrm>
            <a:off x="4495800" y="1905000"/>
            <a:ext cx="304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cs typeface="Times New Roman" pitchFamily="18" charset="0"/>
              </a:rPr>
              <a:t>y</a:t>
            </a:r>
            <a:endParaRPr lang="es-ES" sz="1200"/>
          </a:p>
        </p:txBody>
      </p:sp>
      <p:sp>
        <p:nvSpPr>
          <p:cNvPr id="21526" name="Text Box 22"/>
          <p:cNvSpPr txBox="1">
            <a:spLocks noChangeArrowheads="1"/>
          </p:cNvSpPr>
          <p:nvPr/>
        </p:nvSpPr>
        <p:spPr bwMode="auto">
          <a:xfrm>
            <a:off x="5943600" y="4191000"/>
            <a:ext cx="533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cs typeface="Times New Roman" pitchFamily="18" charset="0"/>
              </a:rPr>
              <a:t>δy</a:t>
            </a:r>
            <a:endParaRPr lang="es-ES" sz="1200"/>
          </a:p>
        </p:txBody>
      </p:sp>
      <p:sp>
        <p:nvSpPr>
          <p:cNvPr id="21527" name="Freeform 23"/>
          <p:cNvSpPr>
            <a:spLocks/>
          </p:cNvSpPr>
          <p:nvPr/>
        </p:nvSpPr>
        <p:spPr bwMode="auto">
          <a:xfrm>
            <a:off x="5965826" y="4419600"/>
            <a:ext cx="206375" cy="414338"/>
          </a:xfrm>
          <a:custGeom>
            <a:avLst/>
            <a:gdLst>
              <a:gd name="T0" fmla="*/ 0 w 173"/>
              <a:gd name="T1" fmla="*/ 138 h 138"/>
              <a:gd name="T2" fmla="*/ 91 w 173"/>
              <a:gd name="T3" fmla="*/ 128 h 138"/>
              <a:gd name="T4" fmla="*/ 173 w 173"/>
              <a:gd name="T5" fmla="*/ 0 h 138"/>
              <a:gd name="T6" fmla="*/ 0 60000 65536"/>
              <a:gd name="T7" fmla="*/ 0 60000 65536"/>
              <a:gd name="T8" fmla="*/ 0 60000 65536"/>
              <a:gd name="T9" fmla="*/ 0 w 173"/>
              <a:gd name="T10" fmla="*/ 0 h 138"/>
              <a:gd name="T11" fmla="*/ 173 w 173"/>
              <a:gd name="T12" fmla="*/ 138 h 138"/>
            </a:gdLst>
            <a:ahLst/>
            <a:cxnLst>
              <a:cxn ang="T6">
                <a:pos x="T0" y="T1"/>
              </a:cxn>
              <a:cxn ang="T7">
                <a:pos x="T2" y="T3"/>
              </a:cxn>
              <a:cxn ang="T8">
                <a:pos x="T4" y="T5"/>
              </a:cxn>
            </a:cxnLst>
            <a:rect l="T9" t="T10" r="T11" b="T12"/>
            <a:pathLst>
              <a:path w="173" h="138">
                <a:moveTo>
                  <a:pt x="0" y="138"/>
                </a:moveTo>
                <a:cubicBezTo>
                  <a:pt x="30" y="135"/>
                  <a:pt x="62" y="138"/>
                  <a:pt x="91" y="128"/>
                </a:cubicBezTo>
                <a:cubicBezTo>
                  <a:pt x="137" y="113"/>
                  <a:pt x="85" y="0"/>
                  <a:pt x="173" y="0"/>
                </a:cubicBezTo>
              </a:path>
            </a:pathLst>
          </a:custGeom>
          <a:noFill/>
          <a:ln w="12700">
            <a:solidFill>
              <a:schemeClr val="tx1"/>
            </a:solidFill>
            <a:round/>
            <a:headEnd type="triangle" w="med" len="med"/>
            <a:tailEnd type="none" w="sm" len="sm"/>
          </a:ln>
          <a:extLst>
            <a:ext uri="{909E8E84-426E-40DD-AFC4-6F175D3DCCD1}">
              <a14:hiddenFill xmlns:a14="http://schemas.microsoft.com/office/drawing/2010/main">
                <a:solidFill>
                  <a:srgbClr val="FFFFFF"/>
                </a:solidFill>
              </a14:hiddenFill>
            </a:ext>
          </a:extLst>
        </p:spPr>
        <p:txBody>
          <a:bodyPr/>
          <a:lstStyle/>
          <a:p>
            <a:endParaRPr lang="es-AR"/>
          </a:p>
        </p:txBody>
      </p:sp>
      <p:sp>
        <p:nvSpPr>
          <p:cNvPr id="21528" name="Line 24"/>
          <p:cNvSpPr>
            <a:spLocks noChangeShapeType="1"/>
          </p:cNvSpPr>
          <p:nvPr/>
        </p:nvSpPr>
        <p:spPr bwMode="auto">
          <a:xfrm>
            <a:off x="5029200" y="5181600"/>
            <a:ext cx="0" cy="228600"/>
          </a:xfrm>
          <a:prstGeom prst="line">
            <a:avLst/>
          </a:prstGeom>
          <a:noFill/>
          <a:ln w="1270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1529" name="Line 25"/>
          <p:cNvSpPr>
            <a:spLocks noChangeShapeType="1"/>
          </p:cNvSpPr>
          <p:nvPr/>
        </p:nvSpPr>
        <p:spPr bwMode="auto">
          <a:xfrm>
            <a:off x="5715000" y="5105400"/>
            <a:ext cx="0" cy="304800"/>
          </a:xfrm>
          <a:prstGeom prst="line">
            <a:avLst/>
          </a:prstGeom>
          <a:noFill/>
          <a:ln w="1270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1530" name="Line 26"/>
          <p:cNvSpPr>
            <a:spLocks noChangeShapeType="1"/>
          </p:cNvSpPr>
          <p:nvPr/>
        </p:nvSpPr>
        <p:spPr bwMode="auto">
          <a:xfrm>
            <a:off x="6553200" y="4648200"/>
            <a:ext cx="0" cy="304800"/>
          </a:xfrm>
          <a:prstGeom prst="line">
            <a:avLst/>
          </a:prstGeom>
          <a:noFill/>
          <a:ln w="1270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1531" name="Line 27"/>
          <p:cNvSpPr>
            <a:spLocks noChangeShapeType="1"/>
          </p:cNvSpPr>
          <p:nvPr/>
        </p:nvSpPr>
        <p:spPr bwMode="auto">
          <a:xfrm>
            <a:off x="6781800" y="4419600"/>
            <a:ext cx="0" cy="152400"/>
          </a:xfrm>
          <a:prstGeom prst="line">
            <a:avLst/>
          </a:prstGeom>
          <a:noFill/>
          <a:ln w="1270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1532" name="Line 28"/>
          <p:cNvSpPr>
            <a:spLocks noChangeShapeType="1"/>
          </p:cNvSpPr>
          <p:nvPr/>
        </p:nvSpPr>
        <p:spPr bwMode="auto">
          <a:xfrm>
            <a:off x="7315200" y="4267200"/>
            <a:ext cx="0" cy="228600"/>
          </a:xfrm>
          <a:prstGeom prst="line">
            <a:avLst/>
          </a:prstGeom>
          <a:noFill/>
          <a:ln w="1270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1533" name="Line 29"/>
          <p:cNvSpPr>
            <a:spLocks noChangeShapeType="1"/>
          </p:cNvSpPr>
          <p:nvPr/>
        </p:nvSpPr>
        <p:spPr bwMode="auto">
          <a:xfrm>
            <a:off x="7543800" y="3962400"/>
            <a:ext cx="0" cy="228600"/>
          </a:xfrm>
          <a:prstGeom prst="line">
            <a:avLst/>
          </a:prstGeom>
          <a:noFill/>
          <a:ln w="1270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1534" name="Line 30"/>
          <p:cNvSpPr>
            <a:spLocks noChangeShapeType="1"/>
          </p:cNvSpPr>
          <p:nvPr/>
        </p:nvSpPr>
        <p:spPr bwMode="auto">
          <a:xfrm>
            <a:off x="8153400" y="3886200"/>
            <a:ext cx="0" cy="228600"/>
          </a:xfrm>
          <a:prstGeom prst="line">
            <a:avLst/>
          </a:prstGeom>
          <a:noFill/>
          <a:ln w="1270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1535" name="Line 31"/>
          <p:cNvSpPr>
            <a:spLocks noChangeShapeType="1"/>
          </p:cNvSpPr>
          <p:nvPr/>
        </p:nvSpPr>
        <p:spPr bwMode="auto">
          <a:xfrm>
            <a:off x="8382000" y="3581400"/>
            <a:ext cx="0" cy="152400"/>
          </a:xfrm>
          <a:prstGeom prst="line">
            <a:avLst/>
          </a:prstGeom>
          <a:noFill/>
          <a:ln w="1270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1536" name="Line 32"/>
          <p:cNvSpPr>
            <a:spLocks noChangeShapeType="1"/>
          </p:cNvSpPr>
          <p:nvPr/>
        </p:nvSpPr>
        <p:spPr bwMode="auto">
          <a:xfrm>
            <a:off x="8991600" y="3429000"/>
            <a:ext cx="0" cy="228600"/>
          </a:xfrm>
          <a:prstGeom prst="line">
            <a:avLst/>
          </a:prstGeom>
          <a:noFill/>
          <a:ln w="1270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1537" name="Line 33"/>
          <p:cNvSpPr>
            <a:spLocks noChangeShapeType="1"/>
          </p:cNvSpPr>
          <p:nvPr/>
        </p:nvSpPr>
        <p:spPr bwMode="auto">
          <a:xfrm>
            <a:off x="9144000" y="3200400"/>
            <a:ext cx="0" cy="152400"/>
          </a:xfrm>
          <a:prstGeom prst="line">
            <a:avLst/>
          </a:prstGeom>
          <a:noFill/>
          <a:ln w="1270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1538" name="Line 34"/>
          <p:cNvSpPr>
            <a:spLocks noChangeShapeType="1"/>
          </p:cNvSpPr>
          <p:nvPr/>
        </p:nvSpPr>
        <p:spPr bwMode="auto">
          <a:xfrm>
            <a:off x="5943600" y="4648200"/>
            <a:ext cx="0" cy="1524000"/>
          </a:xfrm>
          <a:prstGeom prst="line">
            <a:avLst/>
          </a:prstGeom>
          <a:noFill/>
          <a:ln w="12700">
            <a:solidFill>
              <a:schemeClr val="bg1"/>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1539" name="Line 35"/>
          <p:cNvSpPr>
            <a:spLocks noChangeShapeType="1"/>
          </p:cNvSpPr>
          <p:nvPr/>
        </p:nvSpPr>
        <p:spPr bwMode="auto">
          <a:xfrm flipH="1">
            <a:off x="4724400" y="4648200"/>
            <a:ext cx="1219200" cy="0"/>
          </a:xfrm>
          <a:prstGeom prst="line">
            <a:avLst/>
          </a:prstGeom>
          <a:noFill/>
          <a:ln w="12700">
            <a:solidFill>
              <a:schemeClr val="bg1"/>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1540" name="Line 36"/>
          <p:cNvSpPr>
            <a:spLocks noChangeShapeType="1"/>
          </p:cNvSpPr>
          <p:nvPr/>
        </p:nvSpPr>
        <p:spPr bwMode="auto">
          <a:xfrm flipH="1">
            <a:off x="4724400" y="4953000"/>
            <a:ext cx="1219200" cy="0"/>
          </a:xfrm>
          <a:prstGeom prst="line">
            <a:avLst/>
          </a:prstGeom>
          <a:noFill/>
          <a:ln w="12700">
            <a:solidFill>
              <a:schemeClr val="bg1"/>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es-PE"/>
          </a:p>
        </p:txBody>
      </p:sp>
      <p:sp>
        <p:nvSpPr>
          <p:cNvPr id="21541" name="Text Box 37"/>
          <p:cNvSpPr txBox="1">
            <a:spLocks noChangeArrowheads="1"/>
          </p:cNvSpPr>
          <p:nvPr/>
        </p:nvSpPr>
        <p:spPr bwMode="auto">
          <a:xfrm>
            <a:off x="5791200" y="6172200"/>
            <a:ext cx="457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cs typeface="Times New Roman" pitchFamily="18" charset="0"/>
              </a:rPr>
              <a:t>x</a:t>
            </a:r>
            <a:r>
              <a:rPr lang="es-MX" sz="1200" baseline="-25000">
                <a:cs typeface="Times New Roman" pitchFamily="18" charset="0"/>
              </a:rPr>
              <a:t>i</a:t>
            </a:r>
            <a:endParaRPr lang="es-ES" sz="1200"/>
          </a:p>
        </p:txBody>
      </p:sp>
      <p:sp>
        <p:nvSpPr>
          <p:cNvPr id="21542" name="Text Box 38"/>
          <p:cNvSpPr txBox="1">
            <a:spLocks noChangeArrowheads="1"/>
          </p:cNvSpPr>
          <p:nvPr/>
        </p:nvSpPr>
        <p:spPr bwMode="auto">
          <a:xfrm>
            <a:off x="4343400" y="4495800"/>
            <a:ext cx="457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cs typeface="Times New Roman" pitchFamily="18" charset="0"/>
              </a:rPr>
              <a:t>y</a:t>
            </a:r>
            <a:r>
              <a:rPr lang="es-MX" sz="1200" baseline="-25000">
                <a:cs typeface="Times New Roman" pitchFamily="18" charset="0"/>
              </a:rPr>
              <a:t>i</a:t>
            </a:r>
            <a:endParaRPr lang="es-ES" sz="1200"/>
          </a:p>
        </p:txBody>
      </p:sp>
      <p:sp>
        <p:nvSpPr>
          <p:cNvPr id="21543" name="Text Box 39"/>
          <p:cNvSpPr txBox="1">
            <a:spLocks noChangeArrowheads="1"/>
          </p:cNvSpPr>
          <p:nvPr/>
        </p:nvSpPr>
        <p:spPr bwMode="auto">
          <a:xfrm>
            <a:off x="4191000" y="4830764"/>
            <a:ext cx="609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200">
                <a:cs typeface="Times New Roman" pitchFamily="18" charset="0"/>
              </a:rPr>
              <a:t>  y(x</a:t>
            </a:r>
            <a:r>
              <a:rPr lang="es-MX" sz="1200" baseline="-25000">
                <a:cs typeface="Times New Roman" pitchFamily="18" charset="0"/>
              </a:rPr>
              <a:t>i</a:t>
            </a:r>
            <a:r>
              <a:rPr lang="es-MX" sz="1200">
                <a:cs typeface="Times New Roman" pitchFamily="18" charset="0"/>
              </a:rPr>
              <a:t>)</a:t>
            </a:r>
            <a:endParaRPr lang="es-ES" sz="1200"/>
          </a:p>
        </p:txBody>
      </p:sp>
      <p:sp>
        <p:nvSpPr>
          <p:cNvPr id="21544" name="Text Box 40"/>
          <p:cNvSpPr txBox="1">
            <a:spLocks noChangeArrowheads="1"/>
          </p:cNvSpPr>
          <p:nvPr/>
        </p:nvSpPr>
        <p:spPr bwMode="auto">
          <a:xfrm>
            <a:off x="6248400" y="4495800"/>
            <a:ext cx="39624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 dirty="0">
                <a:cs typeface="Times New Roman" pitchFamily="18" charset="0"/>
              </a:rPr>
              <a:t>δ</a:t>
            </a:r>
            <a:r>
              <a:rPr lang="es-MX" dirty="0">
                <a:cs typeface="Times New Roman" pitchFamily="18" charset="0"/>
              </a:rPr>
              <a:t>y = </a:t>
            </a:r>
            <a:r>
              <a:rPr lang="es-MX" dirty="0" err="1">
                <a:cs typeface="Times New Roman" pitchFamily="18" charset="0"/>
              </a:rPr>
              <a:t>y</a:t>
            </a:r>
            <a:r>
              <a:rPr lang="es-MX" baseline="-25000" dirty="0" err="1">
                <a:cs typeface="Times New Roman" pitchFamily="18" charset="0"/>
              </a:rPr>
              <a:t>i</a:t>
            </a:r>
            <a:r>
              <a:rPr lang="es-MX" dirty="0">
                <a:cs typeface="Times New Roman" pitchFamily="18" charset="0"/>
              </a:rPr>
              <a:t> – y(x</a:t>
            </a:r>
            <a:r>
              <a:rPr lang="es-MX" baseline="-25000" dirty="0">
                <a:cs typeface="Times New Roman" pitchFamily="18" charset="0"/>
              </a:rPr>
              <a:t>i</a:t>
            </a:r>
            <a:r>
              <a:rPr lang="es-MX" dirty="0">
                <a:cs typeface="Times New Roman" pitchFamily="18" charset="0"/>
              </a:rPr>
              <a:t>)</a:t>
            </a:r>
          </a:p>
          <a:p>
            <a:pPr>
              <a:spcBef>
                <a:spcPct val="50000"/>
              </a:spcBef>
            </a:pPr>
            <a:r>
              <a:rPr lang="es-ES" dirty="0">
                <a:solidFill>
                  <a:schemeClr val="bg1"/>
                </a:solidFill>
                <a:cs typeface="Times New Roman" pitchFamily="18" charset="0"/>
              </a:rPr>
              <a:t>δ</a:t>
            </a:r>
            <a:r>
              <a:rPr lang="es-MX" dirty="0">
                <a:solidFill>
                  <a:schemeClr val="bg1"/>
                </a:solidFill>
                <a:cs typeface="Times New Roman" pitchFamily="18" charset="0"/>
              </a:rPr>
              <a:t>y = </a:t>
            </a:r>
            <a:r>
              <a:rPr lang="es-MX" dirty="0" err="1">
                <a:solidFill>
                  <a:schemeClr val="bg1"/>
                </a:solidFill>
                <a:cs typeface="Times New Roman" pitchFamily="18" charset="0"/>
              </a:rPr>
              <a:t>y</a:t>
            </a:r>
            <a:r>
              <a:rPr lang="es-MX" baseline="-25000" dirty="0" err="1">
                <a:solidFill>
                  <a:schemeClr val="bg1"/>
                </a:solidFill>
                <a:cs typeface="Times New Roman" pitchFamily="18" charset="0"/>
              </a:rPr>
              <a:t>i</a:t>
            </a:r>
            <a:r>
              <a:rPr lang="es-MX" dirty="0">
                <a:solidFill>
                  <a:schemeClr val="bg1"/>
                </a:solidFill>
                <a:cs typeface="Times New Roman" pitchFamily="18" charset="0"/>
              </a:rPr>
              <a:t> – (mx</a:t>
            </a:r>
            <a:r>
              <a:rPr lang="es-MX" baseline="-25000" dirty="0">
                <a:solidFill>
                  <a:schemeClr val="bg1"/>
                </a:solidFill>
                <a:cs typeface="Times New Roman" pitchFamily="18" charset="0"/>
              </a:rPr>
              <a:t>i</a:t>
            </a:r>
            <a:r>
              <a:rPr lang="es-MX" dirty="0">
                <a:solidFill>
                  <a:schemeClr val="bg1"/>
                </a:solidFill>
                <a:cs typeface="Times New Roman" pitchFamily="18" charset="0"/>
              </a:rPr>
              <a:t> + b)</a:t>
            </a:r>
          </a:p>
          <a:p>
            <a:pPr>
              <a:spcBef>
                <a:spcPct val="50000"/>
              </a:spcBef>
            </a:pPr>
            <a:r>
              <a:rPr lang="es-ES" dirty="0">
                <a:solidFill>
                  <a:srgbClr val="333300"/>
                </a:solidFill>
                <a:cs typeface="Times New Roman" pitchFamily="18" charset="0"/>
              </a:rPr>
              <a:t>δ</a:t>
            </a:r>
            <a:r>
              <a:rPr lang="es-MX" dirty="0">
                <a:solidFill>
                  <a:srgbClr val="333300"/>
                </a:solidFill>
                <a:cs typeface="Times New Roman" pitchFamily="18" charset="0"/>
              </a:rPr>
              <a:t>y</a:t>
            </a:r>
            <a:r>
              <a:rPr lang="es-MX" baseline="30000" dirty="0">
                <a:solidFill>
                  <a:srgbClr val="333300"/>
                </a:solidFill>
                <a:cs typeface="Times New Roman" pitchFamily="18" charset="0"/>
              </a:rPr>
              <a:t>2</a:t>
            </a:r>
            <a:r>
              <a:rPr lang="es-MX" dirty="0">
                <a:solidFill>
                  <a:srgbClr val="333300"/>
                </a:solidFill>
                <a:cs typeface="Times New Roman" pitchFamily="18" charset="0"/>
              </a:rPr>
              <a:t> =[ </a:t>
            </a:r>
            <a:r>
              <a:rPr lang="es-MX" dirty="0" err="1">
                <a:solidFill>
                  <a:srgbClr val="333300"/>
                </a:solidFill>
                <a:cs typeface="Times New Roman" pitchFamily="18" charset="0"/>
              </a:rPr>
              <a:t>y</a:t>
            </a:r>
            <a:r>
              <a:rPr lang="es-MX" baseline="-25000" dirty="0" err="1">
                <a:solidFill>
                  <a:srgbClr val="333300"/>
                </a:solidFill>
                <a:cs typeface="Times New Roman" pitchFamily="18" charset="0"/>
              </a:rPr>
              <a:t>i</a:t>
            </a:r>
            <a:r>
              <a:rPr lang="es-MX" dirty="0">
                <a:solidFill>
                  <a:srgbClr val="333300"/>
                </a:solidFill>
                <a:cs typeface="Times New Roman" pitchFamily="18" charset="0"/>
              </a:rPr>
              <a:t> – (mx</a:t>
            </a:r>
            <a:r>
              <a:rPr lang="es-MX" baseline="-25000" dirty="0">
                <a:solidFill>
                  <a:srgbClr val="333300"/>
                </a:solidFill>
                <a:cs typeface="Times New Roman" pitchFamily="18" charset="0"/>
              </a:rPr>
              <a:t>i</a:t>
            </a:r>
            <a:r>
              <a:rPr lang="es-MX" dirty="0">
                <a:solidFill>
                  <a:srgbClr val="333300"/>
                </a:solidFill>
                <a:cs typeface="Times New Roman" pitchFamily="18" charset="0"/>
              </a:rPr>
              <a:t> + b)]</a:t>
            </a:r>
            <a:r>
              <a:rPr lang="es-MX" baseline="30000" dirty="0">
                <a:solidFill>
                  <a:srgbClr val="333300"/>
                </a:solidFill>
                <a:cs typeface="Times New Roman" pitchFamily="18" charset="0"/>
              </a:rPr>
              <a:t>2</a:t>
            </a:r>
            <a:endParaRPr lang="es-ES" baseline="30000" dirty="0">
              <a:solidFill>
                <a:srgbClr val="333300"/>
              </a:solidFill>
              <a:cs typeface="Times New Roman" pitchFamily="18" charset="0"/>
            </a:endParaRPr>
          </a:p>
        </p:txBody>
      </p:sp>
      <p:sp>
        <p:nvSpPr>
          <p:cNvPr id="21545" name="Text Box 41"/>
          <p:cNvSpPr txBox="1">
            <a:spLocks noChangeArrowheads="1"/>
          </p:cNvSpPr>
          <p:nvPr/>
        </p:nvSpPr>
        <p:spPr bwMode="auto">
          <a:xfrm>
            <a:off x="9296400" y="2743201"/>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MX" sz="1800" b="1">
                <a:solidFill>
                  <a:srgbClr val="0000FF"/>
                </a:solidFill>
                <a:cs typeface="Times New Roman" pitchFamily="18" charset="0"/>
              </a:rPr>
              <a:t>L</a:t>
            </a:r>
            <a:endParaRPr lang="es-ES" sz="1800" b="1">
              <a:solidFill>
                <a:srgbClr val="0000FF"/>
              </a:solidFill>
            </a:endParaRPr>
          </a:p>
        </p:txBody>
      </p:sp>
      <p:sp>
        <p:nvSpPr>
          <p:cNvPr id="21546" name="Freeform 42"/>
          <p:cNvSpPr>
            <a:spLocks/>
          </p:cNvSpPr>
          <p:nvPr/>
        </p:nvSpPr>
        <p:spPr bwMode="auto">
          <a:xfrm>
            <a:off x="9463088" y="3005138"/>
            <a:ext cx="292100" cy="203200"/>
          </a:xfrm>
          <a:custGeom>
            <a:avLst/>
            <a:gdLst>
              <a:gd name="T0" fmla="*/ 0 w 184"/>
              <a:gd name="T1" fmla="*/ 128 h 128"/>
              <a:gd name="T2" fmla="*/ 119 w 184"/>
              <a:gd name="T3" fmla="*/ 118 h 128"/>
              <a:gd name="T4" fmla="*/ 165 w 184"/>
              <a:gd name="T5" fmla="*/ 109 h 128"/>
              <a:gd name="T6" fmla="*/ 110 w 184"/>
              <a:gd name="T7" fmla="*/ 45 h 128"/>
              <a:gd name="T8" fmla="*/ 101 w 184"/>
              <a:gd name="T9" fmla="*/ 0 h 128"/>
              <a:gd name="T10" fmla="*/ 0 60000 65536"/>
              <a:gd name="T11" fmla="*/ 0 60000 65536"/>
              <a:gd name="T12" fmla="*/ 0 60000 65536"/>
              <a:gd name="T13" fmla="*/ 0 60000 65536"/>
              <a:gd name="T14" fmla="*/ 0 60000 65536"/>
              <a:gd name="T15" fmla="*/ 0 w 184"/>
              <a:gd name="T16" fmla="*/ 0 h 128"/>
              <a:gd name="T17" fmla="*/ 184 w 184"/>
              <a:gd name="T18" fmla="*/ 128 h 128"/>
            </a:gdLst>
            <a:ahLst/>
            <a:cxnLst>
              <a:cxn ang="T10">
                <a:pos x="T0" y="T1"/>
              </a:cxn>
              <a:cxn ang="T11">
                <a:pos x="T2" y="T3"/>
              </a:cxn>
              <a:cxn ang="T12">
                <a:pos x="T4" y="T5"/>
              </a:cxn>
              <a:cxn ang="T13">
                <a:pos x="T6" y="T7"/>
              </a:cxn>
              <a:cxn ang="T14">
                <a:pos x="T8" y="T9"/>
              </a:cxn>
            </a:cxnLst>
            <a:rect l="T15" t="T16" r="T17" b="T18"/>
            <a:pathLst>
              <a:path w="184" h="128">
                <a:moveTo>
                  <a:pt x="0" y="128"/>
                </a:moveTo>
                <a:cubicBezTo>
                  <a:pt x="40" y="125"/>
                  <a:pt x="79" y="123"/>
                  <a:pt x="119" y="118"/>
                </a:cubicBezTo>
                <a:cubicBezTo>
                  <a:pt x="135" y="116"/>
                  <a:pt x="154" y="120"/>
                  <a:pt x="165" y="109"/>
                </a:cubicBezTo>
                <a:cubicBezTo>
                  <a:pt x="184" y="91"/>
                  <a:pt x="124" y="50"/>
                  <a:pt x="110" y="45"/>
                </a:cubicBezTo>
                <a:cubicBezTo>
                  <a:pt x="99" y="12"/>
                  <a:pt x="101" y="27"/>
                  <a:pt x="101" y="0"/>
                </a:cubicBezTo>
              </a:path>
            </a:pathLst>
          </a:custGeom>
          <a:noFill/>
          <a:ln w="12700">
            <a:solidFill>
              <a:schemeClr val="tx1"/>
            </a:solidFill>
            <a:round/>
            <a:headEnd type="triangle" w="med" len="med"/>
            <a:tailEnd type="none" w="sm" len="sm"/>
          </a:ln>
          <a:extLst>
            <a:ext uri="{909E8E84-426E-40DD-AFC4-6F175D3DCCD1}">
              <a14:hiddenFill xmlns:a14="http://schemas.microsoft.com/office/drawing/2010/main">
                <a:solidFill>
                  <a:srgbClr val="FFFFFF"/>
                </a:solidFill>
              </a14:hiddenFill>
            </a:ext>
          </a:extLst>
        </p:spPr>
        <p:txBody>
          <a:bodyPr/>
          <a:lstStyle/>
          <a:p>
            <a:endParaRPr lang="es-AR"/>
          </a:p>
        </p:txBody>
      </p:sp>
    </p:spTree>
    <p:extLst>
      <p:ext uri="{BB962C8B-B14F-4D97-AF65-F5344CB8AC3E}">
        <p14:creationId xmlns:p14="http://schemas.microsoft.com/office/powerpoint/2010/main" val="410842540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PE" dirty="0" smtClean="0"/>
              <a:t>Minimizando el error</a:t>
            </a:r>
            <a:endParaRPr lang="es-PE" dirty="0"/>
          </a:p>
        </p:txBody>
      </p:sp>
      <p:sp>
        <p:nvSpPr>
          <p:cNvPr id="8" name="Text Box 40"/>
          <p:cNvSpPr txBox="1">
            <a:spLocks noChangeArrowheads="1"/>
          </p:cNvSpPr>
          <p:nvPr/>
        </p:nvSpPr>
        <p:spPr bwMode="auto">
          <a:xfrm>
            <a:off x="3854644" y="2326670"/>
            <a:ext cx="424204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 dirty="0">
                <a:cs typeface="Times New Roman" pitchFamily="18" charset="0"/>
              </a:rPr>
              <a:t> e = ∑</a:t>
            </a:r>
            <a:r>
              <a:rPr lang="es-ES" dirty="0">
                <a:solidFill>
                  <a:srgbClr val="333300"/>
                </a:solidFill>
                <a:cs typeface="Times New Roman" pitchFamily="18" charset="0"/>
              </a:rPr>
              <a:t>δ</a:t>
            </a:r>
            <a:r>
              <a:rPr lang="es-MX" dirty="0">
                <a:solidFill>
                  <a:srgbClr val="333300"/>
                </a:solidFill>
                <a:cs typeface="Times New Roman" pitchFamily="18" charset="0"/>
              </a:rPr>
              <a:t>y</a:t>
            </a:r>
            <a:r>
              <a:rPr lang="es-MX" baseline="30000" dirty="0">
                <a:solidFill>
                  <a:srgbClr val="333300"/>
                </a:solidFill>
                <a:cs typeface="Times New Roman" pitchFamily="18" charset="0"/>
              </a:rPr>
              <a:t>2</a:t>
            </a:r>
            <a:r>
              <a:rPr lang="es-MX" dirty="0">
                <a:solidFill>
                  <a:srgbClr val="333300"/>
                </a:solidFill>
                <a:cs typeface="Times New Roman" pitchFamily="18" charset="0"/>
              </a:rPr>
              <a:t> = </a:t>
            </a:r>
            <a:r>
              <a:rPr lang="es-ES" dirty="0">
                <a:cs typeface="Times New Roman" pitchFamily="18" charset="0"/>
              </a:rPr>
              <a:t>∑</a:t>
            </a:r>
            <a:r>
              <a:rPr lang="es-MX" dirty="0">
                <a:solidFill>
                  <a:srgbClr val="333300"/>
                </a:solidFill>
                <a:cs typeface="Times New Roman" pitchFamily="18" charset="0"/>
              </a:rPr>
              <a:t>[ </a:t>
            </a:r>
            <a:r>
              <a:rPr lang="es-MX" dirty="0" err="1">
                <a:solidFill>
                  <a:srgbClr val="333300"/>
                </a:solidFill>
                <a:cs typeface="Times New Roman" pitchFamily="18" charset="0"/>
              </a:rPr>
              <a:t>y</a:t>
            </a:r>
            <a:r>
              <a:rPr lang="es-MX" baseline="-25000" dirty="0" err="1">
                <a:solidFill>
                  <a:srgbClr val="333300"/>
                </a:solidFill>
                <a:cs typeface="Times New Roman" pitchFamily="18" charset="0"/>
              </a:rPr>
              <a:t>i</a:t>
            </a:r>
            <a:r>
              <a:rPr lang="es-MX" dirty="0">
                <a:solidFill>
                  <a:srgbClr val="333300"/>
                </a:solidFill>
                <a:cs typeface="Times New Roman" pitchFamily="18" charset="0"/>
              </a:rPr>
              <a:t> – (mx</a:t>
            </a:r>
            <a:r>
              <a:rPr lang="es-MX" baseline="-25000" dirty="0">
                <a:solidFill>
                  <a:srgbClr val="333300"/>
                </a:solidFill>
                <a:cs typeface="Times New Roman" pitchFamily="18" charset="0"/>
              </a:rPr>
              <a:t>i</a:t>
            </a:r>
            <a:r>
              <a:rPr lang="es-MX" dirty="0">
                <a:solidFill>
                  <a:srgbClr val="333300"/>
                </a:solidFill>
                <a:cs typeface="Times New Roman" pitchFamily="18" charset="0"/>
              </a:rPr>
              <a:t> + b)]</a:t>
            </a:r>
            <a:r>
              <a:rPr lang="es-MX" baseline="30000" dirty="0">
                <a:solidFill>
                  <a:srgbClr val="333300"/>
                </a:solidFill>
                <a:cs typeface="Times New Roman" pitchFamily="18" charset="0"/>
              </a:rPr>
              <a:t>2</a:t>
            </a:r>
            <a:endParaRPr lang="es-ES" baseline="30000" dirty="0">
              <a:solidFill>
                <a:srgbClr val="333300"/>
              </a:solidFill>
              <a:cs typeface="Times New Roman" pitchFamily="18" charset="0"/>
            </a:endParaRPr>
          </a:p>
        </p:txBody>
      </p:sp>
      <mc:AlternateContent xmlns:mc="http://schemas.openxmlformats.org/markup-compatibility/2006" xmlns:a14="http://schemas.microsoft.com/office/drawing/2010/main">
        <mc:Choice Requires="a14">
          <p:sp>
            <p:nvSpPr>
              <p:cNvPr id="7" name="6 CuadroTexto"/>
              <p:cNvSpPr txBox="1"/>
              <p:nvPr/>
            </p:nvSpPr>
            <p:spPr>
              <a:xfrm>
                <a:off x="3673743" y="3190766"/>
                <a:ext cx="4844513" cy="106324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s-PE" sz="2400" i="1">
                              <a:latin typeface="Cambria Math" panose="02040503050406030204" pitchFamily="18" charset="0"/>
                            </a:rPr>
                          </m:ctrlPr>
                        </m:fPr>
                        <m:num>
                          <m:r>
                            <a:rPr lang="es-PE" sz="2400" i="1">
                              <a:latin typeface="Cambria Math"/>
                            </a:rPr>
                            <m:t>Ə</m:t>
                          </m:r>
                          <m:r>
                            <a:rPr lang="es-PE" sz="2400" i="1">
                              <a:latin typeface="Cambria Math"/>
                            </a:rPr>
                            <m:t>𝑒</m:t>
                          </m:r>
                        </m:num>
                        <m:den>
                          <m:r>
                            <a:rPr lang="es-PE" sz="2400" i="1">
                              <a:latin typeface="Cambria Math"/>
                            </a:rPr>
                            <m:t>Ə</m:t>
                          </m:r>
                          <m:r>
                            <a:rPr lang="es-PE" sz="2400" i="1">
                              <a:latin typeface="Cambria Math"/>
                            </a:rPr>
                            <m:t>𝑚</m:t>
                          </m:r>
                        </m:den>
                      </m:f>
                      <m:r>
                        <a:rPr lang="es-PE" sz="2400" i="1">
                          <a:latin typeface="Cambria Math"/>
                        </a:rPr>
                        <m:t>=0=</m:t>
                      </m:r>
                      <m:r>
                        <m:rPr>
                          <m:nor/>
                        </m:rPr>
                        <a:rPr lang="es-ES" sz="2400" dirty="0">
                          <a:latin typeface="Times New Roman" panose="02020603050405020304" pitchFamily="18" charset="0"/>
                          <a:cs typeface="Times New Roman" panose="02020603050405020304" pitchFamily="18" charset="0"/>
                        </a:rPr>
                        <m:t>∑</m:t>
                      </m:r>
                      <m:r>
                        <m:rPr>
                          <m:nor/>
                        </m:rPr>
                        <a:rPr lang="es-PE" sz="2400" dirty="0">
                          <a:latin typeface="Times New Roman" panose="02020603050405020304" pitchFamily="18" charset="0"/>
                          <a:cs typeface="Times New Roman" panose="02020603050405020304" pitchFamily="18" charset="0"/>
                        </a:rPr>
                        <m:t>−2</m:t>
                      </m:r>
                      <m:r>
                        <m:rPr>
                          <m:nor/>
                        </m:rPr>
                        <a:rPr lang="es-MX" sz="2400" dirty="0">
                          <a:solidFill>
                            <a:srgbClr val="333300"/>
                          </a:solidFill>
                          <a:latin typeface="Times New Roman" panose="02020603050405020304" pitchFamily="18" charset="0"/>
                          <a:cs typeface="Times New Roman" panose="02020603050405020304" pitchFamily="18" charset="0"/>
                        </a:rPr>
                        <m:t>[ </m:t>
                      </m:r>
                      <m:r>
                        <m:rPr>
                          <m:nor/>
                        </m:rPr>
                        <a:rPr lang="es-MX" sz="2400" dirty="0">
                          <a:solidFill>
                            <a:srgbClr val="333300"/>
                          </a:solidFill>
                          <a:latin typeface="Times New Roman" panose="02020603050405020304" pitchFamily="18" charset="0"/>
                          <a:cs typeface="Times New Roman" panose="02020603050405020304" pitchFamily="18" charset="0"/>
                        </a:rPr>
                        <m:t>yi</m:t>
                      </m:r>
                      <m:r>
                        <m:rPr>
                          <m:nor/>
                        </m:rPr>
                        <a:rPr lang="es-MX" sz="2400" dirty="0">
                          <a:solidFill>
                            <a:srgbClr val="333300"/>
                          </a:solidFill>
                          <a:latin typeface="Times New Roman" panose="02020603050405020304" pitchFamily="18" charset="0"/>
                          <a:cs typeface="Times New Roman" panose="02020603050405020304" pitchFamily="18" charset="0"/>
                        </a:rPr>
                        <m:t> – (</m:t>
                      </m:r>
                      <m:r>
                        <m:rPr>
                          <m:nor/>
                        </m:rPr>
                        <a:rPr lang="es-MX" sz="2400" dirty="0">
                          <a:solidFill>
                            <a:srgbClr val="333300"/>
                          </a:solidFill>
                          <a:latin typeface="Times New Roman" panose="02020603050405020304" pitchFamily="18" charset="0"/>
                          <a:cs typeface="Times New Roman" panose="02020603050405020304" pitchFamily="18" charset="0"/>
                        </a:rPr>
                        <m:t>mxi</m:t>
                      </m:r>
                      <m:r>
                        <m:rPr>
                          <m:nor/>
                        </m:rPr>
                        <a:rPr lang="es-MX" sz="2400" dirty="0">
                          <a:solidFill>
                            <a:srgbClr val="333300"/>
                          </a:solidFill>
                          <a:latin typeface="Times New Roman" panose="02020603050405020304" pitchFamily="18" charset="0"/>
                          <a:cs typeface="Times New Roman" panose="02020603050405020304" pitchFamily="18" charset="0"/>
                        </a:rPr>
                        <m:t> + </m:t>
                      </m:r>
                      <m:r>
                        <m:rPr>
                          <m:nor/>
                        </m:rPr>
                        <a:rPr lang="es-MX" sz="2400" dirty="0">
                          <a:solidFill>
                            <a:srgbClr val="333300"/>
                          </a:solidFill>
                          <a:latin typeface="Times New Roman" panose="02020603050405020304" pitchFamily="18" charset="0"/>
                          <a:cs typeface="Times New Roman" panose="02020603050405020304" pitchFamily="18" charset="0"/>
                        </a:rPr>
                        <m:t>b</m:t>
                      </m:r>
                      <m:r>
                        <m:rPr>
                          <m:nor/>
                        </m:rPr>
                        <a:rPr lang="es-MX" sz="2400" dirty="0">
                          <a:solidFill>
                            <a:srgbClr val="333300"/>
                          </a:solidFill>
                          <a:latin typeface="Times New Roman" panose="02020603050405020304" pitchFamily="18" charset="0"/>
                          <a:cs typeface="Times New Roman" panose="02020603050405020304" pitchFamily="18" charset="0"/>
                        </a:rPr>
                        <m:t>)</m:t>
                      </m:r>
                      <m:r>
                        <m:rPr>
                          <m:nor/>
                        </m:rPr>
                        <a:rPr lang="es-MX" sz="2400" dirty="0">
                          <a:solidFill>
                            <a:srgbClr val="333300"/>
                          </a:solidFill>
                          <a:latin typeface="Times New Roman" panose="02020603050405020304" pitchFamily="18" charset="0"/>
                          <a:cs typeface="Times New Roman" panose="02020603050405020304" pitchFamily="18" charset="0"/>
                        </a:rPr>
                        <m:t>xi</m:t>
                      </m:r>
                      <m:r>
                        <m:rPr>
                          <m:nor/>
                        </m:rPr>
                        <a:rPr lang="es-MX" sz="2400" dirty="0">
                          <a:solidFill>
                            <a:srgbClr val="333300"/>
                          </a:solidFill>
                          <a:latin typeface="Times New Roman" panose="02020603050405020304" pitchFamily="18" charset="0"/>
                          <a:cs typeface="Times New Roman" panose="02020603050405020304" pitchFamily="18" charset="0"/>
                        </a:rPr>
                        <m:t>]</m:t>
                      </m:r>
                    </m:oMath>
                  </m:oMathPara>
                </a14:m>
                <a:endParaRPr lang="es-ES" sz="2400" baseline="30000" dirty="0">
                  <a:solidFill>
                    <a:srgbClr val="333300"/>
                  </a:solidFill>
                  <a:latin typeface="Times New Roman" panose="02020603050405020304" pitchFamily="18" charset="0"/>
                  <a:cs typeface="Times New Roman" panose="02020603050405020304" pitchFamily="18" charset="0"/>
                </a:endParaRPr>
              </a:p>
              <a:p>
                <a:endParaRPr lang="es-PE" dirty="0"/>
              </a:p>
            </p:txBody>
          </p:sp>
        </mc:Choice>
        <mc:Fallback xmlns="">
          <p:sp>
            <p:nvSpPr>
              <p:cNvPr id="7" name="6 CuadroTexto"/>
              <p:cNvSpPr txBox="1">
                <a:spLocks noRot="1" noChangeAspect="1" noMove="1" noResize="1" noEditPoints="1" noAdjustHandles="1" noChangeArrowheads="1" noChangeShapeType="1" noTextEdit="1"/>
              </p:cNvSpPr>
              <p:nvPr/>
            </p:nvSpPr>
            <p:spPr>
              <a:xfrm>
                <a:off x="3673743" y="3190766"/>
                <a:ext cx="4844513" cy="1063240"/>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0" name="9 CuadroTexto"/>
              <p:cNvSpPr txBox="1"/>
              <p:nvPr/>
            </p:nvSpPr>
            <p:spPr>
              <a:xfrm>
                <a:off x="3854644" y="4254006"/>
                <a:ext cx="4119205" cy="11555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s-PE" sz="2400" i="1">
                              <a:latin typeface="Cambria Math" panose="02040503050406030204" pitchFamily="18" charset="0"/>
                            </a:rPr>
                          </m:ctrlPr>
                        </m:fPr>
                        <m:num>
                          <m:r>
                            <a:rPr lang="es-PE" sz="2400" i="1">
                              <a:latin typeface="Cambria Math"/>
                            </a:rPr>
                            <m:t>Ə</m:t>
                          </m:r>
                          <m:r>
                            <a:rPr lang="es-PE" sz="2400" i="1">
                              <a:latin typeface="Cambria Math"/>
                            </a:rPr>
                            <m:t>𝑒</m:t>
                          </m:r>
                        </m:num>
                        <m:den>
                          <m:r>
                            <a:rPr lang="es-PE" sz="2400" i="1">
                              <a:latin typeface="Cambria Math"/>
                            </a:rPr>
                            <m:t>Ə</m:t>
                          </m:r>
                          <m:r>
                            <a:rPr lang="es-PE" sz="2400" i="1">
                              <a:latin typeface="Cambria Math"/>
                            </a:rPr>
                            <m:t>𝑏</m:t>
                          </m:r>
                        </m:den>
                      </m:f>
                      <m:r>
                        <a:rPr lang="es-PE" sz="2400" i="1">
                          <a:latin typeface="Cambria Math"/>
                        </a:rPr>
                        <m:t>=0=</m:t>
                      </m:r>
                      <m:r>
                        <m:rPr>
                          <m:nor/>
                        </m:rPr>
                        <a:rPr lang="es-ES" sz="2400" dirty="0">
                          <a:latin typeface="Times New Roman" panose="02020603050405020304" pitchFamily="18" charset="0"/>
                          <a:cs typeface="Times New Roman" panose="02020603050405020304" pitchFamily="18" charset="0"/>
                        </a:rPr>
                        <m:t>∑</m:t>
                      </m:r>
                      <m:r>
                        <m:rPr>
                          <m:nor/>
                        </m:rPr>
                        <a:rPr lang="es-PE" sz="2400" dirty="0">
                          <a:latin typeface="Times New Roman" panose="02020603050405020304" pitchFamily="18" charset="0"/>
                          <a:cs typeface="Times New Roman" panose="02020603050405020304" pitchFamily="18" charset="0"/>
                        </a:rPr>
                        <m:t>−2</m:t>
                      </m:r>
                      <m:r>
                        <m:rPr>
                          <m:nor/>
                        </m:rPr>
                        <a:rPr lang="es-MX" sz="2400" dirty="0">
                          <a:solidFill>
                            <a:srgbClr val="333300"/>
                          </a:solidFill>
                          <a:latin typeface="Times New Roman" panose="02020603050405020304" pitchFamily="18" charset="0"/>
                          <a:cs typeface="Times New Roman" panose="02020603050405020304" pitchFamily="18" charset="0"/>
                        </a:rPr>
                        <m:t>[ </m:t>
                      </m:r>
                      <m:r>
                        <m:rPr>
                          <m:nor/>
                        </m:rPr>
                        <a:rPr lang="es-MX" sz="2400" dirty="0">
                          <a:solidFill>
                            <a:srgbClr val="333300"/>
                          </a:solidFill>
                          <a:latin typeface="Times New Roman" panose="02020603050405020304" pitchFamily="18" charset="0"/>
                          <a:cs typeface="Times New Roman" panose="02020603050405020304" pitchFamily="18" charset="0"/>
                        </a:rPr>
                        <m:t>yi</m:t>
                      </m:r>
                      <m:r>
                        <m:rPr>
                          <m:nor/>
                        </m:rPr>
                        <a:rPr lang="es-MX" sz="2400" dirty="0">
                          <a:solidFill>
                            <a:srgbClr val="333300"/>
                          </a:solidFill>
                          <a:latin typeface="Times New Roman" panose="02020603050405020304" pitchFamily="18" charset="0"/>
                          <a:cs typeface="Times New Roman" panose="02020603050405020304" pitchFamily="18" charset="0"/>
                        </a:rPr>
                        <m:t> – (</m:t>
                      </m:r>
                      <m:r>
                        <m:rPr>
                          <m:nor/>
                        </m:rPr>
                        <a:rPr lang="es-MX" sz="2400" dirty="0">
                          <a:solidFill>
                            <a:srgbClr val="333300"/>
                          </a:solidFill>
                          <a:latin typeface="Times New Roman" panose="02020603050405020304" pitchFamily="18" charset="0"/>
                          <a:cs typeface="Times New Roman" panose="02020603050405020304" pitchFamily="18" charset="0"/>
                        </a:rPr>
                        <m:t>mxi</m:t>
                      </m:r>
                      <m:r>
                        <m:rPr>
                          <m:nor/>
                        </m:rPr>
                        <a:rPr lang="es-MX" sz="2400" dirty="0">
                          <a:solidFill>
                            <a:srgbClr val="333300"/>
                          </a:solidFill>
                          <a:latin typeface="Times New Roman" panose="02020603050405020304" pitchFamily="18" charset="0"/>
                          <a:cs typeface="Times New Roman" panose="02020603050405020304" pitchFamily="18" charset="0"/>
                        </a:rPr>
                        <m:t> + </m:t>
                      </m:r>
                      <m:r>
                        <m:rPr>
                          <m:nor/>
                        </m:rPr>
                        <a:rPr lang="es-MX" sz="2400" dirty="0">
                          <a:solidFill>
                            <a:srgbClr val="333300"/>
                          </a:solidFill>
                          <a:latin typeface="Times New Roman" panose="02020603050405020304" pitchFamily="18" charset="0"/>
                          <a:cs typeface="Times New Roman" panose="02020603050405020304" pitchFamily="18" charset="0"/>
                        </a:rPr>
                        <m:t>b</m:t>
                      </m:r>
                      <m:r>
                        <m:rPr>
                          <m:nor/>
                        </m:rPr>
                        <a:rPr lang="es-MX" sz="2400" dirty="0">
                          <a:solidFill>
                            <a:srgbClr val="333300"/>
                          </a:solidFill>
                          <a:latin typeface="Times New Roman" panose="02020603050405020304" pitchFamily="18" charset="0"/>
                          <a:cs typeface="Times New Roman" panose="02020603050405020304" pitchFamily="18" charset="0"/>
                        </a:rPr>
                        <m:t>)]</m:t>
                      </m:r>
                    </m:oMath>
                  </m:oMathPara>
                </a14:m>
                <a:endParaRPr lang="es-ES" sz="2400" baseline="30000" dirty="0">
                  <a:solidFill>
                    <a:srgbClr val="333300"/>
                  </a:solidFill>
                  <a:latin typeface="Times New Roman" panose="02020603050405020304" pitchFamily="18" charset="0"/>
                  <a:cs typeface="Times New Roman" panose="02020603050405020304" pitchFamily="18" charset="0"/>
                </a:endParaRPr>
              </a:p>
              <a:p>
                <a:endParaRPr lang="es-PE" sz="2400" dirty="0"/>
              </a:p>
            </p:txBody>
          </p:sp>
        </mc:Choice>
        <mc:Fallback xmlns="">
          <p:sp>
            <p:nvSpPr>
              <p:cNvPr id="10" name="9 CuadroTexto"/>
              <p:cNvSpPr txBox="1">
                <a:spLocks noRot="1" noChangeAspect="1" noMove="1" noResize="1" noEditPoints="1" noAdjustHandles="1" noChangeArrowheads="1" noChangeShapeType="1" noTextEdit="1"/>
              </p:cNvSpPr>
              <p:nvPr/>
            </p:nvSpPr>
            <p:spPr>
              <a:xfrm>
                <a:off x="3854644" y="4254006"/>
                <a:ext cx="4119205" cy="1155509"/>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882724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11"/>
          <p:cNvSpPr>
            <a:spLocks noChangeArrowheads="1"/>
          </p:cNvSpPr>
          <p:nvPr/>
        </p:nvSpPr>
        <p:spPr bwMode="auto">
          <a:xfrm flipV="1">
            <a:off x="5295900" y="2554675"/>
            <a:ext cx="1676400" cy="331687"/>
          </a:xfrm>
          <a:prstGeom prst="rect">
            <a:avLst/>
          </a:prstGeom>
          <a:solidFill>
            <a:srgbClr val="C0C0C0">
              <a:alpha val="50195"/>
            </a:srgbClr>
          </a:solidFill>
          <a:ln w="9525">
            <a:solidFill>
              <a:schemeClr val="tx1"/>
            </a:solidFill>
            <a:miter lim="800000"/>
            <a:headEnd/>
            <a:tailEnd/>
          </a:ln>
        </p:spPr>
        <p:txBody>
          <a:bodyPr wrap="none" anchor="ct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sp>
        <p:nvSpPr>
          <p:cNvPr id="3078" name="Rectangle 3"/>
          <p:cNvSpPr>
            <a:spLocks noGrp="1" noChangeArrowheads="1"/>
          </p:cNvSpPr>
          <p:nvPr>
            <p:ph type="body" idx="1"/>
          </p:nvPr>
        </p:nvSpPr>
        <p:spPr>
          <a:xfrm>
            <a:off x="5257800" y="1295400"/>
            <a:ext cx="2286000" cy="381000"/>
          </a:xfrm>
        </p:spPr>
        <p:txBody>
          <a:bodyPr/>
          <a:lstStyle/>
          <a:p>
            <a:pPr>
              <a:lnSpc>
                <a:spcPct val="90000"/>
              </a:lnSpc>
              <a:buFontTx/>
              <a:buNone/>
            </a:pPr>
            <a:r>
              <a:rPr lang="es-ES_tradnl" altLang="es-PE" sz="2000" b="1" u="sng">
                <a:latin typeface="Arial" panose="020B0604020202020204" pitchFamily="34" charset="0"/>
              </a:rPr>
              <a:t>Regresión Lineal</a:t>
            </a:r>
            <a:endParaRPr lang="es-ES" altLang="es-PE" sz="2000" b="1" u="sng">
              <a:latin typeface="Arial" panose="020B0604020202020204" pitchFamily="34" charset="0"/>
            </a:endParaRPr>
          </a:p>
        </p:txBody>
      </p:sp>
      <p:sp>
        <p:nvSpPr>
          <p:cNvPr id="3079" name="Text Box 7"/>
          <p:cNvSpPr txBox="1">
            <a:spLocks noChangeArrowheads="1"/>
          </p:cNvSpPr>
          <p:nvPr/>
        </p:nvSpPr>
        <p:spPr bwMode="auto">
          <a:xfrm>
            <a:off x="1981200" y="1828801"/>
            <a:ext cx="8382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just" eaLnBrk="1" hangingPunct="1">
              <a:spcBef>
                <a:spcPct val="50000"/>
              </a:spcBef>
            </a:pPr>
            <a:r>
              <a:rPr lang="es-ES" altLang="es-PE" dirty="0" smtClean="0">
                <a:latin typeface="Arial" panose="020B0604020202020204" pitchFamily="34" charset="0"/>
                <a:cs typeface="Arial" panose="020B0604020202020204" pitchFamily="34" charset="0"/>
              </a:rPr>
              <a:t>De la aproximación realizada a la recta L:</a:t>
            </a:r>
            <a:endParaRPr lang="es-ES" altLang="es-PE" dirty="0"/>
          </a:p>
        </p:txBody>
      </p:sp>
      <p:graphicFrame>
        <p:nvGraphicFramePr>
          <p:cNvPr id="3074" name="Object 2"/>
          <p:cNvGraphicFramePr>
            <a:graphicFrameLocks noChangeAspect="1"/>
          </p:cNvGraphicFramePr>
          <p:nvPr>
            <p:extLst>
              <p:ext uri="{D42A27DB-BD31-4B8C-83A1-F6EECF244321}">
                <p14:modId xmlns:p14="http://schemas.microsoft.com/office/powerpoint/2010/main" val="1685622127"/>
              </p:ext>
            </p:extLst>
          </p:nvPr>
        </p:nvGraphicFramePr>
        <p:xfrm flipV="1">
          <a:off x="5433219" y="2583423"/>
          <a:ext cx="1327150" cy="308381"/>
        </p:xfrm>
        <a:graphic>
          <a:graphicData uri="http://schemas.openxmlformats.org/presentationml/2006/ole">
            <mc:AlternateContent xmlns:mc="http://schemas.openxmlformats.org/markup-compatibility/2006">
              <mc:Choice xmlns:v="urn:schemas-microsoft-com:vml" Requires="v">
                <p:oleObj spid="_x0000_s5251" name="Ecuación" r:id="rId3" imgW="736560" imgH="177480" progId="Equation.3">
                  <p:embed/>
                </p:oleObj>
              </mc:Choice>
              <mc:Fallback>
                <p:oleObj name="Ecuación" r:id="rId3" imgW="736560" imgH="177480" progId="Equation.3">
                  <p:embed/>
                  <p:pic>
                    <p:nvPicPr>
                      <p:cNvPr id="3074" name="Object 2"/>
                      <p:cNvPicPr>
                        <a:picLocks noChangeAspect="1" noChangeArrowheads="1"/>
                      </p:cNvPicPr>
                      <p:nvPr/>
                    </p:nvPicPr>
                    <p:blipFill>
                      <a:blip r:embed="rId4"/>
                      <a:srcRect/>
                      <a:stretch>
                        <a:fillRect/>
                      </a:stretch>
                    </p:blipFill>
                    <p:spPr bwMode="auto">
                      <a:xfrm flipV="1">
                        <a:off x="5433219" y="2583423"/>
                        <a:ext cx="1327150" cy="308381"/>
                      </a:xfrm>
                      <a:prstGeom prst="rect">
                        <a:avLst/>
                      </a:prstGeom>
                      <a:noFill/>
                    </p:spPr>
                  </p:pic>
                </p:oleObj>
              </mc:Fallback>
            </mc:AlternateContent>
          </a:graphicData>
        </a:graphic>
      </p:graphicFrame>
      <p:sp>
        <p:nvSpPr>
          <p:cNvPr id="3080" name="Text Box 10"/>
          <p:cNvSpPr txBox="1">
            <a:spLocks noChangeArrowheads="1"/>
          </p:cNvSpPr>
          <p:nvPr/>
        </p:nvSpPr>
        <p:spPr bwMode="auto">
          <a:xfrm>
            <a:off x="1981200" y="3076408"/>
            <a:ext cx="8305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just" eaLnBrk="1" hangingPunct="1">
              <a:spcBef>
                <a:spcPct val="50000"/>
              </a:spcBef>
            </a:pPr>
            <a:r>
              <a:rPr lang="es-ES" altLang="es-PE" dirty="0" smtClean="0">
                <a:latin typeface="Arial" panose="020B0604020202020204" pitchFamily="34" charset="0"/>
                <a:cs typeface="Arial" panose="020B0604020202020204" pitchFamily="34" charset="0"/>
              </a:rPr>
              <a:t>Y resolviendo las ecuaciones que minimizan el error total, se tiene:</a:t>
            </a:r>
            <a:endParaRPr lang="es-ES" altLang="es-PE" dirty="0"/>
          </a:p>
        </p:txBody>
      </p:sp>
      <p:graphicFrame>
        <p:nvGraphicFramePr>
          <p:cNvPr id="3075" name="Object 3"/>
          <p:cNvGraphicFramePr>
            <a:graphicFrameLocks noChangeAspect="1"/>
          </p:cNvGraphicFramePr>
          <p:nvPr>
            <p:extLst>
              <p:ext uri="{D42A27DB-BD31-4B8C-83A1-F6EECF244321}">
                <p14:modId xmlns:p14="http://schemas.microsoft.com/office/powerpoint/2010/main" val="3307178975"/>
              </p:ext>
            </p:extLst>
          </p:nvPr>
        </p:nvGraphicFramePr>
        <p:xfrm>
          <a:off x="4945063" y="3636279"/>
          <a:ext cx="2303462" cy="755650"/>
        </p:xfrm>
        <a:graphic>
          <a:graphicData uri="http://schemas.openxmlformats.org/presentationml/2006/ole">
            <mc:AlternateContent xmlns:mc="http://schemas.openxmlformats.org/markup-compatibility/2006">
              <mc:Choice xmlns:v="urn:schemas-microsoft-com:vml" Requires="v">
                <p:oleObj spid="_x0000_s5252" name="Ecuación" r:id="rId5" imgW="1549080" imgH="507960" progId="Equation.3">
                  <p:embed/>
                </p:oleObj>
              </mc:Choice>
              <mc:Fallback>
                <p:oleObj name="Ecuación" r:id="rId5" imgW="1549080" imgH="507960" progId="Equation.3">
                  <p:embed/>
                  <p:pic>
                    <p:nvPicPr>
                      <p:cNvPr id="3075" name="Object 3"/>
                      <p:cNvPicPr>
                        <a:picLocks noChangeAspect="1" noChangeArrowheads="1"/>
                      </p:cNvPicPr>
                      <p:nvPr/>
                    </p:nvPicPr>
                    <p:blipFill>
                      <a:blip r:embed="rId6"/>
                      <a:srcRect/>
                      <a:stretch>
                        <a:fillRect/>
                      </a:stretch>
                    </p:blipFill>
                    <p:spPr bwMode="auto">
                      <a:xfrm>
                        <a:off x="4945063" y="3636279"/>
                        <a:ext cx="2303462" cy="755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6" name="Object 4"/>
          <p:cNvGraphicFramePr>
            <a:graphicFrameLocks noChangeAspect="1"/>
          </p:cNvGraphicFramePr>
          <p:nvPr>
            <p:extLst>
              <p:ext uri="{D42A27DB-BD31-4B8C-83A1-F6EECF244321}">
                <p14:modId xmlns:p14="http://schemas.microsoft.com/office/powerpoint/2010/main" val="793714725"/>
              </p:ext>
            </p:extLst>
          </p:nvPr>
        </p:nvGraphicFramePr>
        <p:xfrm>
          <a:off x="3574348" y="4670854"/>
          <a:ext cx="5044892" cy="790831"/>
        </p:xfrm>
        <a:graphic>
          <a:graphicData uri="http://schemas.openxmlformats.org/presentationml/2006/ole">
            <mc:AlternateContent xmlns:mc="http://schemas.openxmlformats.org/markup-compatibility/2006">
              <mc:Choice xmlns:v="urn:schemas-microsoft-com:vml" Requires="v">
                <p:oleObj spid="_x0000_s5253" name="Ecuación" r:id="rId7" imgW="3213000" imgH="507960" progId="Equation.3">
                  <p:embed/>
                </p:oleObj>
              </mc:Choice>
              <mc:Fallback>
                <p:oleObj name="Ecuación" r:id="rId7" imgW="3213000" imgH="507960" progId="Equation.3">
                  <p:embed/>
                  <p:pic>
                    <p:nvPicPr>
                      <p:cNvPr id="3076" name="Object 4"/>
                      <p:cNvPicPr>
                        <a:picLocks noChangeAspect="1" noChangeArrowheads="1"/>
                      </p:cNvPicPr>
                      <p:nvPr/>
                    </p:nvPicPr>
                    <p:blipFill>
                      <a:blip r:embed="rId8"/>
                      <a:srcRect/>
                      <a:stretch>
                        <a:fillRect/>
                      </a:stretch>
                    </p:blipFill>
                    <p:spPr bwMode="auto">
                      <a:xfrm>
                        <a:off x="3574348" y="4670854"/>
                        <a:ext cx="5044892" cy="790831"/>
                      </a:xfrm>
                      <a:prstGeom prst="rect">
                        <a:avLst/>
                      </a:prstGeom>
                      <a:noFill/>
                      <a:extLst/>
                    </p:spPr>
                  </p:pic>
                </p:oleObj>
              </mc:Fallback>
            </mc:AlternateContent>
          </a:graphicData>
        </a:graphic>
      </p:graphicFrame>
      <p:sp>
        <p:nvSpPr>
          <p:cNvPr id="9" name="Text Box 10"/>
          <p:cNvSpPr txBox="1">
            <a:spLocks noChangeArrowheads="1"/>
          </p:cNvSpPr>
          <p:nvPr/>
        </p:nvSpPr>
        <p:spPr bwMode="auto">
          <a:xfrm>
            <a:off x="2057400" y="5972008"/>
            <a:ext cx="83058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just" eaLnBrk="1" hangingPunct="1">
              <a:spcBef>
                <a:spcPct val="50000"/>
              </a:spcBef>
            </a:pPr>
            <a:r>
              <a:rPr lang="es-ES" altLang="es-PE" dirty="0" smtClean="0">
                <a:latin typeface="Arial" panose="020B0604020202020204" pitchFamily="34" charset="0"/>
                <a:cs typeface="Arial" panose="020B0604020202020204" pitchFamily="34" charset="0"/>
              </a:rPr>
              <a:t>La misma metodología puede aplicarse para los demás modelos de aproximación</a:t>
            </a:r>
            <a:endParaRPr lang="es-ES" altLang="es-PE" dirty="0"/>
          </a:p>
        </p:txBody>
      </p:sp>
    </p:spTree>
    <p:extLst>
      <p:ext uri="{BB962C8B-B14F-4D97-AF65-F5344CB8AC3E}">
        <p14:creationId xmlns:p14="http://schemas.microsoft.com/office/powerpoint/2010/main" val="60297216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3" name="Rectangle 11"/>
          <p:cNvSpPr>
            <a:spLocks noChangeArrowheads="1"/>
          </p:cNvSpPr>
          <p:nvPr/>
        </p:nvSpPr>
        <p:spPr bwMode="auto">
          <a:xfrm>
            <a:off x="5334000" y="2667000"/>
            <a:ext cx="1219200" cy="457200"/>
          </a:xfrm>
          <a:prstGeom prst="rect">
            <a:avLst/>
          </a:prstGeom>
          <a:solidFill>
            <a:srgbClr val="C0C0C0">
              <a:alpha val="50195"/>
            </a:srgbClr>
          </a:solidFill>
          <a:ln w="9525">
            <a:solidFill>
              <a:schemeClr val="tx1"/>
            </a:solidFill>
            <a:miter lim="800000"/>
            <a:headEnd/>
            <a:tailEnd/>
          </a:ln>
        </p:spPr>
        <p:txBody>
          <a:bodyPr wrap="none" anchor="ct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sp>
        <p:nvSpPr>
          <p:cNvPr id="4104" name="Rectangle 3"/>
          <p:cNvSpPr>
            <a:spLocks noGrp="1" noChangeArrowheads="1"/>
          </p:cNvSpPr>
          <p:nvPr>
            <p:ph type="body" idx="1"/>
          </p:nvPr>
        </p:nvSpPr>
        <p:spPr>
          <a:xfrm>
            <a:off x="5181600" y="1219200"/>
            <a:ext cx="2895600" cy="381000"/>
          </a:xfrm>
        </p:spPr>
        <p:txBody>
          <a:bodyPr/>
          <a:lstStyle/>
          <a:p>
            <a:pPr>
              <a:lnSpc>
                <a:spcPct val="90000"/>
              </a:lnSpc>
              <a:buFontTx/>
              <a:buNone/>
            </a:pPr>
            <a:r>
              <a:rPr lang="es-ES_tradnl" altLang="es-PE" sz="2000" b="1" u="sng">
                <a:latin typeface="Arial" panose="020B0604020202020204" pitchFamily="34" charset="0"/>
              </a:rPr>
              <a:t>Regresión Potencial</a:t>
            </a:r>
            <a:endParaRPr lang="es-ES" altLang="es-PE" sz="2000" b="1" u="sng">
              <a:latin typeface="Arial" panose="020B0604020202020204" pitchFamily="34" charset="0"/>
            </a:endParaRPr>
          </a:p>
        </p:txBody>
      </p:sp>
      <p:sp>
        <p:nvSpPr>
          <p:cNvPr id="4105" name="Text Box 7"/>
          <p:cNvSpPr txBox="1">
            <a:spLocks noChangeArrowheads="1"/>
          </p:cNvSpPr>
          <p:nvPr/>
        </p:nvSpPr>
        <p:spPr bwMode="auto">
          <a:xfrm>
            <a:off x="1981200" y="1752600"/>
            <a:ext cx="8229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_tradnl" altLang="es-PE" dirty="0">
                <a:latin typeface="Arial" panose="020B0604020202020204" pitchFamily="34" charset="0"/>
              </a:rPr>
              <a:t>Si </a:t>
            </a:r>
            <a:r>
              <a:rPr lang="es-ES_tradnl" altLang="es-PE" dirty="0" smtClean="0">
                <a:latin typeface="Arial" panose="020B0604020202020204" pitchFamily="34" charset="0"/>
              </a:rPr>
              <a:t>los datos existentes y </a:t>
            </a:r>
            <a:r>
              <a:rPr lang="es-ES_tradnl" altLang="es-PE" dirty="0">
                <a:latin typeface="Arial" panose="020B0604020202020204" pitchFamily="34" charset="0"/>
              </a:rPr>
              <a:t>la distribución de los mismos se aproxima a una función exponencial se puede recurrir a la siguiente relación:</a:t>
            </a:r>
            <a:endParaRPr lang="es-ES" altLang="es-PE" dirty="0">
              <a:latin typeface="Arial" panose="020B0604020202020204" pitchFamily="34" charset="0"/>
            </a:endParaRPr>
          </a:p>
        </p:txBody>
      </p:sp>
      <p:sp>
        <p:nvSpPr>
          <p:cNvPr id="4106" name="Rectangle 10"/>
          <p:cNvSpPr>
            <a:spLocks noChangeArrowheads="1"/>
          </p:cNvSpPr>
          <p:nvPr/>
        </p:nvSpPr>
        <p:spPr bwMode="auto">
          <a:xfrm>
            <a:off x="5824538" y="3338513"/>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aphicFrame>
        <p:nvGraphicFramePr>
          <p:cNvPr id="4098" name="Object 2"/>
          <p:cNvGraphicFramePr>
            <a:graphicFrameLocks noChangeAspect="1"/>
          </p:cNvGraphicFramePr>
          <p:nvPr/>
        </p:nvGraphicFramePr>
        <p:xfrm>
          <a:off x="5486400" y="2743200"/>
          <a:ext cx="914400" cy="304800"/>
        </p:xfrm>
        <a:graphic>
          <a:graphicData uri="http://schemas.openxmlformats.org/presentationml/2006/ole">
            <mc:AlternateContent xmlns:mc="http://schemas.openxmlformats.org/markup-compatibility/2006">
              <mc:Choice xmlns:v="urn:schemas-microsoft-com:vml" Requires="v">
                <p:oleObj spid="_x0000_s6351" r:id="rId3" imgW="545626" imgH="177646" progId="Equation.3">
                  <p:embed/>
                </p:oleObj>
              </mc:Choice>
              <mc:Fallback>
                <p:oleObj r:id="rId3" imgW="545626" imgH="177646" progId="Equation.3">
                  <p:embed/>
                  <p:pic>
                    <p:nvPicPr>
                      <p:cNvPr id="409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2743200"/>
                        <a:ext cx="9144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7" name="Text Box 12"/>
          <p:cNvSpPr txBox="1">
            <a:spLocks noChangeArrowheads="1"/>
          </p:cNvSpPr>
          <p:nvPr/>
        </p:nvSpPr>
        <p:spPr bwMode="auto">
          <a:xfrm>
            <a:off x="2133600" y="3505200"/>
            <a:ext cx="8001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just" eaLnBrk="1" hangingPunct="1">
              <a:spcBef>
                <a:spcPct val="50000"/>
              </a:spcBef>
            </a:pPr>
            <a:r>
              <a:rPr lang="es-ES_tradnl" altLang="es-PE">
                <a:latin typeface="Arial" panose="020B0604020202020204" pitchFamily="34" charset="0"/>
                <a:cs typeface="Arial" panose="020B0604020202020204" pitchFamily="34" charset="0"/>
              </a:rPr>
              <a:t>P</a:t>
            </a:r>
            <a:r>
              <a:rPr lang="es-ES" altLang="es-PE">
                <a:latin typeface="Arial" panose="020B0604020202020204" pitchFamily="34" charset="0"/>
                <a:cs typeface="Arial" panose="020B0604020202020204" pitchFamily="34" charset="0"/>
              </a:rPr>
              <a:t>ara linealizar esta función se aplica logaritmos a ambos miembros, mediante este procedimiento se obtiene una ecuación logarítmica lineal:</a:t>
            </a:r>
            <a:endParaRPr lang="es-ES" altLang="es-PE"/>
          </a:p>
        </p:txBody>
      </p:sp>
      <p:sp>
        <p:nvSpPr>
          <p:cNvPr id="4108" name="Rectangle 14"/>
          <p:cNvSpPr>
            <a:spLocks noChangeArrowheads="1"/>
          </p:cNvSpPr>
          <p:nvPr/>
        </p:nvSpPr>
        <p:spPr bwMode="auto">
          <a:xfrm>
            <a:off x="5338763" y="3338513"/>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aphicFrame>
        <p:nvGraphicFramePr>
          <p:cNvPr id="4099" name="Object 3"/>
          <p:cNvGraphicFramePr>
            <a:graphicFrameLocks noChangeAspect="1"/>
          </p:cNvGraphicFramePr>
          <p:nvPr/>
        </p:nvGraphicFramePr>
        <p:xfrm>
          <a:off x="4800600" y="4267200"/>
          <a:ext cx="2286000" cy="273050"/>
        </p:xfrm>
        <a:graphic>
          <a:graphicData uri="http://schemas.openxmlformats.org/presentationml/2006/ole">
            <mc:AlternateContent xmlns:mc="http://schemas.openxmlformats.org/markup-compatibility/2006">
              <mc:Choice xmlns:v="urn:schemas-microsoft-com:vml" Requires="v">
                <p:oleObj spid="_x0000_s6352" r:id="rId5" imgW="1511300" imgH="177800" progId="Equation.3">
                  <p:embed/>
                </p:oleObj>
              </mc:Choice>
              <mc:Fallback>
                <p:oleObj r:id="rId5" imgW="1511300" imgH="177800" progId="Equation.3">
                  <p:embed/>
                  <p:pic>
                    <p:nvPicPr>
                      <p:cNvPr id="4099"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600" y="4267200"/>
                        <a:ext cx="2286000" cy="273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9" name="Rectangle 16"/>
          <p:cNvSpPr>
            <a:spLocks noChangeArrowheads="1"/>
          </p:cNvSpPr>
          <p:nvPr/>
        </p:nvSpPr>
        <p:spPr bwMode="auto">
          <a:xfrm>
            <a:off x="4538663" y="3338513"/>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aphicFrame>
        <p:nvGraphicFramePr>
          <p:cNvPr id="4100" name="Object 4"/>
          <p:cNvGraphicFramePr>
            <a:graphicFrameLocks noChangeAspect="1"/>
          </p:cNvGraphicFramePr>
          <p:nvPr/>
        </p:nvGraphicFramePr>
        <p:xfrm>
          <a:off x="3810000" y="4724400"/>
          <a:ext cx="4648200" cy="279400"/>
        </p:xfrm>
        <a:graphic>
          <a:graphicData uri="http://schemas.openxmlformats.org/presentationml/2006/ole">
            <mc:AlternateContent xmlns:mc="http://schemas.openxmlformats.org/markup-compatibility/2006">
              <mc:Choice xmlns:v="urn:schemas-microsoft-com:vml" Requires="v">
                <p:oleObj spid="_x0000_s6353" r:id="rId7" imgW="3111500" imgH="177800" progId="Equation.3">
                  <p:embed/>
                </p:oleObj>
              </mc:Choice>
              <mc:Fallback>
                <p:oleObj r:id="rId7" imgW="3111500" imgH="177800" progId="Equation.3">
                  <p:embed/>
                  <p:pic>
                    <p:nvPicPr>
                      <p:cNvPr id="410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0" y="4724400"/>
                        <a:ext cx="4648200"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1" name="Object 5"/>
          <p:cNvGraphicFramePr>
            <a:graphicFrameLocks noChangeAspect="1"/>
          </p:cNvGraphicFramePr>
          <p:nvPr/>
        </p:nvGraphicFramePr>
        <p:xfrm>
          <a:off x="2514600" y="5486400"/>
          <a:ext cx="2895600" cy="388938"/>
        </p:xfrm>
        <a:graphic>
          <a:graphicData uri="http://schemas.openxmlformats.org/presentationml/2006/ole">
            <mc:AlternateContent xmlns:mc="http://schemas.openxmlformats.org/markup-compatibility/2006">
              <mc:Choice xmlns:v="urn:schemas-microsoft-com:vml" Requires="v">
                <p:oleObj spid="_x0000_s6354" r:id="rId9" imgW="1778000" imgH="241300" progId="Equation.3">
                  <p:embed/>
                </p:oleObj>
              </mc:Choice>
              <mc:Fallback>
                <p:oleObj r:id="rId9" imgW="1778000" imgH="241300" progId="Equation.3">
                  <p:embed/>
                  <p:pic>
                    <p:nvPicPr>
                      <p:cNvPr id="4101"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14600" y="5486400"/>
                        <a:ext cx="2895600" cy="388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10" name="Rectangle 20"/>
          <p:cNvSpPr>
            <a:spLocks noChangeArrowheads="1"/>
          </p:cNvSpPr>
          <p:nvPr/>
        </p:nvSpPr>
        <p:spPr bwMode="auto">
          <a:xfrm>
            <a:off x="4805363" y="3309938"/>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aphicFrame>
        <p:nvGraphicFramePr>
          <p:cNvPr id="4102" name="Object 6"/>
          <p:cNvGraphicFramePr>
            <a:graphicFrameLocks noChangeAspect="1"/>
          </p:cNvGraphicFramePr>
          <p:nvPr/>
        </p:nvGraphicFramePr>
        <p:xfrm>
          <a:off x="5867400" y="5486400"/>
          <a:ext cx="4114800" cy="374650"/>
        </p:xfrm>
        <a:graphic>
          <a:graphicData uri="http://schemas.openxmlformats.org/presentationml/2006/ole">
            <mc:AlternateContent xmlns:mc="http://schemas.openxmlformats.org/markup-compatibility/2006">
              <mc:Choice xmlns:v="urn:schemas-microsoft-com:vml" Requires="v">
                <p:oleObj spid="_x0000_s6355" r:id="rId11" imgW="2578100" imgH="241300" progId="Equation.3">
                  <p:embed/>
                </p:oleObj>
              </mc:Choice>
              <mc:Fallback>
                <p:oleObj r:id="rId11" imgW="2578100" imgH="241300" progId="Equation.3">
                  <p:embed/>
                  <p:pic>
                    <p:nvPicPr>
                      <p:cNvPr id="4102"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67400" y="5486400"/>
                        <a:ext cx="4114800" cy="374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6829900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7" name="Rectangle 10"/>
          <p:cNvSpPr>
            <a:spLocks noChangeArrowheads="1"/>
          </p:cNvSpPr>
          <p:nvPr/>
        </p:nvSpPr>
        <p:spPr bwMode="auto">
          <a:xfrm>
            <a:off x="5334000" y="2514600"/>
            <a:ext cx="1143000" cy="533400"/>
          </a:xfrm>
          <a:prstGeom prst="rect">
            <a:avLst/>
          </a:prstGeom>
          <a:solidFill>
            <a:srgbClr val="C0C0C0">
              <a:alpha val="50195"/>
            </a:srgbClr>
          </a:solidFill>
          <a:ln w="9525">
            <a:solidFill>
              <a:schemeClr val="tx1"/>
            </a:solidFill>
            <a:miter lim="800000"/>
            <a:headEnd/>
            <a:tailEnd/>
          </a:ln>
        </p:spPr>
        <p:txBody>
          <a:bodyPr wrap="none" anchor="ct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sp>
        <p:nvSpPr>
          <p:cNvPr id="5128" name="Rectangle 3"/>
          <p:cNvSpPr>
            <a:spLocks noGrp="1" noChangeArrowheads="1"/>
          </p:cNvSpPr>
          <p:nvPr>
            <p:ph type="body" idx="1"/>
          </p:nvPr>
        </p:nvSpPr>
        <p:spPr>
          <a:xfrm>
            <a:off x="4800600" y="1143000"/>
            <a:ext cx="3200400" cy="457200"/>
          </a:xfrm>
        </p:spPr>
        <p:txBody>
          <a:bodyPr/>
          <a:lstStyle/>
          <a:p>
            <a:pPr>
              <a:buFontTx/>
              <a:buNone/>
            </a:pPr>
            <a:r>
              <a:rPr lang="es-ES_tradnl" altLang="es-PE" sz="2000" b="1" u="sng">
                <a:latin typeface="Arial" panose="020B0604020202020204" pitchFamily="34" charset="0"/>
              </a:rPr>
              <a:t>Regresión Exponencial</a:t>
            </a:r>
            <a:endParaRPr lang="es-ES" altLang="es-PE" sz="2000" b="1" u="sng">
              <a:latin typeface="Arial" panose="020B0604020202020204" pitchFamily="34" charset="0"/>
            </a:endParaRPr>
          </a:p>
        </p:txBody>
      </p:sp>
      <p:sp>
        <p:nvSpPr>
          <p:cNvPr id="5129" name="Text Box 7"/>
          <p:cNvSpPr txBox="1">
            <a:spLocks noChangeArrowheads="1"/>
          </p:cNvSpPr>
          <p:nvPr/>
        </p:nvSpPr>
        <p:spPr bwMode="auto">
          <a:xfrm>
            <a:off x="1905000" y="1752600"/>
            <a:ext cx="8229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_tradnl" altLang="es-PE" dirty="0" smtClean="0">
                <a:latin typeface="Arial" panose="020B0604020202020204" pitchFamily="34" charset="0"/>
              </a:rPr>
              <a:t>Si la inspección visual de los datos tiene la forma de la </a:t>
            </a:r>
            <a:r>
              <a:rPr lang="es-ES_tradnl" altLang="es-PE" dirty="0">
                <a:latin typeface="Arial" panose="020B0604020202020204" pitchFamily="34" charset="0"/>
              </a:rPr>
              <a:t>función exponencial, </a:t>
            </a:r>
            <a:r>
              <a:rPr lang="es-ES_tradnl" altLang="es-PE" dirty="0" smtClean="0">
                <a:latin typeface="Arial" panose="020B0604020202020204" pitchFamily="34" charset="0"/>
              </a:rPr>
              <a:t>luego puede probarse con la siguiente expresión:</a:t>
            </a:r>
            <a:endParaRPr lang="es-ES" altLang="es-PE" dirty="0">
              <a:latin typeface="Arial" panose="020B0604020202020204" pitchFamily="34" charset="0"/>
            </a:endParaRPr>
          </a:p>
        </p:txBody>
      </p:sp>
      <p:sp>
        <p:nvSpPr>
          <p:cNvPr id="5130" name="Rectangle 9"/>
          <p:cNvSpPr>
            <a:spLocks noChangeArrowheads="1"/>
          </p:cNvSpPr>
          <p:nvPr/>
        </p:nvSpPr>
        <p:spPr bwMode="auto">
          <a:xfrm>
            <a:off x="5815013" y="3338513"/>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aphicFrame>
        <p:nvGraphicFramePr>
          <p:cNvPr id="5122" name="Object 2"/>
          <p:cNvGraphicFramePr>
            <a:graphicFrameLocks noChangeAspect="1"/>
          </p:cNvGraphicFramePr>
          <p:nvPr/>
        </p:nvGraphicFramePr>
        <p:xfrm>
          <a:off x="5410200" y="2590800"/>
          <a:ext cx="1042988" cy="336550"/>
        </p:xfrm>
        <a:graphic>
          <a:graphicData uri="http://schemas.openxmlformats.org/presentationml/2006/ole">
            <mc:AlternateContent xmlns:mc="http://schemas.openxmlformats.org/markup-compatibility/2006">
              <mc:Choice xmlns:v="urn:schemas-microsoft-com:vml" Requires="v">
                <p:oleObj spid="_x0000_s7375" r:id="rId3" imgW="558558" imgH="177723" progId="Equation.3">
                  <p:embed/>
                </p:oleObj>
              </mc:Choice>
              <mc:Fallback>
                <p:oleObj r:id="rId3" imgW="558558" imgH="177723" progId="Equation.3">
                  <p:embed/>
                  <p:pic>
                    <p:nvPicPr>
                      <p:cNvPr id="512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2590800"/>
                        <a:ext cx="1042988" cy="336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31" name="Text Box 11"/>
          <p:cNvSpPr txBox="1">
            <a:spLocks noChangeArrowheads="1"/>
          </p:cNvSpPr>
          <p:nvPr/>
        </p:nvSpPr>
        <p:spPr bwMode="auto">
          <a:xfrm>
            <a:off x="1905000" y="3276600"/>
            <a:ext cx="8229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_tradnl" altLang="es-PE">
                <a:latin typeface="Arial" panose="020B0604020202020204" pitchFamily="34" charset="0"/>
                <a:cs typeface="Times New Roman" panose="02020603050405020304" pitchFamily="18" charset="0"/>
              </a:rPr>
              <a:t>L</a:t>
            </a:r>
            <a:r>
              <a:rPr lang="es-ES" altLang="es-PE">
                <a:latin typeface="Arial" panose="020B0604020202020204" pitchFamily="34" charset="0"/>
                <a:cs typeface="Times New Roman" panose="02020603050405020304" pitchFamily="18" charset="0"/>
              </a:rPr>
              <a:t>a regresión exponencial puede también ser linealizada aplicando logaritmos a ambos miembros, resultado de ello se tiene la relación siguiente:</a:t>
            </a:r>
            <a:r>
              <a:rPr lang="es-ES" altLang="es-PE">
                <a:latin typeface="Arial" panose="020B0604020202020204" pitchFamily="34" charset="0"/>
              </a:rPr>
              <a:t> </a:t>
            </a:r>
          </a:p>
        </p:txBody>
      </p:sp>
      <p:sp>
        <p:nvSpPr>
          <p:cNvPr id="5132" name="Rectangle 13"/>
          <p:cNvSpPr>
            <a:spLocks noChangeArrowheads="1"/>
          </p:cNvSpPr>
          <p:nvPr/>
        </p:nvSpPr>
        <p:spPr bwMode="auto">
          <a:xfrm>
            <a:off x="5329238" y="3328988"/>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aphicFrame>
        <p:nvGraphicFramePr>
          <p:cNvPr id="5123" name="Object 3"/>
          <p:cNvGraphicFramePr>
            <a:graphicFrameLocks noChangeAspect="1"/>
          </p:cNvGraphicFramePr>
          <p:nvPr/>
        </p:nvGraphicFramePr>
        <p:xfrm>
          <a:off x="4876800" y="4038600"/>
          <a:ext cx="2286000" cy="298450"/>
        </p:xfrm>
        <a:graphic>
          <a:graphicData uri="http://schemas.openxmlformats.org/presentationml/2006/ole">
            <mc:AlternateContent xmlns:mc="http://schemas.openxmlformats.org/markup-compatibility/2006">
              <mc:Choice xmlns:v="urn:schemas-microsoft-com:vml" Requires="v">
                <p:oleObj spid="_x0000_s7376" r:id="rId5" imgW="1473200" imgH="190500" progId="Equation.3">
                  <p:embed/>
                </p:oleObj>
              </mc:Choice>
              <mc:Fallback>
                <p:oleObj r:id="rId5" imgW="1473200" imgH="190500" progId="Equation.3">
                  <p:embed/>
                  <p:pic>
                    <p:nvPicPr>
                      <p:cNvPr id="512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6800" y="4038600"/>
                        <a:ext cx="2286000" cy="298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33" name="Rectangle 15"/>
          <p:cNvSpPr>
            <a:spLocks noChangeArrowheads="1"/>
          </p:cNvSpPr>
          <p:nvPr/>
        </p:nvSpPr>
        <p:spPr bwMode="auto">
          <a:xfrm>
            <a:off x="4543425" y="3328988"/>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aphicFrame>
        <p:nvGraphicFramePr>
          <p:cNvPr id="5124" name="Object 4"/>
          <p:cNvGraphicFramePr>
            <a:graphicFrameLocks noChangeAspect="1"/>
          </p:cNvGraphicFramePr>
          <p:nvPr/>
        </p:nvGraphicFramePr>
        <p:xfrm>
          <a:off x="4343400" y="4572000"/>
          <a:ext cx="3657600" cy="234950"/>
        </p:xfrm>
        <a:graphic>
          <a:graphicData uri="http://schemas.openxmlformats.org/presentationml/2006/ole">
            <mc:AlternateContent xmlns:mc="http://schemas.openxmlformats.org/markup-compatibility/2006">
              <mc:Choice xmlns:v="urn:schemas-microsoft-com:vml" Requires="v">
                <p:oleObj spid="_x0000_s7377" r:id="rId7" imgW="3098800" imgH="177800" progId="Equation.3">
                  <p:embed/>
                </p:oleObj>
              </mc:Choice>
              <mc:Fallback>
                <p:oleObj r:id="rId7" imgW="3098800" imgH="177800" progId="Equation.3">
                  <p:embed/>
                  <p:pic>
                    <p:nvPicPr>
                      <p:cNvPr id="5124"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43400" y="4572000"/>
                        <a:ext cx="3657600" cy="234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34" name="Rectangle 17"/>
          <p:cNvSpPr>
            <a:spLocks noChangeArrowheads="1"/>
          </p:cNvSpPr>
          <p:nvPr/>
        </p:nvSpPr>
        <p:spPr bwMode="auto">
          <a:xfrm>
            <a:off x="5124450" y="3305175"/>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aphicFrame>
        <p:nvGraphicFramePr>
          <p:cNvPr id="5125" name="Object 5"/>
          <p:cNvGraphicFramePr>
            <a:graphicFrameLocks noChangeAspect="1"/>
          </p:cNvGraphicFramePr>
          <p:nvPr/>
        </p:nvGraphicFramePr>
        <p:xfrm>
          <a:off x="4572000" y="5181600"/>
          <a:ext cx="3200400" cy="407988"/>
        </p:xfrm>
        <a:graphic>
          <a:graphicData uri="http://schemas.openxmlformats.org/presentationml/2006/ole">
            <mc:AlternateContent xmlns:mc="http://schemas.openxmlformats.org/markup-compatibility/2006">
              <mc:Choice xmlns:v="urn:schemas-microsoft-com:vml" Requires="v">
                <p:oleObj spid="_x0000_s7378" r:id="rId9" imgW="1841500" imgH="241300" progId="Equation.3">
                  <p:embed/>
                </p:oleObj>
              </mc:Choice>
              <mc:Fallback>
                <p:oleObj r:id="rId9" imgW="1841500" imgH="241300" progId="Equation.3">
                  <p:embed/>
                  <p:pic>
                    <p:nvPicPr>
                      <p:cNvPr id="5125"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0" y="5181600"/>
                        <a:ext cx="3200400" cy="407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35" name="Rectangle 19"/>
          <p:cNvSpPr>
            <a:spLocks noChangeArrowheads="1"/>
          </p:cNvSpPr>
          <p:nvPr/>
        </p:nvSpPr>
        <p:spPr bwMode="auto">
          <a:xfrm>
            <a:off x="4929188" y="3305175"/>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aphicFrame>
        <p:nvGraphicFramePr>
          <p:cNvPr id="5126" name="Object 6"/>
          <p:cNvGraphicFramePr>
            <a:graphicFrameLocks noChangeAspect="1"/>
          </p:cNvGraphicFramePr>
          <p:nvPr/>
        </p:nvGraphicFramePr>
        <p:xfrm>
          <a:off x="4419600" y="5638800"/>
          <a:ext cx="3657600" cy="387350"/>
        </p:xfrm>
        <a:graphic>
          <a:graphicData uri="http://schemas.openxmlformats.org/presentationml/2006/ole">
            <mc:AlternateContent xmlns:mc="http://schemas.openxmlformats.org/markup-compatibility/2006">
              <mc:Choice xmlns:v="urn:schemas-microsoft-com:vml" Requires="v">
                <p:oleObj spid="_x0000_s7379" r:id="rId11" imgW="2209800" imgH="241300" progId="Equation.3">
                  <p:embed/>
                </p:oleObj>
              </mc:Choice>
              <mc:Fallback>
                <p:oleObj r:id="rId11" imgW="2209800" imgH="241300" progId="Equation.3">
                  <p:embed/>
                  <p:pic>
                    <p:nvPicPr>
                      <p:cNvPr id="5126"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19600" y="5638800"/>
                        <a:ext cx="3657600"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48339220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10"/>
          <p:cNvSpPr>
            <a:spLocks noChangeArrowheads="1"/>
          </p:cNvSpPr>
          <p:nvPr/>
        </p:nvSpPr>
        <p:spPr bwMode="auto">
          <a:xfrm>
            <a:off x="5029200" y="3657600"/>
            <a:ext cx="2057400" cy="457200"/>
          </a:xfrm>
          <a:prstGeom prst="rect">
            <a:avLst/>
          </a:prstGeom>
          <a:solidFill>
            <a:srgbClr val="C0C0C0">
              <a:alpha val="50195"/>
            </a:srgbClr>
          </a:solidFill>
          <a:ln w="9525">
            <a:solidFill>
              <a:schemeClr val="tx1"/>
            </a:solidFill>
            <a:miter lim="800000"/>
            <a:headEnd/>
            <a:tailEnd/>
          </a:ln>
        </p:spPr>
        <p:txBody>
          <a:bodyPr wrap="none" anchor="ct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sp>
        <p:nvSpPr>
          <p:cNvPr id="6148" name="Rectangle 3"/>
          <p:cNvSpPr>
            <a:spLocks noGrp="1" noChangeArrowheads="1"/>
          </p:cNvSpPr>
          <p:nvPr>
            <p:ph type="body" idx="1"/>
          </p:nvPr>
        </p:nvSpPr>
        <p:spPr>
          <a:xfrm>
            <a:off x="3962400" y="1447800"/>
            <a:ext cx="5257800" cy="381000"/>
          </a:xfrm>
        </p:spPr>
        <p:txBody>
          <a:bodyPr/>
          <a:lstStyle/>
          <a:p>
            <a:pPr>
              <a:lnSpc>
                <a:spcPct val="90000"/>
              </a:lnSpc>
              <a:buFontTx/>
              <a:buNone/>
            </a:pPr>
            <a:r>
              <a:rPr lang="es-ES_tradnl" altLang="es-PE" sz="2000" b="1" u="sng">
                <a:latin typeface="Arial" panose="020B0604020202020204" pitchFamily="34" charset="0"/>
              </a:rPr>
              <a:t>Regresión Parabólica o Curva Cuadrática</a:t>
            </a:r>
            <a:endParaRPr lang="es-ES" altLang="es-PE" sz="2000" b="1" u="sng">
              <a:latin typeface="Arial" panose="020B0604020202020204" pitchFamily="34" charset="0"/>
            </a:endParaRPr>
          </a:p>
        </p:txBody>
      </p:sp>
      <p:sp>
        <p:nvSpPr>
          <p:cNvPr id="6149" name="Text Box 7"/>
          <p:cNvSpPr txBox="1">
            <a:spLocks noChangeArrowheads="1"/>
          </p:cNvSpPr>
          <p:nvPr/>
        </p:nvSpPr>
        <p:spPr bwMode="auto">
          <a:xfrm>
            <a:off x="1981200" y="2209800"/>
            <a:ext cx="82296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just" eaLnBrk="1" hangingPunct="1">
              <a:spcBef>
                <a:spcPct val="50000"/>
              </a:spcBef>
            </a:pPr>
            <a:r>
              <a:rPr lang="es-ES_tradnl" altLang="es-PE" dirty="0">
                <a:latin typeface="Arial" panose="020B0604020202020204" pitchFamily="34" charset="0"/>
                <a:cs typeface="Arial" panose="020B0604020202020204" pitchFamily="34" charset="0"/>
              </a:rPr>
              <a:t>Si </a:t>
            </a:r>
            <a:r>
              <a:rPr lang="es-ES" altLang="es-PE" dirty="0">
                <a:latin typeface="Arial" panose="020B0604020202020204" pitchFamily="34" charset="0"/>
                <a:cs typeface="Arial" panose="020B0604020202020204" pitchFamily="34" charset="0"/>
              </a:rPr>
              <a:t>la serie tiene una curva parabólica cuyo comportamiento se describe matemáticamente por una ecuación de segundo grado ( parábola ). La regresión se expresa así:</a:t>
            </a:r>
            <a:endParaRPr lang="es-ES" altLang="es-PE" dirty="0"/>
          </a:p>
        </p:txBody>
      </p:sp>
      <p:sp>
        <p:nvSpPr>
          <p:cNvPr id="6150" name="Rectangle 9"/>
          <p:cNvSpPr>
            <a:spLocks noChangeArrowheads="1"/>
          </p:cNvSpPr>
          <p:nvPr/>
        </p:nvSpPr>
        <p:spPr bwMode="auto">
          <a:xfrm>
            <a:off x="5557838" y="3333750"/>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aphicFrame>
        <p:nvGraphicFramePr>
          <p:cNvPr id="6146" name="Object 2"/>
          <p:cNvGraphicFramePr>
            <a:graphicFrameLocks noChangeAspect="1"/>
          </p:cNvGraphicFramePr>
          <p:nvPr/>
        </p:nvGraphicFramePr>
        <p:xfrm>
          <a:off x="5181600" y="3733801"/>
          <a:ext cx="1752600" cy="309563"/>
        </p:xfrm>
        <a:graphic>
          <a:graphicData uri="http://schemas.openxmlformats.org/presentationml/2006/ole">
            <mc:AlternateContent xmlns:mc="http://schemas.openxmlformats.org/markup-compatibility/2006">
              <mc:Choice xmlns:v="urn:schemas-microsoft-com:vml" Requires="v">
                <p:oleObj spid="_x0000_s8234" r:id="rId3" imgW="1079032" imgH="190417" progId="Equation.3">
                  <p:embed/>
                </p:oleObj>
              </mc:Choice>
              <mc:Fallback>
                <p:oleObj r:id="rId3" imgW="1079032" imgH="190417" progId="Equation.3">
                  <p:embed/>
                  <p:pic>
                    <p:nvPicPr>
                      <p:cNvPr id="614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3733801"/>
                        <a:ext cx="1752600" cy="309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1" name="Text Box 11"/>
          <p:cNvSpPr txBox="1">
            <a:spLocks noChangeArrowheads="1"/>
          </p:cNvSpPr>
          <p:nvPr/>
        </p:nvSpPr>
        <p:spPr bwMode="auto">
          <a:xfrm>
            <a:off x="2916195" y="4454611"/>
            <a:ext cx="729460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es-ES" altLang="es-PE" dirty="0">
                <a:latin typeface="Arial" panose="020B0604020202020204" pitchFamily="34" charset="0"/>
                <a:cs typeface="Arial" panose="020B0604020202020204" pitchFamily="34" charset="0"/>
              </a:rPr>
              <a:t>Donde:</a:t>
            </a:r>
            <a:endParaRPr lang="es-ES_tradnl" altLang="es-PE" dirty="0">
              <a:latin typeface="Arial" panose="020B0604020202020204" pitchFamily="34" charset="0"/>
              <a:cs typeface="Arial" panose="020B0604020202020204" pitchFamily="34" charset="0"/>
            </a:endParaRPr>
          </a:p>
          <a:p>
            <a:pPr eaLnBrk="1" hangingPunct="1"/>
            <a:r>
              <a:rPr lang="es-ES" altLang="es-PE" dirty="0">
                <a:latin typeface="Arial" panose="020B0604020202020204" pitchFamily="34" charset="0"/>
                <a:cs typeface="Arial" panose="020B0604020202020204" pitchFamily="34" charset="0"/>
              </a:rPr>
              <a:t>Y = Estimación de la variable dependiente</a:t>
            </a:r>
            <a:endParaRPr lang="es-ES_tradnl" altLang="es-PE" dirty="0">
              <a:latin typeface="Arial" panose="020B0604020202020204" pitchFamily="34" charset="0"/>
              <a:cs typeface="Arial" panose="020B0604020202020204" pitchFamily="34" charset="0"/>
            </a:endParaRPr>
          </a:p>
          <a:p>
            <a:pPr eaLnBrk="1" hangingPunct="1"/>
            <a:r>
              <a:rPr lang="es-ES" altLang="es-PE" dirty="0">
                <a:latin typeface="Arial" panose="020B0604020202020204" pitchFamily="34" charset="0"/>
                <a:cs typeface="Arial" panose="020B0604020202020204" pitchFamily="34" charset="0"/>
              </a:rPr>
              <a:t>A,B,C = constantes numéricas</a:t>
            </a:r>
            <a:endParaRPr lang="es-ES_tradnl" altLang="es-PE" dirty="0">
              <a:latin typeface="Arial" panose="020B0604020202020204" pitchFamily="34" charset="0"/>
              <a:cs typeface="Arial" panose="020B0604020202020204" pitchFamily="34" charset="0"/>
            </a:endParaRPr>
          </a:p>
          <a:p>
            <a:pPr eaLnBrk="1" hangingPunct="1"/>
            <a:r>
              <a:rPr lang="es-ES" altLang="es-PE" dirty="0">
                <a:latin typeface="Arial" panose="020B0604020202020204" pitchFamily="34" charset="0"/>
                <a:cs typeface="Arial" panose="020B0604020202020204" pitchFamily="34" charset="0"/>
              </a:rPr>
              <a:t>X = Valores de la variable independiente</a:t>
            </a:r>
            <a:endParaRPr lang="es-ES_tradnl" altLang="es-PE" dirty="0">
              <a:latin typeface="Arial" panose="020B0604020202020204" pitchFamily="34" charset="0"/>
              <a:cs typeface="Arial" panose="020B0604020202020204" pitchFamily="34" charset="0"/>
            </a:endParaRPr>
          </a:p>
          <a:p>
            <a:pPr eaLnBrk="1" hangingPunct="1"/>
            <a:r>
              <a:rPr lang="es-ES" altLang="es-PE" dirty="0">
                <a:latin typeface="Arial" panose="020B0604020202020204" pitchFamily="34" charset="0"/>
                <a:cs typeface="Arial" panose="020B0604020202020204" pitchFamily="34" charset="0"/>
              </a:rPr>
              <a:t>Los valores “A”, ”B” y ”C” se encuentran resolviendo un sistema de tres ecuaciones con tres incógnitas</a:t>
            </a:r>
            <a:r>
              <a:rPr lang="es-ES" altLang="es-PE" dirty="0">
                <a:latin typeface="Stylus BT" panose="020E0402020206020304" pitchFamily="34" charset="0"/>
                <a:cs typeface="Arial" panose="020B0604020202020204" pitchFamily="34" charset="0"/>
              </a:rPr>
              <a:t>.</a:t>
            </a:r>
            <a:r>
              <a:rPr lang="es-ES" altLang="es-PE" dirty="0">
                <a:latin typeface="Stylus BT" panose="020E0402020206020304" pitchFamily="34" charset="0"/>
              </a:rPr>
              <a:t> </a:t>
            </a:r>
          </a:p>
        </p:txBody>
      </p:sp>
      <p:sp>
        <p:nvSpPr>
          <p:cNvPr id="6152" name="Rectangle 13"/>
          <p:cNvSpPr>
            <a:spLocks noChangeArrowheads="1"/>
          </p:cNvSpPr>
          <p:nvPr/>
        </p:nvSpPr>
        <p:spPr bwMode="auto">
          <a:xfrm>
            <a:off x="4953000" y="3052763"/>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spTree>
    <p:extLst>
      <p:ext uri="{BB962C8B-B14F-4D97-AF65-F5344CB8AC3E}">
        <p14:creationId xmlns:p14="http://schemas.microsoft.com/office/powerpoint/2010/main" val="48435995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3"/>
          <p:cNvSpPr>
            <a:spLocks noGrp="1" noChangeArrowheads="1"/>
          </p:cNvSpPr>
          <p:nvPr>
            <p:ph type="body" idx="1"/>
          </p:nvPr>
        </p:nvSpPr>
        <p:spPr>
          <a:xfrm>
            <a:off x="4114800" y="1371600"/>
            <a:ext cx="5181600" cy="381000"/>
          </a:xfrm>
        </p:spPr>
        <p:txBody>
          <a:bodyPr/>
          <a:lstStyle/>
          <a:p>
            <a:pPr>
              <a:lnSpc>
                <a:spcPct val="90000"/>
              </a:lnSpc>
              <a:buFontTx/>
              <a:buNone/>
            </a:pPr>
            <a:r>
              <a:rPr lang="es-ES_tradnl" altLang="es-PE" sz="2000" b="1" u="sng">
                <a:latin typeface="Arial" panose="020B0604020202020204" pitchFamily="34" charset="0"/>
              </a:rPr>
              <a:t>Regresión Parabólica o Curva Cuadrática</a:t>
            </a:r>
            <a:endParaRPr lang="es-ES" altLang="es-PE" sz="2000" b="1" u="sng">
              <a:latin typeface="Arial" panose="020B0604020202020204" pitchFamily="34" charset="0"/>
            </a:endParaRPr>
          </a:p>
        </p:txBody>
      </p:sp>
      <p:graphicFrame>
        <p:nvGraphicFramePr>
          <p:cNvPr id="7170" name="Object 2"/>
          <p:cNvGraphicFramePr>
            <a:graphicFrameLocks noChangeAspect="1"/>
          </p:cNvGraphicFramePr>
          <p:nvPr/>
        </p:nvGraphicFramePr>
        <p:xfrm>
          <a:off x="4648200" y="1981201"/>
          <a:ext cx="3429000" cy="1128713"/>
        </p:xfrm>
        <a:graphic>
          <a:graphicData uri="http://schemas.openxmlformats.org/presentationml/2006/ole">
            <mc:AlternateContent xmlns:mc="http://schemas.openxmlformats.org/markup-compatibility/2006">
              <mc:Choice xmlns:v="urn:schemas-microsoft-com:vml" Requires="v">
                <p:oleObj spid="_x0000_s9298" r:id="rId3" imgW="2286000" imgH="749300" progId="Equation.3">
                  <p:embed/>
                </p:oleObj>
              </mc:Choice>
              <mc:Fallback>
                <p:oleObj r:id="rId3" imgW="2286000" imgH="749300" progId="Equation.3">
                  <p:embed/>
                  <p:pic>
                    <p:nvPicPr>
                      <p:cNvPr id="717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1981201"/>
                        <a:ext cx="3429000" cy="1128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3" name="Text Box 8"/>
          <p:cNvSpPr txBox="1">
            <a:spLocks noChangeArrowheads="1"/>
          </p:cNvSpPr>
          <p:nvPr/>
        </p:nvSpPr>
        <p:spPr bwMode="auto">
          <a:xfrm>
            <a:off x="1981200" y="3352800"/>
            <a:ext cx="8305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a:latin typeface="Arial" panose="020B0604020202020204" pitchFamily="34" charset="0"/>
                <a:cs typeface="Times New Roman" panose="02020603050405020304" pitchFamily="18" charset="0"/>
              </a:rPr>
              <a:t>Pero cuando se recurre a la codificación de la variable independiente, el calculo también se efectúa con las siguientes formulas de mínimos cuadrados:</a:t>
            </a:r>
            <a:r>
              <a:rPr lang="es-ES" altLang="es-PE">
                <a:latin typeface="Arial" panose="020B0604020202020204" pitchFamily="34" charset="0"/>
              </a:rPr>
              <a:t> </a:t>
            </a:r>
          </a:p>
        </p:txBody>
      </p:sp>
      <p:sp>
        <p:nvSpPr>
          <p:cNvPr id="7174" name="Rectangle 10"/>
          <p:cNvSpPr>
            <a:spLocks noChangeArrowheads="1"/>
          </p:cNvSpPr>
          <p:nvPr/>
        </p:nvSpPr>
        <p:spPr bwMode="auto">
          <a:xfrm>
            <a:off x="5024438" y="2719388"/>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aphicFrame>
        <p:nvGraphicFramePr>
          <p:cNvPr id="55297" name="Object 3"/>
          <p:cNvGraphicFramePr>
            <a:graphicFrameLocks noChangeAspect="1"/>
          </p:cNvGraphicFramePr>
          <p:nvPr/>
        </p:nvGraphicFramePr>
        <p:xfrm>
          <a:off x="4495800" y="4267201"/>
          <a:ext cx="3657600" cy="2170113"/>
        </p:xfrm>
        <a:graphic>
          <a:graphicData uri="http://schemas.openxmlformats.org/presentationml/2006/ole">
            <mc:AlternateContent xmlns:mc="http://schemas.openxmlformats.org/markup-compatibility/2006">
              <mc:Choice xmlns:v="urn:schemas-microsoft-com:vml" Requires="v">
                <p:oleObj spid="_x0000_s9299" r:id="rId5" imgW="2146300" imgH="1460500" progId="Equation.3">
                  <p:embed/>
                </p:oleObj>
              </mc:Choice>
              <mc:Fallback>
                <p:oleObj r:id="rId5" imgW="2146300" imgH="1460500" progId="Equation.3">
                  <p:embed/>
                  <p:pic>
                    <p:nvPicPr>
                      <p:cNvPr id="55297"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4267201"/>
                        <a:ext cx="3657600" cy="2170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630775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3000"/>
                                  </p:stCondLst>
                                  <p:childTnLst>
                                    <p:set>
                                      <p:cBhvr>
                                        <p:cTn id="6" dur="1" fill="hold">
                                          <p:stCondLst>
                                            <p:cond delay="0"/>
                                          </p:stCondLst>
                                        </p:cTn>
                                        <p:tgtEl>
                                          <p:spTgt spid="55297"/>
                                        </p:tgtEl>
                                        <p:attrNameLst>
                                          <p:attrName>style.visibility</p:attrName>
                                        </p:attrNameLst>
                                      </p:cBhvr>
                                      <p:to>
                                        <p:strVal val="visible"/>
                                      </p:to>
                                    </p:set>
                                    <p:animEffect transition="in" filter="dissolve">
                                      <p:cBhvr>
                                        <p:cTn id="7" dur="500"/>
                                        <p:tgtEl>
                                          <p:spTgt spid="55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12"/>
          <p:cNvSpPr>
            <a:spLocks noChangeArrowheads="1"/>
          </p:cNvSpPr>
          <p:nvPr/>
        </p:nvSpPr>
        <p:spPr bwMode="auto">
          <a:xfrm>
            <a:off x="3810000" y="2743200"/>
            <a:ext cx="1905000" cy="838200"/>
          </a:xfrm>
          <a:prstGeom prst="rect">
            <a:avLst/>
          </a:prstGeom>
          <a:solidFill>
            <a:srgbClr val="C0C0C0">
              <a:alpha val="50195"/>
            </a:srgbClr>
          </a:solidFill>
          <a:ln w="9525">
            <a:solidFill>
              <a:schemeClr val="tx1"/>
            </a:solidFill>
            <a:miter lim="800000"/>
            <a:headEnd/>
            <a:tailEnd/>
          </a:ln>
        </p:spPr>
        <p:txBody>
          <a:bodyPr wrap="none" anchor="ct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sp>
        <p:nvSpPr>
          <p:cNvPr id="8198" name="Rectangle 3"/>
          <p:cNvSpPr>
            <a:spLocks noGrp="1" noChangeArrowheads="1"/>
          </p:cNvSpPr>
          <p:nvPr>
            <p:ph type="body" idx="1"/>
          </p:nvPr>
        </p:nvSpPr>
        <p:spPr>
          <a:xfrm>
            <a:off x="5029200" y="1219200"/>
            <a:ext cx="2971800" cy="457200"/>
          </a:xfrm>
        </p:spPr>
        <p:txBody>
          <a:bodyPr/>
          <a:lstStyle/>
          <a:p>
            <a:pPr>
              <a:buFontTx/>
              <a:buNone/>
            </a:pPr>
            <a:r>
              <a:rPr lang="es-ES_tradnl" altLang="es-PE" sz="2000" u="sng" dirty="0">
                <a:latin typeface="Arial" panose="020B0604020202020204" pitchFamily="34" charset="0"/>
              </a:rPr>
              <a:t>La Curva de </a:t>
            </a:r>
            <a:r>
              <a:rPr lang="es-ES_tradnl" altLang="es-PE" sz="2000" u="sng" dirty="0" err="1" smtClean="0">
                <a:latin typeface="Arial" panose="020B0604020202020204" pitchFamily="34" charset="0"/>
              </a:rPr>
              <a:t>Gompertz</a:t>
            </a:r>
            <a:endParaRPr lang="es-ES_tradnl" altLang="es-PE" sz="2000" u="sng" dirty="0">
              <a:latin typeface="Arial" panose="020B0604020202020204" pitchFamily="34" charset="0"/>
            </a:endParaRPr>
          </a:p>
          <a:p>
            <a:pPr>
              <a:buFontTx/>
              <a:buNone/>
            </a:pPr>
            <a:endParaRPr lang="es-ES" altLang="es-PE" sz="2000" u="sng" dirty="0">
              <a:latin typeface="Arial" panose="020B0604020202020204" pitchFamily="34" charset="0"/>
            </a:endParaRPr>
          </a:p>
        </p:txBody>
      </p:sp>
      <p:sp>
        <p:nvSpPr>
          <p:cNvPr id="8199" name="Text Box 7"/>
          <p:cNvSpPr txBox="1">
            <a:spLocks noChangeArrowheads="1"/>
          </p:cNvSpPr>
          <p:nvPr/>
        </p:nvSpPr>
        <p:spPr bwMode="auto">
          <a:xfrm>
            <a:off x="2057400" y="1828801"/>
            <a:ext cx="815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_tradnl" altLang="es-PE">
                <a:latin typeface="Arial" panose="020B0604020202020204" pitchFamily="34" charset="0"/>
              </a:rPr>
              <a:t>Tiene la siguiente expresión matemática que la representa:</a:t>
            </a:r>
            <a:endParaRPr lang="es-ES" altLang="es-PE">
              <a:latin typeface="Arial" panose="020B0604020202020204" pitchFamily="34" charset="0"/>
            </a:endParaRPr>
          </a:p>
        </p:txBody>
      </p:sp>
      <p:graphicFrame>
        <p:nvGraphicFramePr>
          <p:cNvPr id="8194" name="Object 2"/>
          <p:cNvGraphicFramePr>
            <a:graphicFrameLocks noChangeAspect="1"/>
          </p:cNvGraphicFramePr>
          <p:nvPr/>
        </p:nvGraphicFramePr>
        <p:xfrm>
          <a:off x="4038600" y="2825751"/>
          <a:ext cx="1447800" cy="665163"/>
        </p:xfrm>
        <a:graphic>
          <a:graphicData uri="http://schemas.openxmlformats.org/presentationml/2006/ole">
            <mc:AlternateContent xmlns:mc="http://schemas.openxmlformats.org/markup-compatibility/2006">
              <mc:Choice xmlns:v="urn:schemas-microsoft-com:vml" Requires="v">
                <p:oleObj spid="_x0000_s10365" r:id="rId3" imgW="672808" imgH="330057" progId="Equation.3">
                  <p:embed/>
                </p:oleObj>
              </mc:Choice>
              <mc:Fallback>
                <p:oleObj r:id="rId3" imgW="672808" imgH="330057" progId="Equation.3">
                  <p:embed/>
                  <p:pic>
                    <p:nvPicPr>
                      <p:cNvPr id="819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600" y="2825751"/>
                        <a:ext cx="1447800" cy="665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0" name="Rectangle 11"/>
          <p:cNvSpPr>
            <a:spLocks noChangeArrowheads="1"/>
          </p:cNvSpPr>
          <p:nvPr/>
        </p:nvSpPr>
        <p:spPr bwMode="auto">
          <a:xfrm>
            <a:off x="5581650" y="2838450"/>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aphicFrame>
        <p:nvGraphicFramePr>
          <p:cNvPr id="8195" name="Object 3"/>
          <p:cNvGraphicFramePr>
            <a:graphicFrameLocks noChangeAspect="1"/>
          </p:cNvGraphicFramePr>
          <p:nvPr/>
        </p:nvGraphicFramePr>
        <p:xfrm>
          <a:off x="6248400" y="2286001"/>
          <a:ext cx="1905000" cy="1762125"/>
        </p:xfrm>
        <a:graphic>
          <a:graphicData uri="http://schemas.openxmlformats.org/presentationml/2006/ole">
            <mc:AlternateContent xmlns:mc="http://schemas.openxmlformats.org/markup-compatibility/2006">
              <mc:Choice xmlns:v="urn:schemas-microsoft-com:vml" Requires="v">
                <p:oleObj spid="_x0000_s10366" r:id="rId5" imgW="914400" imgH="1054100" progId="Equation.3">
                  <p:embed/>
                </p:oleObj>
              </mc:Choice>
              <mc:Fallback>
                <p:oleObj r:id="rId5" imgW="914400" imgH="1054100" progId="Equation.3">
                  <p:embed/>
                  <p:pic>
                    <p:nvPicPr>
                      <p:cNvPr id="8195"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8400" y="2286001"/>
                        <a:ext cx="1905000" cy="1762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1" name="Text Box 13"/>
          <p:cNvSpPr txBox="1">
            <a:spLocks noChangeArrowheads="1"/>
          </p:cNvSpPr>
          <p:nvPr/>
        </p:nvSpPr>
        <p:spPr bwMode="auto">
          <a:xfrm>
            <a:off x="2133600" y="4114801"/>
            <a:ext cx="4191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a:latin typeface="Arial" panose="020B0604020202020204" pitchFamily="34" charset="0"/>
                <a:cs typeface="Arial" panose="020B0604020202020204" pitchFamily="34" charset="0"/>
              </a:rPr>
              <a:t>Por mínimos cuadrados, se tiene:</a:t>
            </a:r>
            <a:r>
              <a:rPr lang="es-ES" altLang="es-PE"/>
              <a:t> </a:t>
            </a:r>
          </a:p>
        </p:txBody>
      </p:sp>
      <p:sp>
        <p:nvSpPr>
          <p:cNvPr id="8202" name="Rectangle 15"/>
          <p:cNvSpPr>
            <a:spLocks noChangeArrowheads="1"/>
          </p:cNvSpPr>
          <p:nvPr/>
        </p:nvSpPr>
        <p:spPr bwMode="auto">
          <a:xfrm>
            <a:off x="4267200" y="3052763"/>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aphicFrame>
        <p:nvGraphicFramePr>
          <p:cNvPr id="8196" name="Object 4"/>
          <p:cNvGraphicFramePr>
            <a:graphicFrameLocks noChangeAspect="1"/>
          </p:cNvGraphicFramePr>
          <p:nvPr/>
        </p:nvGraphicFramePr>
        <p:xfrm>
          <a:off x="3352800" y="4724400"/>
          <a:ext cx="5410200" cy="1003300"/>
        </p:xfrm>
        <a:graphic>
          <a:graphicData uri="http://schemas.openxmlformats.org/presentationml/2006/ole">
            <mc:AlternateContent xmlns:mc="http://schemas.openxmlformats.org/markup-compatibility/2006">
              <mc:Choice xmlns:v="urn:schemas-microsoft-com:vml" Requires="v">
                <p:oleObj spid="_x0000_s10367" r:id="rId7" imgW="3657600" imgH="749300" progId="Equation.3">
                  <p:embed/>
                </p:oleObj>
              </mc:Choice>
              <mc:Fallback>
                <p:oleObj r:id="rId7" imgW="3657600" imgH="749300" progId="Equation.3">
                  <p:embed/>
                  <p:pic>
                    <p:nvPicPr>
                      <p:cNvPr id="8196"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52800" y="4724400"/>
                        <a:ext cx="5410200" cy="1003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740348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9" name="Rectangle 15"/>
          <p:cNvSpPr>
            <a:spLocks noChangeArrowheads="1"/>
          </p:cNvSpPr>
          <p:nvPr/>
        </p:nvSpPr>
        <p:spPr bwMode="auto">
          <a:xfrm>
            <a:off x="3962400" y="4800600"/>
            <a:ext cx="4419600" cy="1066800"/>
          </a:xfrm>
          <a:prstGeom prst="rect">
            <a:avLst/>
          </a:prstGeom>
          <a:solidFill>
            <a:srgbClr val="C0C0C0">
              <a:alpha val="50195"/>
            </a:srgbClr>
          </a:solidFill>
          <a:ln w="9525">
            <a:solidFill>
              <a:schemeClr val="tx1"/>
            </a:solidFill>
            <a:miter lim="800000"/>
            <a:headEnd/>
            <a:tailEnd/>
          </a:ln>
        </p:spPr>
        <p:txBody>
          <a:bodyPr wrap="none" anchor="ct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sp>
        <p:nvSpPr>
          <p:cNvPr id="9221" name="Rectangle 3"/>
          <p:cNvSpPr>
            <a:spLocks noGrp="1" noChangeArrowheads="1"/>
          </p:cNvSpPr>
          <p:nvPr>
            <p:ph type="body" idx="1"/>
          </p:nvPr>
        </p:nvSpPr>
        <p:spPr>
          <a:xfrm>
            <a:off x="3647302" y="1067594"/>
            <a:ext cx="5916827" cy="533400"/>
          </a:xfrm>
        </p:spPr>
        <p:txBody>
          <a:bodyPr>
            <a:normAutofit/>
          </a:bodyPr>
          <a:lstStyle/>
          <a:p>
            <a:pPr>
              <a:buFontTx/>
              <a:buNone/>
            </a:pPr>
            <a:r>
              <a:rPr lang="es-ES_tradnl" altLang="es-PE" sz="2000" b="1" u="sng" dirty="0">
                <a:latin typeface="Arial" panose="020B0604020202020204" pitchFamily="34" charset="0"/>
              </a:rPr>
              <a:t>Coeficiente de </a:t>
            </a:r>
            <a:r>
              <a:rPr lang="es-ES_tradnl" altLang="es-PE" sz="2000" b="1" u="sng" dirty="0" smtClean="0">
                <a:latin typeface="Arial" panose="020B0604020202020204" pitchFamily="34" charset="0"/>
              </a:rPr>
              <a:t>Determinación (Correlación)</a:t>
            </a:r>
            <a:endParaRPr lang="es-ES" altLang="es-PE" sz="2000" b="1" u="sng" dirty="0">
              <a:latin typeface="Arial" panose="020B0604020202020204" pitchFamily="34" charset="0"/>
            </a:endParaRPr>
          </a:p>
        </p:txBody>
      </p:sp>
      <p:sp>
        <p:nvSpPr>
          <p:cNvPr id="9222" name="Text Box 8"/>
          <p:cNvSpPr txBox="1">
            <a:spLocks noChangeArrowheads="1"/>
          </p:cNvSpPr>
          <p:nvPr/>
        </p:nvSpPr>
        <p:spPr bwMode="auto">
          <a:xfrm>
            <a:off x="1981200" y="2057400"/>
            <a:ext cx="838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dirty="0" smtClean="0">
                <a:latin typeface="Arial" panose="020B0604020202020204" pitchFamily="34" charset="0"/>
                <a:cs typeface="Times New Roman" panose="02020603050405020304" pitchFamily="18" charset="0"/>
              </a:rPr>
              <a:t>Medida de la bondad de ajuste para evaluar cual es el nivel de aproximación de la curva a los datos.</a:t>
            </a:r>
            <a:endParaRPr lang="es-ES" altLang="es-PE" dirty="0">
              <a:latin typeface="Arial" panose="020B0604020202020204" pitchFamily="34" charset="0"/>
            </a:endParaRPr>
          </a:p>
        </p:txBody>
      </p:sp>
      <p:sp>
        <p:nvSpPr>
          <p:cNvPr id="31753" name="Text Box 9"/>
          <p:cNvSpPr txBox="1">
            <a:spLocks noChangeArrowheads="1"/>
          </p:cNvSpPr>
          <p:nvPr/>
        </p:nvSpPr>
        <p:spPr bwMode="auto">
          <a:xfrm>
            <a:off x="1981200" y="3124201"/>
            <a:ext cx="5867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_tradnl" altLang="es-PE" b="1" u="sng">
                <a:latin typeface="Arial" panose="020B0604020202020204" pitchFamily="34" charset="0"/>
              </a:rPr>
              <a:t>Coeficiente de Determinación (    ):</a:t>
            </a:r>
            <a:endParaRPr lang="es-ES" altLang="es-PE" b="1" u="sng">
              <a:latin typeface="Arial" panose="020B0604020202020204" pitchFamily="34" charset="0"/>
            </a:endParaRPr>
          </a:p>
        </p:txBody>
      </p:sp>
      <p:graphicFrame>
        <p:nvGraphicFramePr>
          <p:cNvPr id="31754" name="Object 2"/>
          <p:cNvGraphicFramePr>
            <a:graphicFrameLocks noChangeAspect="1"/>
          </p:cNvGraphicFramePr>
          <p:nvPr/>
        </p:nvGraphicFramePr>
        <p:xfrm>
          <a:off x="5410200" y="3124200"/>
          <a:ext cx="304800" cy="304800"/>
        </p:xfrm>
        <a:graphic>
          <a:graphicData uri="http://schemas.openxmlformats.org/presentationml/2006/ole">
            <mc:AlternateContent xmlns:mc="http://schemas.openxmlformats.org/markup-compatibility/2006">
              <mc:Choice xmlns:v="urn:schemas-microsoft-com:vml" Requires="v">
                <p:oleObj spid="_x0000_s11348" r:id="rId3" imgW="177492" imgH="177492" progId="Equation.3">
                  <p:embed/>
                </p:oleObj>
              </mc:Choice>
              <mc:Fallback>
                <p:oleObj r:id="rId3" imgW="177492" imgH="177492" progId="Equation.3">
                  <p:embed/>
                  <p:pic>
                    <p:nvPicPr>
                      <p:cNvPr id="3175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3124200"/>
                        <a:ext cx="3048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56" name="Text Box 12"/>
          <p:cNvSpPr txBox="1">
            <a:spLocks noChangeArrowheads="1"/>
          </p:cNvSpPr>
          <p:nvPr/>
        </p:nvSpPr>
        <p:spPr bwMode="auto">
          <a:xfrm>
            <a:off x="1981200" y="3505200"/>
            <a:ext cx="79248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a:latin typeface="Arial" panose="020B0604020202020204" pitchFamily="34" charset="0"/>
                <a:cs typeface="Arial" panose="020B0604020202020204" pitchFamily="34" charset="0"/>
              </a:rPr>
              <a:t>Este coeficiente sirve para medir la relación entre las variables, medida de ajuste de modelo de regresión y que corresponde al cuadrado del coeficiente de correlación simple</a:t>
            </a:r>
            <a:r>
              <a:rPr lang="es-ES_tradnl" altLang="es-PE">
                <a:latin typeface="Arial" panose="020B0604020202020204" pitchFamily="34" charset="0"/>
                <a:cs typeface="Arial" panose="020B0604020202020204" pitchFamily="34" charset="0"/>
              </a:rPr>
              <a:t>, con la relación :</a:t>
            </a:r>
            <a:endParaRPr lang="es-ES" altLang="es-PE">
              <a:latin typeface="Arial" panose="020B0604020202020204" pitchFamily="34" charset="0"/>
              <a:cs typeface="Arial" panose="020B0604020202020204" pitchFamily="34" charset="0"/>
            </a:endParaRPr>
          </a:p>
        </p:txBody>
      </p:sp>
      <p:sp>
        <p:nvSpPr>
          <p:cNvPr id="9225" name="Rectangle 14"/>
          <p:cNvSpPr>
            <a:spLocks noChangeArrowheads="1"/>
          </p:cNvSpPr>
          <p:nvPr/>
        </p:nvSpPr>
        <p:spPr bwMode="auto">
          <a:xfrm>
            <a:off x="4724400" y="3148013"/>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aphicFrame>
        <p:nvGraphicFramePr>
          <p:cNvPr id="31757" name="Object 3"/>
          <p:cNvGraphicFramePr>
            <a:graphicFrameLocks noChangeAspect="1"/>
          </p:cNvGraphicFramePr>
          <p:nvPr/>
        </p:nvGraphicFramePr>
        <p:xfrm>
          <a:off x="4191000" y="4953000"/>
          <a:ext cx="3810000" cy="749300"/>
        </p:xfrm>
        <a:graphic>
          <a:graphicData uri="http://schemas.openxmlformats.org/presentationml/2006/ole">
            <mc:AlternateContent xmlns:mc="http://schemas.openxmlformats.org/markup-compatibility/2006">
              <mc:Choice xmlns:v="urn:schemas-microsoft-com:vml" Requires="v">
                <p:oleObj spid="_x0000_s11349" r:id="rId5" imgW="2743200" imgH="609600" progId="Equation.3">
                  <p:embed/>
                </p:oleObj>
              </mc:Choice>
              <mc:Fallback>
                <p:oleObj r:id="rId5" imgW="2743200" imgH="609600" progId="Equation.3">
                  <p:embed/>
                  <p:pic>
                    <p:nvPicPr>
                      <p:cNvPr id="31757"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1000" y="4953000"/>
                        <a:ext cx="3810000" cy="749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137090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2000"/>
                                  </p:stCondLst>
                                  <p:childTnLst>
                                    <p:set>
                                      <p:cBhvr>
                                        <p:cTn id="6" dur="1" fill="hold">
                                          <p:stCondLst>
                                            <p:cond delay="0"/>
                                          </p:stCondLst>
                                        </p:cTn>
                                        <p:tgtEl>
                                          <p:spTgt spid="31753"/>
                                        </p:tgtEl>
                                        <p:attrNameLst>
                                          <p:attrName>style.visibility</p:attrName>
                                        </p:attrNameLst>
                                      </p:cBhvr>
                                      <p:to>
                                        <p:strVal val="visible"/>
                                      </p:to>
                                    </p:set>
                                    <p:animEffect transition="in" filter="dissolve">
                                      <p:cBhvr>
                                        <p:cTn id="7" dur="500"/>
                                        <p:tgtEl>
                                          <p:spTgt spid="31753"/>
                                        </p:tgtEl>
                                      </p:cBhvr>
                                    </p:animEffect>
                                  </p:childTnLst>
                                </p:cTn>
                              </p:par>
                            </p:childTnLst>
                          </p:cTn>
                        </p:par>
                        <p:par>
                          <p:cTn id="8" fill="hold" nodeType="afterGroup">
                            <p:stCondLst>
                              <p:cond delay="2500"/>
                            </p:stCondLst>
                            <p:childTnLst>
                              <p:par>
                                <p:cTn id="9" presetID="9" presetClass="entr" presetSubtype="0" fill="hold" nodeType="afterEffect">
                                  <p:stCondLst>
                                    <p:cond delay="2000"/>
                                  </p:stCondLst>
                                  <p:childTnLst>
                                    <p:set>
                                      <p:cBhvr>
                                        <p:cTn id="10" dur="1" fill="hold">
                                          <p:stCondLst>
                                            <p:cond delay="0"/>
                                          </p:stCondLst>
                                        </p:cTn>
                                        <p:tgtEl>
                                          <p:spTgt spid="31754"/>
                                        </p:tgtEl>
                                        <p:attrNameLst>
                                          <p:attrName>style.visibility</p:attrName>
                                        </p:attrNameLst>
                                      </p:cBhvr>
                                      <p:to>
                                        <p:strVal val="visible"/>
                                      </p:to>
                                    </p:set>
                                    <p:animEffect transition="in" filter="dissolve">
                                      <p:cBhvr>
                                        <p:cTn id="11" dur="500"/>
                                        <p:tgtEl>
                                          <p:spTgt spid="31754"/>
                                        </p:tgtEl>
                                      </p:cBhvr>
                                    </p:animEffect>
                                  </p:childTnLst>
                                </p:cTn>
                              </p:par>
                            </p:childTnLst>
                          </p:cTn>
                        </p:par>
                        <p:par>
                          <p:cTn id="12" fill="hold" nodeType="afterGroup">
                            <p:stCondLst>
                              <p:cond delay="5000"/>
                            </p:stCondLst>
                            <p:childTnLst>
                              <p:par>
                                <p:cTn id="13" presetID="9" presetClass="entr" presetSubtype="0" fill="hold" grpId="0" nodeType="afterEffect">
                                  <p:stCondLst>
                                    <p:cond delay="2000"/>
                                  </p:stCondLst>
                                  <p:childTnLst>
                                    <p:set>
                                      <p:cBhvr>
                                        <p:cTn id="14" dur="1" fill="hold">
                                          <p:stCondLst>
                                            <p:cond delay="0"/>
                                          </p:stCondLst>
                                        </p:cTn>
                                        <p:tgtEl>
                                          <p:spTgt spid="31756"/>
                                        </p:tgtEl>
                                        <p:attrNameLst>
                                          <p:attrName>style.visibility</p:attrName>
                                        </p:attrNameLst>
                                      </p:cBhvr>
                                      <p:to>
                                        <p:strVal val="visible"/>
                                      </p:to>
                                    </p:set>
                                    <p:animEffect transition="in" filter="dissolve">
                                      <p:cBhvr>
                                        <p:cTn id="15" dur="500"/>
                                        <p:tgtEl>
                                          <p:spTgt spid="31756"/>
                                        </p:tgtEl>
                                      </p:cBhvr>
                                    </p:animEffect>
                                  </p:childTnLst>
                                </p:cTn>
                              </p:par>
                            </p:childTnLst>
                          </p:cTn>
                        </p:par>
                        <p:par>
                          <p:cTn id="16" fill="hold" nodeType="afterGroup">
                            <p:stCondLst>
                              <p:cond delay="7500"/>
                            </p:stCondLst>
                            <p:childTnLst>
                              <p:par>
                                <p:cTn id="17" presetID="1" presetClass="entr" presetSubtype="0" fill="hold" grpId="0" nodeType="afterEffect">
                                  <p:stCondLst>
                                    <p:cond delay="2000"/>
                                  </p:stCondLst>
                                  <p:childTnLst>
                                    <p:set>
                                      <p:cBhvr>
                                        <p:cTn id="18" dur="1" fill="hold">
                                          <p:stCondLst>
                                            <p:cond delay="499"/>
                                          </p:stCondLst>
                                        </p:cTn>
                                        <p:tgtEl>
                                          <p:spTgt spid="31759"/>
                                        </p:tgtEl>
                                        <p:attrNameLst>
                                          <p:attrName>style.visibility</p:attrName>
                                        </p:attrNameLst>
                                      </p:cBhvr>
                                      <p:to>
                                        <p:strVal val="visible"/>
                                      </p:to>
                                    </p:set>
                                  </p:childTnLst>
                                </p:cTn>
                              </p:par>
                            </p:childTnLst>
                          </p:cTn>
                        </p:par>
                        <p:par>
                          <p:cTn id="19" fill="hold" nodeType="afterGroup">
                            <p:stCondLst>
                              <p:cond delay="10000"/>
                            </p:stCondLst>
                            <p:childTnLst>
                              <p:par>
                                <p:cTn id="20" presetID="1" presetClass="entr" presetSubtype="0" fill="hold" nodeType="afterEffect">
                                  <p:stCondLst>
                                    <p:cond delay="2000"/>
                                  </p:stCondLst>
                                  <p:childTnLst>
                                    <p:set>
                                      <p:cBhvr>
                                        <p:cTn id="21" dur="1" fill="hold">
                                          <p:stCondLst>
                                            <p:cond delay="499"/>
                                          </p:stCondLst>
                                        </p:cTn>
                                        <p:tgtEl>
                                          <p:spTgt spid="317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9" grpId="0" animBg="1"/>
      <p:bldP spid="31753" grpId="0" autoUpdateAnimBg="0"/>
      <p:bldP spid="31756"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2" name="Rectangle 14"/>
          <p:cNvSpPr>
            <a:spLocks noChangeArrowheads="1"/>
          </p:cNvSpPr>
          <p:nvPr/>
        </p:nvSpPr>
        <p:spPr bwMode="auto">
          <a:xfrm>
            <a:off x="3810000" y="3581400"/>
            <a:ext cx="4800600" cy="1066800"/>
          </a:xfrm>
          <a:prstGeom prst="rect">
            <a:avLst/>
          </a:prstGeom>
          <a:solidFill>
            <a:srgbClr val="C0C0C0">
              <a:alpha val="50195"/>
            </a:srgbClr>
          </a:solidFill>
          <a:ln w="9525">
            <a:solidFill>
              <a:schemeClr val="tx1"/>
            </a:solidFill>
            <a:miter lim="800000"/>
            <a:headEnd/>
            <a:tailEnd/>
          </a:ln>
        </p:spPr>
        <p:txBody>
          <a:bodyPr wrap="none" anchor="ct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sp>
        <p:nvSpPr>
          <p:cNvPr id="10245" name="Rectangle 3"/>
          <p:cNvSpPr>
            <a:spLocks noGrp="1" noChangeArrowheads="1"/>
          </p:cNvSpPr>
          <p:nvPr>
            <p:ph type="body" idx="1"/>
          </p:nvPr>
        </p:nvSpPr>
        <p:spPr>
          <a:xfrm>
            <a:off x="4800600" y="1219200"/>
            <a:ext cx="3429000" cy="533400"/>
          </a:xfrm>
        </p:spPr>
        <p:txBody>
          <a:bodyPr/>
          <a:lstStyle/>
          <a:p>
            <a:pPr>
              <a:buFontTx/>
              <a:buNone/>
            </a:pPr>
            <a:r>
              <a:rPr lang="es-ES_tradnl" altLang="es-PE" sz="2000" b="1" u="sng">
                <a:latin typeface="Arial" panose="020B0604020202020204" pitchFamily="34" charset="0"/>
              </a:rPr>
              <a:t>Coeficiente de Correlación</a:t>
            </a:r>
            <a:endParaRPr lang="es-ES" altLang="es-PE" sz="2000" b="1" u="sng">
              <a:latin typeface="Arial" panose="020B0604020202020204" pitchFamily="34" charset="0"/>
            </a:endParaRPr>
          </a:p>
        </p:txBody>
      </p:sp>
      <p:sp>
        <p:nvSpPr>
          <p:cNvPr id="10246" name="Text Box 7"/>
          <p:cNvSpPr txBox="1">
            <a:spLocks noChangeArrowheads="1"/>
          </p:cNvSpPr>
          <p:nvPr/>
        </p:nvSpPr>
        <p:spPr bwMode="auto">
          <a:xfrm>
            <a:off x="1981200" y="2438400"/>
            <a:ext cx="86868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dirty="0" smtClean="0">
                <a:latin typeface="Arial" panose="020B0604020202020204" pitchFamily="34" charset="0"/>
                <a:cs typeface="Times New Roman" panose="02020603050405020304" pitchFamily="18" charset="0"/>
              </a:rPr>
              <a:t>Existe </a:t>
            </a:r>
            <a:r>
              <a:rPr lang="es-ES" altLang="es-PE" dirty="0">
                <a:latin typeface="Arial" panose="020B0604020202020204" pitchFamily="34" charset="0"/>
                <a:cs typeface="Times New Roman" panose="02020603050405020304" pitchFamily="18" charset="0"/>
              </a:rPr>
              <a:t>correlación entre dos variables, cuando al variar una de ellas varia también la otra variable. Para que la proyección sea mas acertada es necesario que el numero de observaciones (n) sea mas amplio</a:t>
            </a:r>
            <a:r>
              <a:rPr lang="es-ES" altLang="es-PE" dirty="0">
                <a:latin typeface="Arial" panose="020B0604020202020204" pitchFamily="34" charset="0"/>
              </a:rPr>
              <a:t> </a:t>
            </a:r>
          </a:p>
        </p:txBody>
      </p:sp>
      <p:sp>
        <p:nvSpPr>
          <p:cNvPr id="10247" name="Rectangle 9"/>
          <p:cNvSpPr>
            <a:spLocks noChangeArrowheads="1"/>
          </p:cNvSpPr>
          <p:nvPr/>
        </p:nvSpPr>
        <p:spPr bwMode="auto">
          <a:xfrm>
            <a:off x="4686300" y="3138488"/>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aphicFrame>
        <p:nvGraphicFramePr>
          <p:cNvPr id="32776" name="Object 2"/>
          <p:cNvGraphicFramePr>
            <a:graphicFrameLocks noChangeAspect="1"/>
          </p:cNvGraphicFramePr>
          <p:nvPr/>
        </p:nvGraphicFramePr>
        <p:xfrm>
          <a:off x="4114800" y="3733800"/>
          <a:ext cx="4038600" cy="831850"/>
        </p:xfrm>
        <a:graphic>
          <a:graphicData uri="http://schemas.openxmlformats.org/presentationml/2006/ole">
            <mc:AlternateContent xmlns:mc="http://schemas.openxmlformats.org/markup-compatibility/2006">
              <mc:Choice xmlns:v="urn:schemas-microsoft-com:vml" Requires="v">
                <p:oleObj spid="_x0000_s12407" r:id="rId3" imgW="2819400" imgH="622300" progId="Equation.3">
                  <p:embed/>
                </p:oleObj>
              </mc:Choice>
              <mc:Fallback>
                <p:oleObj r:id="rId3" imgW="2819400" imgH="622300" progId="Equation.3">
                  <p:embed/>
                  <p:pic>
                    <p:nvPicPr>
                      <p:cNvPr id="3277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3733800"/>
                        <a:ext cx="4038600" cy="831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78" name="Text Box 10"/>
          <p:cNvSpPr txBox="1">
            <a:spLocks noChangeArrowheads="1"/>
          </p:cNvSpPr>
          <p:nvPr/>
        </p:nvSpPr>
        <p:spPr bwMode="auto">
          <a:xfrm>
            <a:off x="2057400" y="4953000"/>
            <a:ext cx="7772400"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just" eaLnBrk="1" hangingPunct="1">
              <a:spcBef>
                <a:spcPct val="50000"/>
              </a:spcBef>
            </a:pPr>
            <a:r>
              <a:rPr lang="es-ES" altLang="es-PE" dirty="0" err="1" smtClean="0">
                <a:latin typeface="Arial" panose="020B0604020202020204" pitchFamily="34" charset="0"/>
                <a:cs typeface="Arial" panose="020B0604020202020204" pitchFamily="34" charset="0"/>
              </a:rPr>
              <a:t>Notese</a:t>
            </a:r>
            <a:r>
              <a:rPr lang="es-ES" altLang="es-PE" dirty="0" smtClean="0">
                <a:latin typeface="Arial" panose="020B0604020202020204" pitchFamily="34" charset="0"/>
                <a:cs typeface="Arial" panose="020B0604020202020204" pitchFamily="34" charset="0"/>
              </a:rPr>
              <a:t> que        al ser un radical su valor varía entre +1 y -1. </a:t>
            </a:r>
          </a:p>
          <a:p>
            <a:pPr algn="just" eaLnBrk="1" hangingPunct="1">
              <a:spcBef>
                <a:spcPct val="50000"/>
              </a:spcBef>
            </a:pPr>
            <a:r>
              <a:rPr lang="es-ES" altLang="es-PE" dirty="0" smtClean="0">
                <a:latin typeface="Arial" panose="020B0604020202020204" pitchFamily="34" charset="0"/>
                <a:cs typeface="Arial" panose="020B0604020202020204" pitchFamily="34" charset="0"/>
              </a:rPr>
              <a:t>El </a:t>
            </a:r>
            <a:r>
              <a:rPr lang="es-ES" altLang="es-PE" dirty="0">
                <a:latin typeface="Arial" panose="020B0604020202020204" pitchFamily="34" charset="0"/>
                <a:cs typeface="Arial" panose="020B0604020202020204" pitchFamily="34" charset="0"/>
              </a:rPr>
              <a:t>grado de aproximación entre variables es mayor cuando el coeficiente de correlación se acerca al valor máximo de 1. Entonces, en este caso se dice, existe una elevada correlación entre X y </a:t>
            </a:r>
            <a:r>
              <a:rPr lang="es-ES" altLang="es-PE" dirty="0" err="1">
                <a:latin typeface="Arial" panose="020B0604020202020204" pitchFamily="34" charset="0"/>
                <a:cs typeface="Arial" panose="020B0604020202020204" pitchFamily="34" charset="0"/>
              </a:rPr>
              <a:t>Y</a:t>
            </a:r>
            <a:r>
              <a:rPr lang="es-ES" altLang="es-PE" dirty="0">
                <a:latin typeface="Arial" panose="020B0604020202020204" pitchFamily="34" charset="0"/>
                <a:cs typeface="Arial" panose="020B0604020202020204" pitchFamily="34" charset="0"/>
              </a:rPr>
              <a:t>.</a:t>
            </a:r>
            <a:endParaRPr lang="es-ES" altLang="es-PE" dirty="0"/>
          </a:p>
        </p:txBody>
      </p:sp>
      <p:sp>
        <p:nvSpPr>
          <p:cNvPr id="10249" name="Text Box 11"/>
          <p:cNvSpPr txBox="1">
            <a:spLocks noChangeArrowheads="1"/>
          </p:cNvSpPr>
          <p:nvPr/>
        </p:nvSpPr>
        <p:spPr bwMode="auto">
          <a:xfrm>
            <a:off x="1981200" y="1981201"/>
            <a:ext cx="525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_tradnl" altLang="es-PE" b="1" u="sng">
                <a:latin typeface="Arial" panose="020B0604020202020204" pitchFamily="34" charset="0"/>
              </a:rPr>
              <a:t>Coeficiente de Correlación (   ):</a:t>
            </a:r>
            <a:endParaRPr lang="es-ES" altLang="es-PE" b="1" u="sng">
              <a:latin typeface="Arial" panose="020B0604020202020204" pitchFamily="34" charset="0"/>
            </a:endParaRPr>
          </a:p>
        </p:txBody>
      </p:sp>
      <p:sp>
        <p:nvSpPr>
          <p:cNvPr id="10250" name="Rectangle 13"/>
          <p:cNvSpPr>
            <a:spLocks noChangeArrowheads="1"/>
          </p:cNvSpPr>
          <p:nvPr/>
        </p:nvSpPr>
        <p:spPr bwMode="auto">
          <a:xfrm>
            <a:off x="6038850" y="3367088"/>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ES_tradnl" altLang="es-PE"/>
          </a:p>
        </p:txBody>
      </p:sp>
      <p:graphicFrame>
        <p:nvGraphicFramePr>
          <p:cNvPr id="10243" name="Object 3"/>
          <p:cNvGraphicFramePr>
            <a:graphicFrameLocks noChangeAspect="1"/>
          </p:cNvGraphicFramePr>
          <p:nvPr/>
        </p:nvGraphicFramePr>
        <p:xfrm>
          <a:off x="5105400" y="2057401"/>
          <a:ext cx="268288" cy="290513"/>
        </p:xfrm>
        <a:graphic>
          <a:graphicData uri="http://schemas.openxmlformats.org/presentationml/2006/ole">
            <mc:AlternateContent xmlns:mc="http://schemas.openxmlformats.org/markup-compatibility/2006">
              <mc:Choice xmlns:v="urn:schemas-microsoft-com:vml" Requires="v">
                <p:oleObj spid="_x0000_s12408" r:id="rId5" imgW="114102" imgH="126780" progId="Equation.3">
                  <p:embed/>
                </p:oleObj>
              </mc:Choice>
              <mc:Fallback>
                <p:oleObj r:id="rId5" imgW="114102" imgH="126780" progId="Equation.3">
                  <p:embed/>
                  <p:pic>
                    <p:nvPicPr>
                      <p:cNvPr id="1024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05400" y="2057401"/>
                        <a:ext cx="268288" cy="290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3"/>
          <p:cNvGraphicFramePr>
            <a:graphicFrameLocks noChangeAspect="1"/>
          </p:cNvGraphicFramePr>
          <p:nvPr>
            <p:extLst>
              <p:ext uri="{D42A27DB-BD31-4B8C-83A1-F6EECF244321}">
                <p14:modId xmlns:p14="http://schemas.microsoft.com/office/powerpoint/2010/main" val="3715997489"/>
              </p:ext>
            </p:extLst>
          </p:nvPr>
        </p:nvGraphicFramePr>
        <p:xfrm>
          <a:off x="3404287" y="5039498"/>
          <a:ext cx="268288" cy="290513"/>
        </p:xfrm>
        <a:graphic>
          <a:graphicData uri="http://schemas.openxmlformats.org/presentationml/2006/ole">
            <mc:AlternateContent xmlns:mc="http://schemas.openxmlformats.org/markup-compatibility/2006">
              <mc:Choice xmlns:v="urn:schemas-microsoft-com:vml" Requires="v">
                <p:oleObj spid="_x0000_s12409" r:id="rId5" imgW="114102" imgH="126780" progId="Equation.3">
                  <p:embed/>
                </p:oleObj>
              </mc:Choice>
              <mc:Fallback>
                <p:oleObj r:id="rId5" imgW="114102" imgH="126780" progId="Equation.3">
                  <p:embed/>
                  <p:pic>
                    <p:nvPicPr>
                      <p:cNvPr id="1024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4287" y="5039498"/>
                        <a:ext cx="268288" cy="290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457461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2000"/>
                                  </p:stCondLst>
                                  <p:childTnLst>
                                    <p:set>
                                      <p:cBhvr>
                                        <p:cTn id="6" dur="1" fill="hold">
                                          <p:stCondLst>
                                            <p:cond delay="499"/>
                                          </p:stCondLst>
                                        </p:cTn>
                                        <p:tgtEl>
                                          <p:spTgt spid="32782"/>
                                        </p:tgtEl>
                                        <p:attrNameLst>
                                          <p:attrName>style.visibility</p:attrName>
                                        </p:attrNameLst>
                                      </p:cBhvr>
                                      <p:to>
                                        <p:strVal val="visible"/>
                                      </p:to>
                                    </p:set>
                                  </p:childTnLst>
                                </p:cTn>
                              </p:par>
                            </p:childTnLst>
                          </p:cTn>
                        </p:par>
                        <p:par>
                          <p:cTn id="7" fill="hold" nodeType="afterGroup">
                            <p:stCondLst>
                              <p:cond delay="2500"/>
                            </p:stCondLst>
                            <p:childTnLst>
                              <p:par>
                                <p:cTn id="8" presetID="1" presetClass="entr" presetSubtype="0" fill="hold" nodeType="afterEffect">
                                  <p:stCondLst>
                                    <p:cond delay="2000"/>
                                  </p:stCondLst>
                                  <p:childTnLst>
                                    <p:set>
                                      <p:cBhvr>
                                        <p:cTn id="9" dur="1" fill="hold">
                                          <p:stCondLst>
                                            <p:cond delay="499"/>
                                          </p:stCondLst>
                                        </p:cTn>
                                        <p:tgtEl>
                                          <p:spTgt spid="32776"/>
                                        </p:tgtEl>
                                        <p:attrNameLst>
                                          <p:attrName>style.visibility</p:attrName>
                                        </p:attrNameLst>
                                      </p:cBhvr>
                                      <p:to>
                                        <p:strVal val="visible"/>
                                      </p:to>
                                    </p:set>
                                  </p:childTnLst>
                                </p:cTn>
                              </p:par>
                            </p:childTnLst>
                          </p:cTn>
                        </p:par>
                        <p:par>
                          <p:cTn id="10" fill="hold" nodeType="afterGroup">
                            <p:stCondLst>
                              <p:cond delay="5000"/>
                            </p:stCondLst>
                            <p:childTnLst>
                              <p:par>
                                <p:cTn id="11" presetID="9" presetClass="entr" presetSubtype="0" fill="hold" grpId="0" nodeType="afterEffect">
                                  <p:stCondLst>
                                    <p:cond delay="2000"/>
                                  </p:stCondLst>
                                  <p:childTnLst>
                                    <p:set>
                                      <p:cBhvr>
                                        <p:cTn id="12" dur="1" fill="hold">
                                          <p:stCondLst>
                                            <p:cond delay="0"/>
                                          </p:stCondLst>
                                        </p:cTn>
                                        <p:tgtEl>
                                          <p:spTgt spid="32778"/>
                                        </p:tgtEl>
                                        <p:attrNameLst>
                                          <p:attrName>style.visibility</p:attrName>
                                        </p:attrNameLst>
                                      </p:cBhvr>
                                      <p:to>
                                        <p:strVal val="visible"/>
                                      </p:to>
                                    </p:set>
                                    <p:animEffect transition="in" filter="dissolve">
                                      <p:cBhvr>
                                        <p:cTn id="13" dur="500"/>
                                        <p:tgtEl>
                                          <p:spTgt spid="32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2" grpId="0" animBg="1"/>
      <p:bldP spid="32778"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s-ES" altLang="es-PE" smtClean="0"/>
              <a:t>MODELOS CAUSALES</a:t>
            </a:r>
          </a:p>
        </p:txBody>
      </p:sp>
      <p:sp>
        <p:nvSpPr>
          <p:cNvPr id="32771" name="Text Box 3"/>
          <p:cNvSpPr txBox="1">
            <a:spLocks noChangeArrowheads="1"/>
          </p:cNvSpPr>
          <p:nvPr/>
        </p:nvSpPr>
        <p:spPr bwMode="auto">
          <a:xfrm>
            <a:off x="2855914" y="1844676"/>
            <a:ext cx="6696075"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sz="2000" dirty="0">
                <a:latin typeface="Tahoma" panose="020B0604030504040204" pitchFamily="34" charset="0"/>
              </a:rPr>
              <a:t>Modelos econométricos</a:t>
            </a:r>
          </a:p>
          <a:p>
            <a:pPr eaLnBrk="1" hangingPunct="1">
              <a:spcBef>
                <a:spcPct val="50000"/>
              </a:spcBef>
            </a:pPr>
            <a:r>
              <a:rPr lang="es-ES" altLang="es-PE" sz="2000" dirty="0">
                <a:latin typeface="Tahoma" panose="020B0604030504040204" pitchFamily="34" charset="0"/>
              </a:rPr>
              <a:t>“Es un sistema de ecuaciones estadísticas que interrelacionan a las actividades de diferentes sectores de la economía y ayudan a evaluar la repercusión sobre la </a:t>
            </a:r>
            <a:r>
              <a:rPr lang="es-ES" altLang="es-PE" sz="2000" dirty="0" smtClean="0">
                <a:latin typeface="Tahoma" panose="020B0604030504040204" pitchFamily="34" charset="0"/>
              </a:rPr>
              <a:t>proyección </a:t>
            </a:r>
            <a:r>
              <a:rPr lang="es-ES" altLang="es-PE" sz="2000" dirty="0">
                <a:latin typeface="Tahoma" panose="020B0604030504040204" pitchFamily="34" charset="0"/>
              </a:rPr>
              <a:t>de un producto o servicio. Es una prolongación del análisis de regresión”</a:t>
            </a:r>
          </a:p>
        </p:txBody>
      </p:sp>
      <p:sp>
        <p:nvSpPr>
          <p:cNvPr id="32772" name="Rectangle 32"/>
          <p:cNvSpPr>
            <a:spLocks noChangeArrowheads="1"/>
          </p:cNvSpPr>
          <p:nvPr/>
        </p:nvSpPr>
        <p:spPr bwMode="auto">
          <a:xfrm>
            <a:off x="1524001" y="300144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MX" altLang="es-PE"/>
          </a:p>
        </p:txBody>
      </p:sp>
    </p:spTree>
    <p:extLst>
      <p:ext uri="{BB962C8B-B14F-4D97-AF65-F5344CB8AC3E}">
        <p14:creationId xmlns:p14="http://schemas.microsoft.com/office/powerpoint/2010/main" val="1918674310"/>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s-ES" altLang="es-PE" sz="3200"/>
              <a:t>MODELOS DE SERIES DE TIEMPO</a:t>
            </a:r>
          </a:p>
        </p:txBody>
      </p:sp>
      <p:sp>
        <p:nvSpPr>
          <p:cNvPr id="34819" name="Text Box 3"/>
          <p:cNvSpPr txBox="1">
            <a:spLocks noChangeArrowheads="1"/>
          </p:cNvSpPr>
          <p:nvPr/>
        </p:nvSpPr>
        <p:spPr bwMode="auto">
          <a:xfrm>
            <a:off x="2855913" y="1844676"/>
            <a:ext cx="4392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sz="2000">
                <a:latin typeface="Tahoma" panose="020B0604030504040204" pitchFamily="34" charset="0"/>
              </a:rPr>
              <a:t>Modelos de series de tiempo</a:t>
            </a:r>
          </a:p>
        </p:txBody>
      </p:sp>
      <p:sp>
        <p:nvSpPr>
          <p:cNvPr id="34820" name="Text Box 9"/>
          <p:cNvSpPr txBox="1">
            <a:spLocks noChangeArrowheads="1"/>
          </p:cNvSpPr>
          <p:nvPr/>
        </p:nvSpPr>
        <p:spPr bwMode="auto">
          <a:xfrm>
            <a:off x="3000376" y="2695576"/>
            <a:ext cx="60483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sz="2000"/>
              <a:t>Se refiere a la medición de valores de una variable en el tiempo a intervalos espaciados uniformemente</a:t>
            </a:r>
            <a:endParaRPr lang="es-ES" altLang="es-PE" sz="2000" baseline="30000"/>
          </a:p>
        </p:txBody>
      </p:sp>
      <p:sp>
        <p:nvSpPr>
          <p:cNvPr id="34821" name="Text Box 36"/>
          <p:cNvSpPr txBox="1">
            <a:spLocks noChangeArrowheads="1"/>
          </p:cNvSpPr>
          <p:nvPr/>
        </p:nvSpPr>
        <p:spPr bwMode="auto">
          <a:xfrm>
            <a:off x="3000376" y="4221164"/>
            <a:ext cx="604837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sz="2000"/>
              <a:t>Objetivo: determinar un patrón básico en el comportamiento que posibilite la proyección futura de la variable deseada (en base a la información histórica).</a:t>
            </a:r>
            <a:endParaRPr lang="es-ES" altLang="es-PE" sz="2000" baseline="30000"/>
          </a:p>
        </p:txBody>
      </p:sp>
    </p:spTree>
    <p:extLst>
      <p:ext uri="{BB962C8B-B14F-4D97-AF65-F5344CB8AC3E}">
        <p14:creationId xmlns:p14="http://schemas.microsoft.com/office/powerpoint/2010/main" val="1062495136"/>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s-ES" altLang="es-PE" sz="3200"/>
              <a:t>MODELOS DE SERIES DE TIEMPO</a:t>
            </a:r>
          </a:p>
        </p:txBody>
      </p:sp>
      <p:sp>
        <p:nvSpPr>
          <p:cNvPr id="35843" name="Line 13"/>
          <p:cNvSpPr>
            <a:spLocks noChangeShapeType="1"/>
          </p:cNvSpPr>
          <p:nvPr/>
        </p:nvSpPr>
        <p:spPr bwMode="auto">
          <a:xfrm flipH="1" flipV="1">
            <a:off x="7319963" y="2708276"/>
            <a:ext cx="0" cy="15843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35844" name="Line 14"/>
          <p:cNvSpPr>
            <a:spLocks noChangeShapeType="1"/>
          </p:cNvSpPr>
          <p:nvPr/>
        </p:nvSpPr>
        <p:spPr bwMode="auto">
          <a:xfrm>
            <a:off x="7319964" y="4294188"/>
            <a:ext cx="17287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35845" name="Line 15"/>
          <p:cNvSpPr>
            <a:spLocks noChangeShapeType="1"/>
          </p:cNvSpPr>
          <p:nvPr/>
        </p:nvSpPr>
        <p:spPr bwMode="auto">
          <a:xfrm flipV="1">
            <a:off x="7319964" y="3284538"/>
            <a:ext cx="1728787" cy="647700"/>
          </a:xfrm>
          <a:prstGeom prst="line">
            <a:avLst/>
          </a:prstGeom>
          <a:noFill/>
          <a:ln w="9525">
            <a:solidFill>
              <a:srgbClr val="0033CC"/>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35846" name="Text Box 16"/>
          <p:cNvSpPr txBox="1">
            <a:spLocks noChangeArrowheads="1"/>
          </p:cNvSpPr>
          <p:nvPr/>
        </p:nvSpPr>
        <p:spPr bwMode="auto">
          <a:xfrm>
            <a:off x="9048751" y="4221163"/>
            <a:ext cx="2889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a:t>X</a:t>
            </a:r>
          </a:p>
        </p:txBody>
      </p:sp>
      <p:sp>
        <p:nvSpPr>
          <p:cNvPr id="35847" name="Text Box 17"/>
          <p:cNvSpPr txBox="1">
            <a:spLocks noChangeArrowheads="1"/>
          </p:cNvSpPr>
          <p:nvPr/>
        </p:nvSpPr>
        <p:spPr bwMode="auto">
          <a:xfrm>
            <a:off x="7032626" y="2492376"/>
            <a:ext cx="2889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a:t>Y</a:t>
            </a:r>
          </a:p>
        </p:txBody>
      </p:sp>
      <p:sp>
        <p:nvSpPr>
          <p:cNvPr id="35848" name="Text Box 18"/>
          <p:cNvSpPr txBox="1">
            <a:spLocks noChangeArrowheads="1"/>
          </p:cNvSpPr>
          <p:nvPr/>
        </p:nvSpPr>
        <p:spPr bwMode="auto">
          <a:xfrm>
            <a:off x="2566989" y="2060576"/>
            <a:ext cx="3457575"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sz="2000">
                <a:latin typeface="Tahoma" panose="020B0604030504040204" pitchFamily="34" charset="0"/>
              </a:rPr>
              <a:t>Tendencia: crecimiento o declinación en el largo plazo del valor promedio de la variable.</a:t>
            </a:r>
          </a:p>
          <a:p>
            <a:pPr eaLnBrk="1" hangingPunct="1">
              <a:spcBef>
                <a:spcPct val="50000"/>
              </a:spcBef>
            </a:pPr>
            <a:r>
              <a:rPr lang="es-ES" altLang="es-PE" sz="2000">
                <a:latin typeface="Tahoma" panose="020B0604030504040204" pitchFamily="34" charset="0"/>
              </a:rPr>
              <a:t>Su importancia: el estudio del nivel promedio de la variable a lo largo del tiempo es mejor que el estudio de esa variable en un momento específico de tiempo.</a:t>
            </a:r>
          </a:p>
        </p:txBody>
      </p:sp>
      <p:sp>
        <p:nvSpPr>
          <p:cNvPr id="35849" name="Text Box 19"/>
          <p:cNvSpPr txBox="1">
            <a:spLocks noChangeArrowheads="1"/>
          </p:cNvSpPr>
          <p:nvPr/>
        </p:nvSpPr>
        <p:spPr bwMode="auto">
          <a:xfrm>
            <a:off x="9120189" y="3284538"/>
            <a:ext cx="13684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a:t>Comp. tendencia</a:t>
            </a:r>
          </a:p>
        </p:txBody>
      </p:sp>
      <p:sp>
        <p:nvSpPr>
          <p:cNvPr id="35850" name="Line 20"/>
          <p:cNvSpPr>
            <a:spLocks noChangeShapeType="1"/>
          </p:cNvSpPr>
          <p:nvPr/>
        </p:nvSpPr>
        <p:spPr bwMode="auto">
          <a:xfrm>
            <a:off x="8975725" y="3357564"/>
            <a:ext cx="215900" cy="714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Tree>
    <p:extLst>
      <p:ext uri="{BB962C8B-B14F-4D97-AF65-F5344CB8AC3E}">
        <p14:creationId xmlns:p14="http://schemas.microsoft.com/office/powerpoint/2010/main" val="1601506542"/>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s-ES" altLang="es-PE" sz="3200"/>
              <a:t>MODELOS DE SERIES DE TIEMPO</a:t>
            </a:r>
          </a:p>
        </p:txBody>
      </p:sp>
      <p:sp>
        <p:nvSpPr>
          <p:cNvPr id="36867" name="Text Box 8"/>
          <p:cNvSpPr txBox="1">
            <a:spLocks noChangeArrowheads="1"/>
          </p:cNvSpPr>
          <p:nvPr/>
        </p:nvSpPr>
        <p:spPr bwMode="auto">
          <a:xfrm>
            <a:off x="2782889" y="2349501"/>
            <a:ext cx="3887787"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sz="2000">
                <a:latin typeface="Tahoma" panose="020B0604030504040204" pitchFamily="34" charset="0"/>
              </a:rPr>
              <a:t>Componente Cíclico: Divergencias que se da por efecto combinado de fuerzas económicas, sociales, políticas, tecnológicas, culturales y otras existentes en el mercado.</a:t>
            </a:r>
          </a:p>
          <a:p>
            <a:pPr eaLnBrk="1" hangingPunct="1">
              <a:spcBef>
                <a:spcPct val="50000"/>
              </a:spcBef>
            </a:pPr>
            <a:r>
              <a:rPr lang="es-ES" altLang="es-PE" sz="2000">
                <a:latin typeface="Tahoma" panose="020B0604030504040204" pitchFamily="34" charset="0"/>
              </a:rPr>
              <a:t>La mayoría de los ciclos no tienen patrones constantes que permitan prever su ocurrencia, magnitud y duración.</a:t>
            </a:r>
          </a:p>
        </p:txBody>
      </p:sp>
      <p:sp>
        <p:nvSpPr>
          <p:cNvPr id="36868" name="Line 11"/>
          <p:cNvSpPr>
            <a:spLocks noChangeShapeType="1"/>
          </p:cNvSpPr>
          <p:nvPr/>
        </p:nvSpPr>
        <p:spPr bwMode="auto">
          <a:xfrm>
            <a:off x="7319964" y="4481513"/>
            <a:ext cx="17287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36869" name="Line 12"/>
          <p:cNvSpPr>
            <a:spLocks noChangeShapeType="1"/>
          </p:cNvSpPr>
          <p:nvPr/>
        </p:nvSpPr>
        <p:spPr bwMode="auto">
          <a:xfrm flipV="1">
            <a:off x="7319964" y="2997200"/>
            <a:ext cx="2016125" cy="935038"/>
          </a:xfrm>
          <a:prstGeom prst="line">
            <a:avLst/>
          </a:prstGeom>
          <a:noFill/>
          <a:ln w="9525">
            <a:solidFill>
              <a:srgbClr val="0033CC"/>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36870" name="Text Box 13"/>
          <p:cNvSpPr txBox="1">
            <a:spLocks noChangeArrowheads="1"/>
          </p:cNvSpPr>
          <p:nvPr/>
        </p:nvSpPr>
        <p:spPr bwMode="auto">
          <a:xfrm>
            <a:off x="9048751" y="4408488"/>
            <a:ext cx="288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sz="1400"/>
              <a:t>X</a:t>
            </a:r>
          </a:p>
        </p:txBody>
      </p:sp>
      <p:sp>
        <p:nvSpPr>
          <p:cNvPr id="36871" name="Text Box 14"/>
          <p:cNvSpPr txBox="1">
            <a:spLocks noChangeArrowheads="1"/>
          </p:cNvSpPr>
          <p:nvPr/>
        </p:nvSpPr>
        <p:spPr bwMode="auto">
          <a:xfrm>
            <a:off x="7031039" y="2708275"/>
            <a:ext cx="288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sz="1400"/>
              <a:t>Y</a:t>
            </a:r>
          </a:p>
        </p:txBody>
      </p:sp>
      <p:sp>
        <p:nvSpPr>
          <p:cNvPr id="36872" name="Freeform 15"/>
          <p:cNvSpPr>
            <a:spLocks/>
          </p:cNvSpPr>
          <p:nvPr/>
        </p:nvSpPr>
        <p:spPr bwMode="auto">
          <a:xfrm>
            <a:off x="7319964" y="2997201"/>
            <a:ext cx="1800225" cy="1019175"/>
          </a:xfrm>
          <a:custGeom>
            <a:avLst/>
            <a:gdLst>
              <a:gd name="T0" fmla="*/ 0 w 1134"/>
              <a:gd name="T1" fmla="*/ 2147483647 h 559"/>
              <a:gd name="T2" fmla="*/ 2147483647 w 1134"/>
              <a:gd name="T3" fmla="*/ 2147483647 h 559"/>
              <a:gd name="T4" fmla="*/ 2147483647 w 1134"/>
              <a:gd name="T5" fmla="*/ 2147483647 h 559"/>
              <a:gd name="T6" fmla="*/ 2147483647 w 1134"/>
              <a:gd name="T7" fmla="*/ 2147483647 h 559"/>
              <a:gd name="T8" fmla="*/ 2147483647 w 1134"/>
              <a:gd name="T9" fmla="*/ 2147483647 h 559"/>
              <a:gd name="T10" fmla="*/ 2147483647 w 1134"/>
              <a:gd name="T11" fmla="*/ 2147483647 h 559"/>
              <a:gd name="T12" fmla="*/ 2147483647 w 1134"/>
              <a:gd name="T13" fmla="*/ 2147483647 h 559"/>
              <a:gd name="T14" fmla="*/ 2147483647 w 1134"/>
              <a:gd name="T15" fmla="*/ 2147483647 h 559"/>
              <a:gd name="T16" fmla="*/ 2147483647 w 1134"/>
              <a:gd name="T17" fmla="*/ 2147483647 h 55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34"/>
              <a:gd name="T28" fmla="*/ 0 h 559"/>
              <a:gd name="T29" fmla="*/ 1134 w 1134"/>
              <a:gd name="T30" fmla="*/ 559 h 55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34" h="559">
                <a:moveTo>
                  <a:pt x="0" y="506"/>
                </a:moveTo>
                <a:cubicBezTo>
                  <a:pt x="75" y="532"/>
                  <a:pt x="151" y="559"/>
                  <a:pt x="227" y="551"/>
                </a:cubicBezTo>
                <a:cubicBezTo>
                  <a:pt x="303" y="543"/>
                  <a:pt x="401" y="498"/>
                  <a:pt x="454" y="460"/>
                </a:cubicBezTo>
                <a:cubicBezTo>
                  <a:pt x="507" y="422"/>
                  <a:pt x="514" y="377"/>
                  <a:pt x="544" y="324"/>
                </a:cubicBezTo>
                <a:cubicBezTo>
                  <a:pt x="574" y="271"/>
                  <a:pt x="605" y="188"/>
                  <a:pt x="635" y="143"/>
                </a:cubicBezTo>
                <a:cubicBezTo>
                  <a:pt x="665" y="98"/>
                  <a:pt x="688" y="75"/>
                  <a:pt x="726" y="52"/>
                </a:cubicBezTo>
                <a:cubicBezTo>
                  <a:pt x="764" y="29"/>
                  <a:pt x="801" y="14"/>
                  <a:pt x="862" y="7"/>
                </a:cubicBezTo>
                <a:cubicBezTo>
                  <a:pt x="923" y="0"/>
                  <a:pt x="1044" y="0"/>
                  <a:pt x="1089" y="7"/>
                </a:cubicBezTo>
                <a:cubicBezTo>
                  <a:pt x="1134" y="14"/>
                  <a:pt x="1134" y="33"/>
                  <a:pt x="1134" y="52"/>
                </a:cubicBezTo>
              </a:path>
            </a:pathLst>
          </a:custGeom>
          <a:noFill/>
          <a:ln w="9525">
            <a:solidFill>
              <a:srgbClr val="CC33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BO" altLang="es-PE"/>
          </a:p>
        </p:txBody>
      </p:sp>
      <p:sp>
        <p:nvSpPr>
          <p:cNvPr id="36873" name="Text Box 16"/>
          <p:cNvSpPr txBox="1">
            <a:spLocks noChangeArrowheads="1"/>
          </p:cNvSpPr>
          <p:nvPr/>
        </p:nvSpPr>
        <p:spPr bwMode="auto">
          <a:xfrm>
            <a:off x="9010651" y="3163889"/>
            <a:ext cx="126206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sz="1600"/>
              <a:t>Comp. tendencia</a:t>
            </a:r>
          </a:p>
        </p:txBody>
      </p:sp>
      <p:sp>
        <p:nvSpPr>
          <p:cNvPr id="36874" name="Line 17"/>
          <p:cNvSpPr>
            <a:spLocks noChangeShapeType="1"/>
          </p:cNvSpPr>
          <p:nvPr/>
        </p:nvSpPr>
        <p:spPr bwMode="auto">
          <a:xfrm>
            <a:off x="9264650" y="3070225"/>
            <a:ext cx="215900" cy="714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36875" name="Text Box 18"/>
          <p:cNvSpPr txBox="1">
            <a:spLocks noChangeArrowheads="1"/>
          </p:cNvSpPr>
          <p:nvPr/>
        </p:nvSpPr>
        <p:spPr bwMode="auto">
          <a:xfrm>
            <a:off x="8543926" y="2420938"/>
            <a:ext cx="18002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sz="1600"/>
              <a:t>Comp. cíclico</a:t>
            </a:r>
          </a:p>
        </p:txBody>
      </p:sp>
      <p:sp>
        <p:nvSpPr>
          <p:cNvPr id="36876" name="Line 19"/>
          <p:cNvSpPr>
            <a:spLocks noChangeShapeType="1"/>
          </p:cNvSpPr>
          <p:nvPr/>
        </p:nvSpPr>
        <p:spPr bwMode="auto">
          <a:xfrm flipH="1">
            <a:off x="8975726" y="2781301"/>
            <a:ext cx="144463" cy="1428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36877" name="Line 20"/>
          <p:cNvSpPr>
            <a:spLocks noChangeShapeType="1"/>
          </p:cNvSpPr>
          <p:nvPr/>
        </p:nvSpPr>
        <p:spPr bwMode="auto">
          <a:xfrm flipH="1" flipV="1">
            <a:off x="7319963" y="2851150"/>
            <a:ext cx="0" cy="16573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Tree>
    <p:extLst>
      <p:ext uri="{BB962C8B-B14F-4D97-AF65-F5344CB8AC3E}">
        <p14:creationId xmlns:p14="http://schemas.microsoft.com/office/powerpoint/2010/main" val="2450311249"/>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s-ES" altLang="es-PE" sz="3200"/>
              <a:t>MODELOS DE SERIES DE TIEMPO</a:t>
            </a:r>
          </a:p>
        </p:txBody>
      </p:sp>
      <p:sp>
        <p:nvSpPr>
          <p:cNvPr id="37891" name="Line 3"/>
          <p:cNvSpPr>
            <a:spLocks noChangeShapeType="1"/>
          </p:cNvSpPr>
          <p:nvPr/>
        </p:nvSpPr>
        <p:spPr bwMode="auto">
          <a:xfrm flipH="1" flipV="1">
            <a:off x="7319963" y="2708275"/>
            <a:ext cx="0" cy="16573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37892" name="Line 4"/>
          <p:cNvSpPr>
            <a:spLocks noChangeShapeType="1"/>
          </p:cNvSpPr>
          <p:nvPr/>
        </p:nvSpPr>
        <p:spPr bwMode="auto">
          <a:xfrm>
            <a:off x="7319964" y="4365625"/>
            <a:ext cx="17287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37893" name="Line 5"/>
          <p:cNvSpPr>
            <a:spLocks noChangeShapeType="1"/>
          </p:cNvSpPr>
          <p:nvPr/>
        </p:nvSpPr>
        <p:spPr bwMode="auto">
          <a:xfrm flipV="1">
            <a:off x="7319964" y="2997200"/>
            <a:ext cx="2016125" cy="935038"/>
          </a:xfrm>
          <a:prstGeom prst="line">
            <a:avLst/>
          </a:prstGeom>
          <a:noFill/>
          <a:ln w="9525">
            <a:solidFill>
              <a:srgbClr val="0033CC"/>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37894" name="Text Box 6"/>
          <p:cNvSpPr txBox="1">
            <a:spLocks noChangeArrowheads="1"/>
          </p:cNvSpPr>
          <p:nvPr/>
        </p:nvSpPr>
        <p:spPr bwMode="auto">
          <a:xfrm>
            <a:off x="9048751" y="4292601"/>
            <a:ext cx="2889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sz="1000"/>
              <a:t>X</a:t>
            </a:r>
          </a:p>
        </p:txBody>
      </p:sp>
      <p:sp>
        <p:nvSpPr>
          <p:cNvPr id="37895" name="Text Box 7"/>
          <p:cNvSpPr txBox="1">
            <a:spLocks noChangeArrowheads="1"/>
          </p:cNvSpPr>
          <p:nvPr/>
        </p:nvSpPr>
        <p:spPr bwMode="auto">
          <a:xfrm>
            <a:off x="7032626" y="2708276"/>
            <a:ext cx="2889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sz="1000"/>
              <a:t>Y</a:t>
            </a:r>
          </a:p>
        </p:txBody>
      </p:sp>
      <p:sp>
        <p:nvSpPr>
          <p:cNvPr id="37896" name="Text Box 8"/>
          <p:cNvSpPr txBox="1">
            <a:spLocks noChangeArrowheads="1"/>
          </p:cNvSpPr>
          <p:nvPr/>
        </p:nvSpPr>
        <p:spPr bwMode="auto">
          <a:xfrm>
            <a:off x="2782889" y="2349501"/>
            <a:ext cx="3887787"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sz="2000">
                <a:latin typeface="Tahoma" panose="020B0604030504040204" pitchFamily="34" charset="0"/>
              </a:rPr>
              <a:t>Componente Estacionario: Exhiben fluctuaciones que se repiten en forma periódica y que normalmente dependen de factores como el clima, la tradición, etc.</a:t>
            </a:r>
          </a:p>
        </p:txBody>
      </p:sp>
      <p:sp>
        <p:nvSpPr>
          <p:cNvPr id="37897" name="Freeform 9"/>
          <p:cNvSpPr>
            <a:spLocks/>
          </p:cNvSpPr>
          <p:nvPr/>
        </p:nvSpPr>
        <p:spPr bwMode="auto">
          <a:xfrm>
            <a:off x="7319964" y="2997201"/>
            <a:ext cx="1800225" cy="1019175"/>
          </a:xfrm>
          <a:custGeom>
            <a:avLst/>
            <a:gdLst>
              <a:gd name="T0" fmla="*/ 0 w 1134"/>
              <a:gd name="T1" fmla="*/ 2147483647 h 559"/>
              <a:gd name="T2" fmla="*/ 2147483647 w 1134"/>
              <a:gd name="T3" fmla="*/ 2147483647 h 559"/>
              <a:gd name="T4" fmla="*/ 2147483647 w 1134"/>
              <a:gd name="T5" fmla="*/ 2147483647 h 559"/>
              <a:gd name="T6" fmla="*/ 2147483647 w 1134"/>
              <a:gd name="T7" fmla="*/ 2147483647 h 559"/>
              <a:gd name="T8" fmla="*/ 2147483647 w 1134"/>
              <a:gd name="T9" fmla="*/ 2147483647 h 559"/>
              <a:gd name="T10" fmla="*/ 2147483647 w 1134"/>
              <a:gd name="T11" fmla="*/ 2147483647 h 559"/>
              <a:gd name="T12" fmla="*/ 2147483647 w 1134"/>
              <a:gd name="T13" fmla="*/ 2147483647 h 559"/>
              <a:gd name="T14" fmla="*/ 2147483647 w 1134"/>
              <a:gd name="T15" fmla="*/ 2147483647 h 559"/>
              <a:gd name="T16" fmla="*/ 2147483647 w 1134"/>
              <a:gd name="T17" fmla="*/ 2147483647 h 55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34"/>
              <a:gd name="T28" fmla="*/ 0 h 559"/>
              <a:gd name="T29" fmla="*/ 1134 w 1134"/>
              <a:gd name="T30" fmla="*/ 559 h 55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34" h="559">
                <a:moveTo>
                  <a:pt x="0" y="506"/>
                </a:moveTo>
                <a:cubicBezTo>
                  <a:pt x="75" y="532"/>
                  <a:pt x="151" y="559"/>
                  <a:pt x="227" y="551"/>
                </a:cubicBezTo>
                <a:cubicBezTo>
                  <a:pt x="303" y="543"/>
                  <a:pt x="401" y="498"/>
                  <a:pt x="454" y="460"/>
                </a:cubicBezTo>
                <a:cubicBezTo>
                  <a:pt x="507" y="422"/>
                  <a:pt x="514" y="377"/>
                  <a:pt x="544" y="324"/>
                </a:cubicBezTo>
                <a:cubicBezTo>
                  <a:pt x="574" y="271"/>
                  <a:pt x="605" y="188"/>
                  <a:pt x="635" y="143"/>
                </a:cubicBezTo>
                <a:cubicBezTo>
                  <a:pt x="665" y="98"/>
                  <a:pt x="688" y="75"/>
                  <a:pt x="726" y="52"/>
                </a:cubicBezTo>
                <a:cubicBezTo>
                  <a:pt x="764" y="29"/>
                  <a:pt x="801" y="14"/>
                  <a:pt x="862" y="7"/>
                </a:cubicBezTo>
                <a:cubicBezTo>
                  <a:pt x="923" y="0"/>
                  <a:pt x="1044" y="0"/>
                  <a:pt x="1089" y="7"/>
                </a:cubicBezTo>
                <a:cubicBezTo>
                  <a:pt x="1134" y="14"/>
                  <a:pt x="1134" y="33"/>
                  <a:pt x="1134" y="52"/>
                </a:cubicBezTo>
              </a:path>
            </a:pathLst>
          </a:custGeom>
          <a:noFill/>
          <a:ln w="9525">
            <a:solidFill>
              <a:srgbClr val="CC33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BO" altLang="es-PE"/>
          </a:p>
        </p:txBody>
      </p:sp>
      <p:sp>
        <p:nvSpPr>
          <p:cNvPr id="37898" name="Freeform 11"/>
          <p:cNvSpPr>
            <a:spLocks/>
          </p:cNvSpPr>
          <p:nvPr/>
        </p:nvSpPr>
        <p:spPr bwMode="auto">
          <a:xfrm>
            <a:off x="7391400" y="2684464"/>
            <a:ext cx="1727200" cy="1501775"/>
          </a:xfrm>
          <a:custGeom>
            <a:avLst/>
            <a:gdLst>
              <a:gd name="T0" fmla="*/ 0 w 1088"/>
              <a:gd name="T1" fmla="*/ 2147483647 h 946"/>
              <a:gd name="T2" fmla="*/ 2147483647 w 1088"/>
              <a:gd name="T3" fmla="*/ 2147483647 h 946"/>
              <a:gd name="T4" fmla="*/ 2147483647 w 1088"/>
              <a:gd name="T5" fmla="*/ 2147483647 h 946"/>
              <a:gd name="T6" fmla="*/ 2147483647 w 1088"/>
              <a:gd name="T7" fmla="*/ 2147483647 h 946"/>
              <a:gd name="T8" fmla="*/ 2147483647 w 1088"/>
              <a:gd name="T9" fmla="*/ 2147483647 h 946"/>
              <a:gd name="T10" fmla="*/ 2147483647 w 1088"/>
              <a:gd name="T11" fmla="*/ 2147483647 h 946"/>
              <a:gd name="T12" fmla="*/ 2147483647 w 1088"/>
              <a:gd name="T13" fmla="*/ 2147483647 h 946"/>
              <a:gd name="T14" fmla="*/ 2147483647 w 1088"/>
              <a:gd name="T15" fmla="*/ 2147483647 h 946"/>
              <a:gd name="T16" fmla="*/ 2147483647 w 1088"/>
              <a:gd name="T17" fmla="*/ 2147483647 h 946"/>
              <a:gd name="T18" fmla="*/ 2147483647 w 1088"/>
              <a:gd name="T19" fmla="*/ 2147483647 h 946"/>
              <a:gd name="T20" fmla="*/ 2147483647 w 1088"/>
              <a:gd name="T21" fmla="*/ 2147483647 h 946"/>
              <a:gd name="T22" fmla="*/ 2147483647 w 1088"/>
              <a:gd name="T23" fmla="*/ 2147483647 h 946"/>
              <a:gd name="T24" fmla="*/ 2147483647 w 1088"/>
              <a:gd name="T25" fmla="*/ 2147483647 h 946"/>
              <a:gd name="T26" fmla="*/ 2147483647 w 1088"/>
              <a:gd name="T27" fmla="*/ 2147483647 h 94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88"/>
              <a:gd name="T43" fmla="*/ 0 h 946"/>
              <a:gd name="T44" fmla="*/ 1088 w 1088"/>
              <a:gd name="T45" fmla="*/ 946 h 94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88" h="946">
                <a:moveTo>
                  <a:pt x="0" y="787"/>
                </a:moveTo>
                <a:cubicBezTo>
                  <a:pt x="49" y="843"/>
                  <a:pt x="98" y="900"/>
                  <a:pt x="136" y="923"/>
                </a:cubicBezTo>
                <a:cubicBezTo>
                  <a:pt x="174" y="946"/>
                  <a:pt x="204" y="946"/>
                  <a:pt x="227" y="923"/>
                </a:cubicBezTo>
                <a:cubicBezTo>
                  <a:pt x="250" y="900"/>
                  <a:pt x="265" y="832"/>
                  <a:pt x="272" y="787"/>
                </a:cubicBezTo>
                <a:cubicBezTo>
                  <a:pt x="279" y="742"/>
                  <a:pt x="257" y="680"/>
                  <a:pt x="272" y="650"/>
                </a:cubicBezTo>
                <a:cubicBezTo>
                  <a:pt x="287" y="620"/>
                  <a:pt x="333" y="612"/>
                  <a:pt x="363" y="605"/>
                </a:cubicBezTo>
                <a:cubicBezTo>
                  <a:pt x="393" y="598"/>
                  <a:pt x="415" y="598"/>
                  <a:pt x="453" y="605"/>
                </a:cubicBezTo>
                <a:cubicBezTo>
                  <a:pt x="491" y="612"/>
                  <a:pt x="552" y="657"/>
                  <a:pt x="590" y="650"/>
                </a:cubicBezTo>
                <a:cubicBezTo>
                  <a:pt x="628" y="643"/>
                  <a:pt x="665" y="613"/>
                  <a:pt x="680" y="560"/>
                </a:cubicBezTo>
                <a:cubicBezTo>
                  <a:pt x="695" y="507"/>
                  <a:pt x="672" y="424"/>
                  <a:pt x="680" y="333"/>
                </a:cubicBezTo>
                <a:cubicBezTo>
                  <a:pt x="688" y="242"/>
                  <a:pt x="688" y="30"/>
                  <a:pt x="726" y="15"/>
                </a:cubicBezTo>
                <a:cubicBezTo>
                  <a:pt x="764" y="0"/>
                  <a:pt x="862" y="197"/>
                  <a:pt x="907" y="242"/>
                </a:cubicBezTo>
                <a:cubicBezTo>
                  <a:pt x="952" y="287"/>
                  <a:pt x="968" y="303"/>
                  <a:pt x="998" y="288"/>
                </a:cubicBezTo>
                <a:cubicBezTo>
                  <a:pt x="1028" y="273"/>
                  <a:pt x="1058" y="212"/>
                  <a:pt x="1088" y="151"/>
                </a:cubicBezTo>
              </a:path>
            </a:pathLst>
          </a:custGeom>
          <a:noFill/>
          <a:ln w="9525">
            <a:solidFill>
              <a:srgbClr val="33CC33"/>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BO" altLang="es-PE"/>
          </a:p>
        </p:txBody>
      </p:sp>
      <p:sp>
        <p:nvSpPr>
          <p:cNvPr id="37899" name="Text Box 12"/>
          <p:cNvSpPr txBox="1">
            <a:spLocks noChangeArrowheads="1"/>
          </p:cNvSpPr>
          <p:nvPr/>
        </p:nvSpPr>
        <p:spPr bwMode="auto">
          <a:xfrm>
            <a:off x="9175751" y="3135314"/>
            <a:ext cx="131286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sz="1600"/>
              <a:t>Comp. tendencia</a:t>
            </a:r>
          </a:p>
        </p:txBody>
      </p:sp>
      <p:sp>
        <p:nvSpPr>
          <p:cNvPr id="37900" name="Line 13"/>
          <p:cNvSpPr>
            <a:spLocks noChangeShapeType="1"/>
          </p:cNvSpPr>
          <p:nvPr/>
        </p:nvSpPr>
        <p:spPr bwMode="auto">
          <a:xfrm>
            <a:off x="9264650" y="3070225"/>
            <a:ext cx="215900" cy="714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37901" name="Text Box 14"/>
          <p:cNvSpPr txBox="1">
            <a:spLocks noChangeArrowheads="1"/>
          </p:cNvSpPr>
          <p:nvPr/>
        </p:nvSpPr>
        <p:spPr bwMode="auto">
          <a:xfrm>
            <a:off x="8545513" y="2371725"/>
            <a:ext cx="18716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sz="1600"/>
              <a:t>Comp. cíclico</a:t>
            </a:r>
          </a:p>
        </p:txBody>
      </p:sp>
      <p:sp>
        <p:nvSpPr>
          <p:cNvPr id="37902" name="Line 15"/>
          <p:cNvSpPr>
            <a:spLocks noChangeShapeType="1"/>
          </p:cNvSpPr>
          <p:nvPr/>
        </p:nvSpPr>
        <p:spPr bwMode="auto">
          <a:xfrm flipH="1">
            <a:off x="8975726" y="2781301"/>
            <a:ext cx="144463" cy="1428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37903" name="Text Box 16"/>
          <p:cNvSpPr txBox="1">
            <a:spLocks noChangeArrowheads="1"/>
          </p:cNvSpPr>
          <p:nvPr/>
        </p:nvSpPr>
        <p:spPr bwMode="auto">
          <a:xfrm>
            <a:off x="8075613" y="3789364"/>
            <a:ext cx="17653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sz="1600"/>
              <a:t>Comp. estacional</a:t>
            </a:r>
          </a:p>
        </p:txBody>
      </p:sp>
      <p:sp>
        <p:nvSpPr>
          <p:cNvPr id="37904" name="Line 17"/>
          <p:cNvSpPr>
            <a:spLocks noChangeShapeType="1"/>
          </p:cNvSpPr>
          <p:nvPr/>
        </p:nvSpPr>
        <p:spPr bwMode="auto">
          <a:xfrm flipH="1" flipV="1">
            <a:off x="7824789" y="4076701"/>
            <a:ext cx="142875" cy="730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Tree>
    <p:extLst>
      <p:ext uri="{BB962C8B-B14F-4D97-AF65-F5344CB8AC3E}">
        <p14:creationId xmlns:p14="http://schemas.microsoft.com/office/powerpoint/2010/main" val="2036901024"/>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s-ES" altLang="es-PE" smtClean="0"/>
              <a:t>MODELOS DE ENCUESTAS</a:t>
            </a:r>
          </a:p>
        </p:txBody>
      </p:sp>
      <p:sp>
        <p:nvSpPr>
          <p:cNvPr id="48131" name="Rectangle 3"/>
          <p:cNvSpPr>
            <a:spLocks noChangeArrowheads="1"/>
          </p:cNvSpPr>
          <p:nvPr/>
        </p:nvSpPr>
        <p:spPr bwMode="auto">
          <a:xfrm>
            <a:off x="1524001" y="29395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MX" altLang="es-PE"/>
          </a:p>
        </p:txBody>
      </p:sp>
      <p:sp>
        <p:nvSpPr>
          <p:cNvPr id="48132" name="Rectangle 4"/>
          <p:cNvSpPr>
            <a:spLocks noChangeArrowheads="1"/>
          </p:cNvSpPr>
          <p:nvPr/>
        </p:nvSpPr>
        <p:spPr bwMode="auto">
          <a:xfrm>
            <a:off x="1524001" y="288238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MX" altLang="es-PE">
              <a:latin typeface="Arial" panose="020B0604020202020204" pitchFamily="34" charset="0"/>
            </a:endParaRPr>
          </a:p>
        </p:txBody>
      </p:sp>
      <p:sp>
        <p:nvSpPr>
          <p:cNvPr id="48133" name="Rectangle 5"/>
          <p:cNvSpPr>
            <a:spLocks noChangeArrowheads="1"/>
          </p:cNvSpPr>
          <p:nvPr/>
        </p:nvSpPr>
        <p:spPr bwMode="auto">
          <a:xfrm>
            <a:off x="1524001" y="383488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MX" altLang="es-PE"/>
          </a:p>
        </p:txBody>
      </p:sp>
      <p:sp>
        <p:nvSpPr>
          <p:cNvPr id="48134" name="Rectangle 6"/>
          <p:cNvSpPr>
            <a:spLocks noChangeArrowheads="1"/>
          </p:cNvSpPr>
          <p:nvPr/>
        </p:nvSpPr>
        <p:spPr bwMode="auto">
          <a:xfrm>
            <a:off x="1524001" y="284904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MX" altLang="es-PE"/>
          </a:p>
        </p:txBody>
      </p:sp>
      <p:sp>
        <p:nvSpPr>
          <p:cNvPr id="48135" name="Text Box 7"/>
          <p:cNvSpPr txBox="1">
            <a:spLocks noChangeArrowheads="1"/>
          </p:cNvSpPr>
          <p:nvPr/>
        </p:nvSpPr>
        <p:spPr bwMode="auto">
          <a:xfrm>
            <a:off x="3216276" y="1844676"/>
            <a:ext cx="66960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sz="2000"/>
              <a:t>Encuesta: es la investigación efectuada a base de preguntas a una persona entrevistada.</a:t>
            </a:r>
          </a:p>
        </p:txBody>
      </p:sp>
      <p:sp>
        <p:nvSpPr>
          <p:cNvPr id="48136" name="Rectangle 9"/>
          <p:cNvSpPr>
            <a:spLocks noChangeArrowheads="1"/>
          </p:cNvSpPr>
          <p:nvPr/>
        </p:nvSpPr>
        <p:spPr bwMode="auto">
          <a:xfrm>
            <a:off x="1524001" y="287762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MX" altLang="es-PE"/>
          </a:p>
        </p:txBody>
      </p:sp>
      <p:sp>
        <p:nvSpPr>
          <p:cNvPr id="48137" name="Rectangle 10"/>
          <p:cNvSpPr>
            <a:spLocks noChangeArrowheads="1"/>
          </p:cNvSpPr>
          <p:nvPr/>
        </p:nvSpPr>
        <p:spPr bwMode="auto">
          <a:xfrm>
            <a:off x="1524001" y="287762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s-MX" altLang="es-PE"/>
          </a:p>
        </p:txBody>
      </p:sp>
      <p:sp>
        <p:nvSpPr>
          <p:cNvPr id="48138" name="Text Box 12"/>
          <p:cNvSpPr txBox="1">
            <a:spLocks noChangeArrowheads="1"/>
          </p:cNvSpPr>
          <p:nvPr/>
        </p:nvSpPr>
        <p:spPr bwMode="auto">
          <a:xfrm>
            <a:off x="4800600" y="3232151"/>
            <a:ext cx="15128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50000"/>
              </a:spcBef>
            </a:pPr>
            <a:r>
              <a:rPr lang="es-ES" altLang="es-PE" sz="2000"/>
              <a:t>Encuesta</a:t>
            </a:r>
          </a:p>
        </p:txBody>
      </p:sp>
      <p:sp>
        <p:nvSpPr>
          <p:cNvPr id="48139" name="Text Box 13"/>
          <p:cNvSpPr txBox="1">
            <a:spLocks noChangeArrowheads="1"/>
          </p:cNvSpPr>
          <p:nvPr/>
        </p:nvSpPr>
        <p:spPr bwMode="auto">
          <a:xfrm>
            <a:off x="3287714" y="4071939"/>
            <a:ext cx="15827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ctr" eaLnBrk="1" hangingPunct="1">
              <a:spcBef>
                <a:spcPct val="50000"/>
              </a:spcBef>
            </a:pPr>
            <a:r>
              <a:rPr lang="es-ES" altLang="es-PE" sz="2000"/>
              <a:t>Tiempo variable</a:t>
            </a:r>
          </a:p>
        </p:txBody>
      </p:sp>
      <p:sp>
        <p:nvSpPr>
          <p:cNvPr id="48140" name="Text Box 14"/>
          <p:cNvSpPr txBox="1">
            <a:spLocks noChangeArrowheads="1"/>
          </p:cNvSpPr>
          <p:nvPr/>
        </p:nvSpPr>
        <p:spPr bwMode="auto">
          <a:xfrm>
            <a:off x="5519739" y="4071939"/>
            <a:ext cx="24479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ctr" eaLnBrk="1" hangingPunct="1">
              <a:spcBef>
                <a:spcPct val="50000"/>
              </a:spcBef>
            </a:pPr>
            <a:r>
              <a:rPr lang="es-ES" altLang="es-PE" sz="2000"/>
              <a:t>Tiempo constante o instantánea</a:t>
            </a:r>
          </a:p>
        </p:txBody>
      </p:sp>
      <p:sp>
        <p:nvSpPr>
          <p:cNvPr id="48141" name="Line 15"/>
          <p:cNvSpPr>
            <a:spLocks noChangeShapeType="1"/>
          </p:cNvSpPr>
          <p:nvPr/>
        </p:nvSpPr>
        <p:spPr bwMode="auto">
          <a:xfrm flipH="1">
            <a:off x="4511676" y="3640138"/>
            <a:ext cx="576263"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48142" name="Line 16"/>
          <p:cNvSpPr>
            <a:spLocks noChangeShapeType="1"/>
          </p:cNvSpPr>
          <p:nvPr/>
        </p:nvSpPr>
        <p:spPr bwMode="auto">
          <a:xfrm>
            <a:off x="5880101" y="3640138"/>
            <a:ext cx="360363" cy="3603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Tree>
    <p:extLst>
      <p:ext uri="{BB962C8B-B14F-4D97-AF65-F5344CB8AC3E}">
        <p14:creationId xmlns:p14="http://schemas.microsoft.com/office/powerpoint/2010/main" val="2485823841"/>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Ejemplo</a:t>
            </a:r>
            <a:endParaRPr lang="es-PE" dirty="0"/>
          </a:p>
        </p:txBody>
      </p:sp>
      <p:graphicFrame>
        <p:nvGraphicFramePr>
          <p:cNvPr id="4" name="Tabla 3"/>
          <p:cNvGraphicFramePr>
            <a:graphicFrameLocks noGrp="1"/>
          </p:cNvGraphicFramePr>
          <p:nvPr>
            <p:extLst>
              <p:ext uri="{D42A27DB-BD31-4B8C-83A1-F6EECF244321}">
                <p14:modId xmlns:p14="http://schemas.microsoft.com/office/powerpoint/2010/main" val="456163262"/>
              </p:ext>
            </p:extLst>
          </p:nvPr>
        </p:nvGraphicFramePr>
        <p:xfrm>
          <a:off x="7339911" y="2528542"/>
          <a:ext cx="4572002" cy="4138475"/>
        </p:xfrm>
        <a:graphic>
          <a:graphicData uri="http://schemas.openxmlformats.org/drawingml/2006/table">
            <a:tbl>
              <a:tblPr>
                <a:tableStyleId>{5C22544A-7EE6-4342-B048-85BDC9FD1C3A}</a:tableStyleId>
              </a:tblPr>
              <a:tblGrid>
                <a:gridCol w="2286001">
                  <a:extLst>
                    <a:ext uri="{9D8B030D-6E8A-4147-A177-3AD203B41FA5}">
                      <a16:colId xmlns:a16="http://schemas.microsoft.com/office/drawing/2014/main" val="2675152692"/>
                    </a:ext>
                  </a:extLst>
                </a:gridCol>
                <a:gridCol w="2286001">
                  <a:extLst>
                    <a:ext uri="{9D8B030D-6E8A-4147-A177-3AD203B41FA5}">
                      <a16:colId xmlns:a16="http://schemas.microsoft.com/office/drawing/2014/main" val="4129297339"/>
                    </a:ext>
                  </a:extLst>
                </a:gridCol>
              </a:tblGrid>
              <a:tr h="0">
                <a:tc>
                  <a:txBody>
                    <a:bodyPr/>
                    <a:lstStyle/>
                    <a:p>
                      <a:pPr algn="ctr" fontAlgn="b"/>
                      <a:r>
                        <a:rPr lang="es-PE" sz="2400" u="none" strike="noStrike" dirty="0">
                          <a:effectLst/>
                        </a:rPr>
                        <a:t>x</a:t>
                      </a:r>
                      <a:endParaRPr lang="es-PE" sz="2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a:effectLst/>
                        </a:rPr>
                        <a:t>y</a:t>
                      </a:r>
                      <a:endParaRPr lang="es-PE" sz="24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20712352"/>
                  </a:ext>
                </a:extLst>
              </a:tr>
              <a:tr h="376319">
                <a:tc>
                  <a:txBody>
                    <a:bodyPr/>
                    <a:lstStyle/>
                    <a:p>
                      <a:pPr algn="ctr" fontAlgn="b"/>
                      <a:r>
                        <a:rPr lang="es-PE" sz="2400" u="none" strike="noStrike" dirty="0">
                          <a:effectLst/>
                        </a:rPr>
                        <a:t>1</a:t>
                      </a:r>
                      <a:endParaRPr lang="es-PE" sz="2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a:effectLst/>
                        </a:rPr>
                        <a:t>1.0</a:t>
                      </a:r>
                      <a:endParaRPr lang="es-PE" sz="2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52578426"/>
                  </a:ext>
                </a:extLst>
              </a:tr>
              <a:tr h="376319">
                <a:tc>
                  <a:txBody>
                    <a:bodyPr/>
                    <a:lstStyle/>
                    <a:p>
                      <a:pPr algn="ctr" fontAlgn="b"/>
                      <a:r>
                        <a:rPr lang="es-PE" sz="2400" u="none" strike="noStrike" dirty="0">
                          <a:effectLst/>
                        </a:rPr>
                        <a:t>2</a:t>
                      </a:r>
                      <a:endParaRPr lang="es-PE" sz="2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dirty="0">
                          <a:effectLst/>
                        </a:rPr>
                        <a:t>3.5</a:t>
                      </a:r>
                      <a:endParaRPr lang="es-PE" sz="2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40862851"/>
                  </a:ext>
                </a:extLst>
              </a:tr>
              <a:tr h="376319">
                <a:tc>
                  <a:txBody>
                    <a:bodyPr/>
                    <a:lstStyle/>
                    <a:p>
                      <a:pPr algn="ctr" fontAlgn="b"/>
                      <a:r>
                        <a:rPr lang="es-PE" sz="2400" u="none" strike="noStrike">
                          <a:effectLst/>
                        </a:rPr>
                        <a:t>3</a:t>
                      </a:r>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dirty="0">
                          <a:effectLst/>
                        </a:rPr>
                        <a:t>4.5</a:t>
                      </a:r>
                      <a:endParaRPr lang="es-PE" sz="2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67153515"/>
                  </a:ext>
                </a:extLst>
              </a:tr>
              <a:tr h="376319">
                <a:tc>
                  <a:txBody>
                    <a:bodyPr/>
                    <a:lstStyle/>
                    <a:p>
                      <a:pPr algn="ctr" fontAlgn="b"/>
                      <a:r>
                        <a:rPr lang="es-PE" sz="2400" u="none" strike="noStrike">
                          <a:effectLst/>
                        </a:rPr>
                        <a:t>4</a:t>
                      </a:r>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dirty="0">
                          <a:effectLst/>
                        </a:rPr>
                        <a:t>5.0</a:t>
                      </a:r>
                      <a:endParaRPr lang="es-PE" sz="2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91009089"/>
                  </a:ext>
                </a:extLst>
              </a:tr>
              <a:tr h="376319">
                <a:tc>
                  <a:txBody>
                    <a:bodyPr/>
                    <a:lstStyle/>
                    <a:p>
                      <a:pPr algn="ctr" fontAlgn="b"/>
                      <a:r>
                        <a:rPr lang="es-PE" sz="2400" u="none" strike="noStrike">
                          <a:effectLst/>
                        </a:rPr>
                        <a:t>5</a:t>
                      </a:r>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dirty="0">
                          <a:effectLst/>
                        </a:rPr>
                        <a:t>5.5</a:t>
                      </a:r>
                      <a:endParaRPr lang="es-PE" sz="2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59203811"/>
                  </a:ext>
                </a:extLst>
              </a:tr>
              <a:tr h="376319">
                <a:tc>
                  <a:txBody>
                    <a:bodyPr/>
                    <a:lstStyle/>
                    <a:p>
                      <a:pPr algn="ctr" fontAlgn="b"/>
                      <a:r>
                        <a:rPr lang="es-PE" sz="2400" u="none" strike="noStrike">
                          <a:effectLst/>
                        </a:rPr>
                        <a:t>6</a:t>
                      </a:r>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dirty="0">
                          <a:effectLst/>
                        </a:rPr>
                        <a:t>5.5</a:t>
                      </a:r>
                      <a:endParaRPr lang="es-PE" sz="2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116557592"/>
                  </a:ext>
                </a:extLst>
              </a:tr>
              <a:tr h="376319">
                <a:tc>
                  <a:txBody>
                    <a:bodyPr/>
                    <a:lstStyle/>
                    <a:p>
                      <a:pPr algn="ctr" fontAlgn="b"/>
                      <a:r>
                        <a:rPr lang="es-PE" sz="2400" u="none" strike="noStrike">
                          <a:effectLst/>
                        </a:rPr>
                        <a:t>7</a:t>
                      </a:r>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dirty="0">
                          <a:effectLst/>
                        </a:rPr>
                        <a:t>6.0</a:t>
                      </a:r>
                      <a:endParaRPr lang="es-PE" sz="2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53653095"/>
                  </a:ext>
                </a:extLst>
              </a:tr>
              <a:tr h="376319">
                <a:tc>
                  <a:txBody>
                    <a:bodyPr/>
                    <a:lstStyle/>
                    <a:p>
                      <a:pPr algn="ctr" fontAlgn="b"/>
                      <a:r>
                        <a:rPr lang="es-PE" sz="2400" u="none" strike="noStrike">
                          <a:effectLst/>
                        </a:rPr>
                        <a:t>8</a:t>
                      </a:r>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dirty="0">
                          <a:effectLst/>
                        </a:rPr>
                        <a:t>6.5</a:t>
                      </a:r>
                      <a:endParaRPr lang="es-PE" sz="2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809229496"/>
                  </a:ext>
                </a:extLst>
              </a:tr>
              <a:tr h="376319">
                <a:tc>
                  <a:txBody>
                    <a:bodyPr/>
                    <a:lstStyle/>
                    <a:p>
                      <a:pPr algn="ctr" fontAlgn="b"/>
                      <a:r>
                        <a:rPr lang="es-PE" sz="2400" u="none" strike="noStrike">
                          <a:effectLst/>
                        </a:rPr>
                        <a:t>9</a:t>
                      </a:r>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dirty="0">
                          <a:effectLst/>
                        </a:rPr>
                        <a:t>8.0</a:t>
                      </a:r>
                      <a:endParaRPr lang="es-PE" sz="2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07236182"/>
                  </a:ext>
                </a:extLst>
              </a:tr>
              <a:tr h="376319">
                <a:tc>
                  <a:txBody>
                    <a:bodyPr/>
                    <a:lstStyle/>
                    <a:p>
                      <a:pPr algn="ctr" fontAlgn="b"/>
                      <a:r>
                        <a:rPr lang="es-PE" sz="2400" u="none" strike="noStrike" dirty="0">
                          <a:effectLst/>
                        </a:rPr>
                        <a:t>10</a:t>
                      </a:r>
                      <a:endParaRPr lang="es-PE" sz="2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dirty="0">
                          <a:effectLst/>
                        </a:rPr>
                        <a:t>10.0</a:t>
                      </a:r>
                      <a:endParaRPr lang="es-PE" sz="2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89474455"/>
                  </a:ext>
                </a:extLst>
              </a:tr>
            </a:tbl>
          </a:graphicData>
        </a:graphic>
      </p:graphicFrame>
      <p:sp>
        <p:nvSpPr>
          <p:cNvPr id="6" name="CuadroTexto 5"/>
          <p:cNvSpPr txBox="1"/>
          <p:nvPr/>
        </p:nvSpPr>
        <p:spPr>
          <a:xfrm>
            <a:off x="838200" y="2397211"/>
            <a:ext cx="4691349" cy="1200329"/>
          </a:xfrm>
          <a:prstGeom prst="rect">
            <a:avLst/>
          </a:prstGeom>
          <a:noFill/>
        </p:spPr>
        <p:txBody>
          <a:bodyPr wrap="none" rtlCol="0">
            <a:spAutoFit/>
          </a:bodyPr>
          <a:lstStyle/>
          <a:p>
            <a:r>
              <a:rPr lang="es-PE" dirty="0" smtClean="0"/>
              <a:t>Se dispone del siguiente conjunto de datos</a:t>
            </a:r>
          </a:p>
          <a:p>
            <a:r>
              <a:rPr lang="es-PE" dirty="0" smtClean="0"/>
              <a:t>los que se desean representar por una función</a:t>
            </a:r>
          </a:p>
          <a:p>
            <a:r>
              <a:rPr lang="es-PE" dirty="0"/>
              <a:t>d</a:t>
            </a:r>
            <a:r>
              <a:rPr lang="es-PE" dirty="0" smtClean="0"/>
              <a:t>e regresión lineal. Ciertamente se busca la que</a:t>
            </a:r>
          </a:p>
          <a:p>
            <a:r>
              <a:rPr lang="es-PE" dirty="0"/>
              <a:t>m</a:t>
            </a:r>
            <a:r>
              <a:rPr lang="es-PE" dirty="0" smtClean="0"/>
              <a:t>ejor se aproxime (ajuste).</a:t>
            </a:r>
            <a:endParaRPr lang="es-PE" dirty="0"/>
          </a:p>
        </p:txBody>
      </p:sp>
    </p:spTree>
    <p:extLst>
      <p:ext uri="{BB962C8B-B14F-4D97-AF65-F5344CB8AC3E}">
        <p14:creationId xmlns:p14="http://schemas.microsoft.com/office/powerpoint/2010/main" val="15670886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Graficando los datos</a:t>
            </a:r>
            <a:endParaRPr lang="es-PE" dirty="0"/>
          </a:p>
        </p:txBody>
      </p:sp>
      <p:graphicFrame>
        <p:nvGraphicFramePr>
          <p:cNvPr id="4" name="Gráfico 3"/>
          <p:cNvGraphicFramePr>
            <a:graphicFrameLocks/>
          </p:cNvGraphicFramePr>
          <p:nvPr>
            <p:extLst>
              <p:ext uri="{D42A27DB-BD31-4B8C-83A1-F6EECF244321}">
                <p14:modId xmlns:p14="http://schemas.microsoft.com/office/powerpoint/2010/main" val="2072255724"/>
              </p:ext>
            </p:extLst>
          </p:nvPr>
        </p:nvGraphicFramePr>
        <p:xfrm>
          <a:off x="2113005" y="2057399"/>
          <a:ext cx="6956854" cy="444225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7303113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Realizando ajustes con diferentes funciones</a:t>
            </a:r>
            <a:endParaRPr lang="es-PE" dirty="0"/>
          </a:p>
        </p:txBody>
      </p:sp>
      <p:graphicFrame>
        <p:nvGraphicFramePr>
          <p:cNvPr id="4" name="Tabla 3"/>
          <p:cNvGraphicFramePr>
            <a:graphicFrameLocks noGrp="1"/>
          </p:cNvGraphicFramePr>
          <p:nvPr>
            <p:extLst>
              <p:ext uri="{D42A27DB-BD31-4B8C-83A1-F6EECF244321}">
                <p14:modId xmlns:p14="http://schemas.microsoft.com/office/powerpoint/2010/main" val="4129327015"/>
              </p:ext>
            </p:extLst>
          </p:nvPr>
        </p:nvGraphicFramePr>
        <p:xfrm>
          <a:off x="1074822" y="2197770"/>
          <a:ext cx="10379241" cy="3320715"/>
        </p:xfrm>
        <a:graphic>
          <a:graphicData uri="http://schemas.openxmlformats.org/drawingml/2006/table">
            <a:tbl>
              <a:tblPr>
                <a:tableStyleId>{5C22544A-7EE6-4342-B048-85BDC9FD1C3A}</a:tableStyleId>
              </a:tblPr>
              <a:tblGrid>
                <a:gridCol w="2875212">
                  <a:extLst>
                    <a:ext uri="{9D8B030D-6E8A-4147-A177-3AD203B41FA5}">
                      <a16:colId xmlns:a16="http://schemas.microsoft.com/office/drawing/2014/main" val="3210377875"/>
                    </a:ext>
                  </a:extLst>
                </a:gridCol>
                <a:gridCol w="44450">
                  <a:extLst>
                    <a:ext uri="{9D8B030D-6E8A-4147-A177-3AD203B41FA5}">
                      <a16:colId xmlns:a16="http://schemas.microsoft.com/office/drawing/2014/main" val="1010869471"/>
                    </a:ext>
                  </a:extLst>
                </a:gridCol>
                <a:gridCol w="1911303">
                  <a:extLst>
                    <a:ext uri="{9D8B030D-6E8A-4147-A177-3AD203B41FA5}">
                      <a16:colId xmlns:a16="http://schemas.microsoft.com/office/drawing/2014/main" val="3495575075"/>
                    </a:ext>
                  </a:extLst>
                </a:gridCol>
                <a:gridCol w="1207741">
                  <a:extLst>
                    <a:ext uri="{9D8B030D-6E8A-4147-A177-3AD203B41FA5}">
                      <a16:colId xmlns:a16="http://schemas.microsoft.com/office/drawing/2014/main" val="1438149013"/>
                    </a:ext>
                  </a:extLst>
                </a:gridCol>
                <a:gridCol w="2752367">
                  <a:extLst>
                    <a:ext uri="{9D8B030D-6E8A-4147-A177-3AD203B41FA5}">
                      <a16:colId xmlns:a16="http://schemas.microsoft.com/office/drawing/2014/main" val="3501977184"/>
                    </a:ext>
                  </a:extLst>
                </a:gridCol>
                <a:gridCol w="1588168">
                  <a:extLst>
                    <a:ext uri="{9D8B030D-6E8A-4147-A177-3AD203B41FA5}">
                      <a16:colId xmlns:a16="http://schemas.microsoft.com/office/drawing/2014/main" val="3739341315"/>
                    </a:ext>
                  </a:extLst>
                </a:gridCol>
              </a:tblGrid>
              <a:tr h="664143">
                <a:tc gridSpan="2">
                  <a:txBody>
                    <a:bodyPr/>
                    <a:lstStyle/>
                    <a:p>
                      <a:pPr algn="l" fontAlgn="b"/>
                      <a:r>
                        <a:rPr lang="es-PE" sz="2400" u="none" strike="noStrike" dirty="0">
                          <a:effectLst/>
                        </a:rPr>
                        <a:t>Lineal por el origen</a:t>
                      </a:r>
                      <a:endParaRPr lang="es-PE" sz="24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PE"/>
                    </a:p>
                  </a:txBody>
                  <a:tcPr/>
                </a:tc>
                <a:tc>
                  <a:txBody>
                    <a:bodyPr/>
                    <a:lstStyle/>
                    <a:p>
                      <a:pPr algn="l" fontAlgn="b"/>
                      <a:r>
                        <a:rPr lang="es-PE" sz="2400" u="none" strike="noStrike" dirty="0">
                          <a:effectLst/>
                        </a:rPr>
                        <a:t>Y</a:t>
                      </a:r>
                      <a:r>
                        <a:rPr lang="es-PE" sz="2400" u="none" strike="noStrike" baseline="-25000" dirty="0">
                          <a:effectLst/>
                        </a:rPr>
                        <a:t>1</a:t>
                      </a:r>
                      <a:r>
                        <a:rPr lang="es-PE" sz="2400" u="none" strike="noStrike" dirty="0">
                          <a:effectLst/>
                        </a:rPr>
                        <a:t>= 0.9558 X                </a:t>
                      </a:r>
                      <a:endParaRPr lang="es-PE" sz="2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PE" sz="2400" u="none" strike="noStrike" dirty="0">
                          <a:effectLst/>
                        </a:rPr>
                        <a:t>R</a:t>
                      </a:r>
                      <a:r>
                        <a:rPr lang="es-PE" sz="2400" u="none" strike="noStrike" baseline="30000" dirty="0">
                          <a:effectLst/>
                        </a:rPr>
                        <a:t>2</a:t>
                      </a:r>
                      <a:r>
                        <a:rPr lang="es-PE" sz="2400" u="none" strike="noStrike" dirty="0">
                          <a:effectLst/>
                        </a:rPr>
                        <a:t> = 0.8215</a:t>
                      </a:r>
                      <a:endParaRPr lang="es-PE" sz="2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269877499"/>
                  </a:ext>
                </a:extLst>
              </a:tr>
              <a:tr h="664143">
                <a:tc>
                  <a:txBody>
                    <a:bodyPr/>
                    <a:lstStyle/>
                    <a:p>
                      <a:pPr algn="l" fontAlgn="b"/>
                      <a:r>
                        <a:rPr lang="es-PE" sz="2400" u="none" strike="noStrike">
                          <a:effectLst/>
                        </a:rPr>
                        <a:t>Lineal</a:t>
                      </a:r>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endParaRPr lang="es-PE"/>
                    </a:p>
                  </a:txBody>
                  <a:tcPr marL="9525" marR="9525" marT="9525" marB="0" anchor="b"/>
                </a:tc>
                <a:tc gridSpan="3">
                  <a:txBody>
                    <a:bodyPr/>
                    <a:lstStyle/>
                    <a:p>
                      <a:pPr algn="l" fontAlgn="b"/>
                      <a:r>
                        <a:rPr lang="es-PE" sz="2400" u="none" strike="noStrike" dirty="0">
                          <a:effectLst/>
                        </a:rPr>
                        <a:t>Y</a:t>
                      </a:r>
                      <a:r>
                        <a:rPr lang="es-PE" sz="2400" u="none" strike="noStrike" kern="1200" baseline="-25000" dirty="0">
                          <a:solidFill>
                            <a:schemeClr val="dk1"/>
                          </a:solidFill>
                          <a:effectLst/>
                          <a:latin typeface="+mn-lt"/>
                          <a:ea typeface="+mn-ea"/>
                          <a:cs typeface="+mn-cs"/>
                        </a:rPr>
                        <a:t>2</a:t>
                      </a:r>
                      <a:r>
                        <a:rPr lang="es-PE" sz="2400" u="none" strike="noStrike" dirty="0">
                          <a:effectLst/>
                        </a:rPr>
                        <a:t> = 0.7606 X +1.3667                                                                </a:t>
                      </a:r>
                      <a:endParaRPr lang="es-PE" sz="24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PE"/>
                    </a:p>
                  </a:txBody>
                  <a:tcPr/>
                </a:tc>
                <a:tc hMerge="1">
                  <a:txBody>
                    <a:bodyPr/>
                    <a:lstStyle/>
                    <a:p>
                      <a:endParaRPr lang="es-PE"/>
                    </a:p>
                  </a:txBody>
                  <a:tcPr/>
                </a:tc>
                <a:tc>
                  <a:txBody>
                    <a:bodyPr/>
                    <a:lstStyle/>
                    <a:p>
                      <a:pPr algn="l" fontAlgn="b"/>
                      <a:r>
                        <a:rPr lang="es-PE" sz="2400" u="none" strike="noStrike" dirty="0">
                          <a:effectLst/>
                        </a:rPr>
                        <a:t>R</a:t>
                      </a:r>
                      <a:r>
                        <a:rPr lang="es-PE" sz="2400" u="none" strike="noStrike" kern="1200" baseline="30000" dirty="0">
                          <a:solidFill>
                            <a:schemeClr val="dk1"/>
                          </a:solidFill>
                          <a:effectLst/>
                          <a:latin typeface="+mn-lt"/>
                          <a:ea typeface="+mn-ea"/>
                          <a:cs typeface="+mn-cs"/>
                        </a:rPr>
                        <a:t>2</a:t>
                      </a:r>
                      <a:r>
                        <a:rPr lang="es-PE" sz="2400" u="none" strike="noStrike" dirty="0">
                          <a:effectLst/>
                        </a:rPr>
                        <a:t> = 0.8967</a:t>
                      </a:r>
                      <a:endParaRPr lang="es-PE" sz="2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07409996"/>
                  </a:ext>
                </a:extLst>
              </a:tr>
              <a:tr h="664143">
                <a:tc>
                  <a:txBody>
                    <a:bodyPr/>
                    <a:lstStyle/>
                    <a:p>
                      <a:pPr algn="l" fontAlgn="b"/>
                      <a:r>
                        <a:rPr lang="es-PE" sz="2400" u="none" strike="noStrike">
                          <a:effectLst/>
                        </a:rPr>
                        <a:t>Polinómica</a:t>
                      </a:r>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endParaRPr lang="es-PE"/>
                    </a:p>
                  </a:txBody>
                  <a:tcPr marL="9525" marR="9525" marT="9525" marB="0" anchor="b"/>
                </a:tc>
                <a:tc gridSpan="3">
                  <a:txBody>
                    <a:bodyPr/>
                    <a:lstStyle/>
                    <a:p>
                      <a:pPr algn="l" fontAlgn="b"/>
                      <a:r>
                        <a:rPr lang="es-PE" sz="2400" u="none" strike="noStrike" dirty="0">
                          <a:effectLst/>
                        </a:rPr>
                        <a:t>Y</a:t>
                      </a:r>
                      <a:r>
                        <a:rPr lang="es-PE" sz="2400" u="none" strike="noStrike" kern="1200" baseline="-25000" dirty="0">
                          <a:solidFill>
                            <a:schemeClr val="dk1"/>
                          </a:solidFill>
                          <a:effectLst/>
                          <a:latin typeface="+mn-lt"/>
                          <a:ea typeface="+mn-ea"/>
                          <a:cs typeface="+mn-cs"/>
                        </a:rPr>
                        <a:t>3</a:t>
                      </a:r>
                      <a:r>
                        <a:rPr lang="es-PE" sz="2400" u="none" strike="noStrike" dirty="0">
                          <a:effectLst/>
                        </a:rPr>
                        <a:t> = 0.0416 </a:t>
                      </a:r>
                      <a:r>
                        <a:rPr lang="es-PE" sz="2400" u="none" strike="noStrike" dirty="0" smtClean="0">
                          <a:effectLst/>
                        </a:rPr>
                        <a:t>X</a:t>
                      </a:r>
                      <a:r>
                        <a:rPr lang="es-PE" sz="2400" u="none" strike="noStrike" kern="1200" baseline="30000" dirty="0" smtClean="0">
                          <a:solidFill>
                            <a:schemeClr val="dk1"/>
                          </a:solidFill>
                          <a:effectLst/>
                          <a:latin typeface="+mn-lt"/>
                          <a:ea typeface="+mn-ea"/>
                          <a:cs typeface="+mn-cs"/>
                        </a:rPr>
                        <a:t>3</a:t>
                      </a:r>
                      <a:r>
                        <a:rPr lang="es-PE" sz="2400" u="none" strike="noStrike" dirty="0" smtClean="0">
                          <a:effectLst/>
                        </a:rPr>
                        <a:t> </a:t>
                      </a:r>
                      <a:r>
                        <a:rPr lang="es-PE" sz="2400" u="none" strike="noStrike" dirty="0">
                          <a:effectLst/>
                        </a:rPr>
                        <a:t>-0.6821 </a:t>
                      </a:r>
                      <a:r>
                        <a:rPr lang="es-PE" sz="2400" u="none" strike="noStrike" dirty="0" smtClean="0">
                          <a:effectLst/>
                        </a:rPr>
                        <a:t>X</a:t>
                      </a:r>
                      <a:r>
                        <a:rPr lang="es-PE" sz="2400" u="none" strike="noStrike" kern="1200" baseline="30000" dirty="0" smtClean="0">
                          <a:solidFill>
                            <a:schemeClr val="dk1"/>
                          </a:solidFill>
                          <a:effectLst/>
                          <a:latin typeface="+mn-lt"/>
                          <a:ea typeface="+mn-ea"/>
                          <a:cs typeface="+mn-cs"/>
                        </a:rPr>
                        <a:t>2</a:t>
                      </a:r>
                      <a:r>
                        <a:rPr lang="es-PE" sz="2400" u="none" strike="noStrike" dirty="0" smtClean="0">
                          <a:effectLst/>
                        </a:rPr>
                        <a:t> </a:t>
                      </a:r>
                      <a:r>
                        <a:rPr lang="es-PE" sz="2400" u="none" strike="noStrike" dirty="0">
                          <a:effectLst/>
                        </a:rPr>
                        <a:t>+3.8824 </a:t>
                      </a:r>
                      <a:r>
                        <a:rPr lang="es-PE" sz="2400" u="none" strike="noStrike" dirty="0" smtClean="0">
                          <a:effectLst/>
                        </a:rPr>
                        <a:t>X </a:t>
                      </a:r>
                      <a:r>
                        <a:rPr lang="es-PE" sz="2400" u="none" strike="noStrike" dirty="0">
                          <a:effectLst/>
                        </a:rPr>
                        <a:t>-2.1167                    </a:t>
                      </a:r>
                      <a:endParaRPr lang="es-PE" sz="24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PE"/>
                    </a:p>
                  </a:txBody>
                  <a:tcPr/>
                </a:tc>
                <a:tc hMerge="1">
                  <a:txBody>
                    <a:bodyPr/>
                    <a:lstStyle/>
                    <a:p>
                      <a:endParaRPr lang="es-PE"/>
                    </a:p>
                  </a:txBody>
                  <a:tcPr/>
                </a:tc>
                <a:tc>
                  <a:txBody>
                    <a:bodyPr/>
                    <a:lstStyle/>
                    <a:p>
                      <a:pPr algn="l" fontAlgn="b"/>
                      <a:r>
                        <a:rPr lang="es-PE" sz="2400" u="none" strike="noStrike" dirty="0">
                          <a:effectLst/>
                        </a:rPr>
                        <a:t>R</a:t>
                      </a:r>
                      <a:r>
                        <a:rPr lang="es-PE" sz="2400" u="none" strike="noStrike" kern="1200" baseline="30000" dirty="0">
                          <a:solidFill>
                            <a:schemeClr val="dk1"/>
                          </a:solidFill>
                          <a:effectLst/>
                          <a:latin typeface="+mn-lt"/>
                          <a:ea typeface="+mn-ea"/>
                          <a:cs typeface="+mn-cs"/>
                        </a:rPr>
                        <a:t>2</a:t>
                      </a:r>
                      <a:r>
                        <a:rPr lang="es-PE" sz="2400" u="none" strike="noStrike" dirty="0">
                          <a:effectLst/>
                        </a:rPr>
                        <a:t> = 0.9971</a:t>
                      </a:r>
                      <a:endParaRPr lang="es-PE" sz="2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20894341"/>
                  </a:ext>
                </a:extLst>
              </a:tr>
              <a:tr h="664143">
                <a:tc>
                  <a:txBody>
                    <a:bodyPr/>
                    <a:lstStyle/>
                    <a:p>
                      <a:pPr algn="l" fontAlgn="b"/>
                      <a:r>
                        <a:rPr lang="es-PE" sz="2400" u="none" strike="noStrike">
                          <a:effectLst/>
                        </a:rPr>
                        <a:t>Logaritmica</a:t>
                      </a:r>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endParaRPr lang="es-PE"/>
                    </a:p>
                  </a:txBody>
                  <a:tcPr marL="9525" marR="9525" marT="9525" marB="0" anchor="b"/>
                </a:tc>
                <a:tc gridSpan="3">
                  <a:txBody>
                    <a:bodyPr/>
                    <a:lstStyle/>
                    <a:p>
                      <a:pPr algn="l" fontAlgn="b"/>
                      <a:r>
                        <a:rPr lang="es-PE" sz="2400" u="none" strike="noStrike" dirty="0">
                          <a:effectLst/>
                        </a:rPr>
                        <a:t>Y</a:t>
                      </a:r>
                      <a:r>
                        <a:rPr lang="es-PE" sz="2400" u="none" strike="noStrike" kern="1200" baseline="-25000" dirty="0">
                          <a:solidFill>
                            <a:schemeClr val="dk1"/>
                          </a:solidFill>
                          <a:effectLst/>
                          <a:latin typeface="+mn-lt"/>
                          <a:ea typeface="+mn-ea"/>
                          <a:cs typeface="+mn-cs"/>
                        </a:rPr>
                        <a:t>4</a:t>
                      </a:r>
                      <a:r>
                        <a:rPr lang="es-PE" sz="2400" u="none" strike="noStrike" dirty="0">
                          <a:effectLst/>
                        </a:rPr>
                        <a:t> = 3.0964  </a:t>
                      </a:r>
                      <a:r>
                        <a:rPr lang="es-PE" sz="2400" u="none" strike="noStrike" dirty="0" err="1">
                          <a:effectLst/>
                        </a:rPr>
                        <a:t>ln</a:t>
                      </a:r>
                      <a:r>
                        <a:rPr lang="es-PE" sz="2400" u="none" strike="noStrike" dirty="0">
                          <a:effectLst/>
                        </a:rPr>
                        <a:t> </a:t>
                      </a:r>
                      <a:r>
                        <a:rPr lang="es-PE" sz="2400" u="none" strike="noStrike" dirty="0" smtClean="0">
                          <a:effectLst/>
                        </a:rPr>
                        <a:t>(X) </a:t>
                      </a:r>
                      <a:r>
                        <a:rPr lang="es-PE" sz="2400" u="none" strike="noStrike" dirty="0">
                          <a:effectLst/>
                        </a:rPr>
                        <a:t>+ 0.8731                                                     </a:t>
                      </a:r>
                      <a:endParaRPr lang="es-PE" sz="24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PE"/>
                    </a:p>
                  </a:txBody>
                  <a:tcPr/>
                </a:tc>
                <a:tc hMerge="1">
                  <a:txBody>
                    <a:bodyPr/>
                    <a:lstStyle/>
                    <a:p>
                      <a:endParaRPr lang="es-PE"/>
                    </a:p>
                  </a:txBody>
                  <a:tcPr/>
                </a:tc>
                <a:tc>
                  <a:txBody>
                    <a:bodyPr/>
                    <a:lstStyle/>
                    <a:p>
                      <a:pPr algn="l" fontAlgn="b"/>
                      <a:r>
                        <a:rPr lang="es-PE" sz="2400" u="none" strike="noStrike" dirty="0">
                          <a:effectLst/>
                        </a:rPr>
                        <a:t>R</a:t>
                      </a:r>
                      <a:r>
                        <a:rPr lang="es-PE" sz="2400" u="none" strike="noStrike" kern="1200" baseline="30000" dirty="0">
                          <a:solidFill>
                            <a:schemeClr val="dk1"/>
                          </a:solidFill>
                          <a:effectLst/>
                          <a:latin typeface="+mn-lt"/>
                          <a:ea typeface="+mn-ea"/>
                          <a:cs typeface="+mn-cs"/>
                        </a:rPr>
                        <a:t>2</a:t>
                      </a:r>
                      <a:r>
                        <a:rPr lang="es-PE" sz="2400" u="none" strike="noStrike" dirty="0">
                          <a:effectLst/>
                        </a:rPr>
                        <a:t> = 0.8711</a:t>
                      </a:r>
                      <a:endParaRPr lang="es-PE" sz="2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983021997"/>
                  </a:ext>
                </a:extLst>
              </a:tr>
              <a:tr h="664143">
                <a:tc>
                  <a:txBody>
                    <a:bodyPr/>
                    <a:lstStyle/>
                    <a:p>
                      <a:pPr algn="l" fontAlgn="b"/>
                      <a:r>
                        <a:rPr lang="es-PE" sz="2400" u="none" strike="noStrike">
                          <a:effectLst/>
                        </a:rPr>
                        <a:t>Exponencial</a:t>
                      </a:r>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endParaRPr lang="es-PE"/>
                    </a:p>
                  </a:txBody>
                  <a:tcPr marL="9525" marR="9525" marT="9525" marB="0" anchor="b"/>
                </a:tc>
                <a:tc gridSpan="3">
                  <a:txBody>
                    <a:bodyPr/>
                    <a:lstStyle/>
                    <a:p>
                      <a:pPr algn="l" fontAlgn="b"/>
                      <a:r>
                        <a:rPr lang="es-PE" sz="2400" u="none" strike="noStrike" dirty="0">
                          <a:effectLst/>
                        </a:rPr>
                        <a:t>Y</a:t>
                      </a:r>
                      <a:r>
                        <a:rPr lang="es-PE" sz="2400" u="none" strike="noStrike" kern="1200" baseline="-25000" dirty="0">
                          <a:solidFill>
                            <a:schemeClr val="dk1"/>
                          </a:solidFill>
                          <a:effectLst/>
                          <a:latin typeface="+mn-lt"/>
                          <a:ea typeface="+mn-ea"/>
                          <a:cs typeface="+mn-cs"/>
                        </a:rPr>
                        <a:t>5</a:t>
                      </a:r>
                      <a:r>
                        <a:rPr lang="es-PE" sz="2400" u="none" strike="noStrike" dirty="0">
                          <a:effectLst/>
                        </a:rPr>
                        <a:t> = </a:t>
                      </a:r>
                      <a:r>
                        <a:rPr lang="es-PE" sz="2400" u="none" strike="noStrike" dirty="0" smtClean="0">
                          <a:effectLst/>
                        </a:rPr>
                        <a:t>1.857 e </a:t>
                      </a:r>
                      <a:r>
                        <a:rPr lang="es-PE" sz="2400" u="none" strike="noStrike" kern="1200" baseline="30000" dirty="0" smtClean="0">
                          <a:solidFill>
                            <a:schemeClr val="dk1"/>
                          </a:solidFill>
                          <a:effectLst/>
                          <a:latin typeface="+mn-lt"/>
                          <a:ea typeface="+mn-ea"/>
                          <a:cs typeface="+mn-cs"/>
                        </a:rPr>
                        <a:t>0.1751 X</a:t>
                      </a:r>
                      <a:r>
                        <a:rPr lang="es-PE" sz="2400" u="none" strike="noStrike" dirty="0" smtClean="0">
                          <a:effectLst/>
                        </a:rPr>
                        <a:t>                                                                    </a:t>
                      </a:r>
                      <a:endParaRPr lang="es-PE" sz="24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PE"/>
                    </a:p>
                  </a:txBody>
                  <a:tcPr/>
                </a:tc>
                <a:tc hMerge="1">
                  <a:txBody>
                    <a:bodyPr/>
                    <a:lstStyle/>
                    <a:p>
                      <a:endParaRPr lang="es-PE"/>
                    </a:p>
                  </a:txBody>
                  <a:tcPr/>
                </a:tc>
                <a:tc>
                  <a:txBody>
                    <a:bodyPr/>
                    <a:lstStyle/>
                    <a:p>
                      <a:pPr algn="l" fontAlgn="b"/>
                      <a:r>
                        <a:rPr lang="es-PE" sz="2400" u="none" strike="noStrike" dirty="0">
                          <a:effectLst/>
                        </a:rPr>
                        <a:t>R</a:t>
                      </a:r>
                      <a:r>
                        <a:rPr lang="es-PE" sz="2400" u="none" strike="noStrike" kern="1200" baseline="30000" dirty="0">
                          <a:solidFill>
                            <a:schemeClr val="dk1"/>
                          </a:solidFill>
                          <a:effectLst/>
                          <a:latin typeface="+mn-lt"/>
                          <a:ea typeface="+mn-ea"/>
                          <a:cs typeface="+mn-cs"/>
                        </a:rPr>
                        <a:t>2</a:t>
                      </a:r>
                      <a:r>
                        <a:rPr lang="es-PE" sz="2400" u="none" strike="noStrike" dirty="0">
                          <a:effectLst/>
                        </a:rPr>
                        <a:t> = 0.7142</a:t>
                      </a:r>
                      <a:endParaRPr lang="es-PE" sz="2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46035644"/>
                  </a:ext>
                </a:extLst>
              </a:tr>
            </a:tbl>
          </a:graphicData>
        </a:graphic>
      </p:graphicFrame>
      <p:sp>
        <p:nvSpPr>
          <p:cNvPr id="3" name="CuadroTexto 2"/>
          <p:cNvSpPr txBox="1"/>
          <p:nvPr/>
        </p:nvSpPr>
        <p:spPr>
          <a:xfrm>
            <a:off x="2940908" y="6092594"/>
            <a:ext cx="5782962" cy="461665"/>
          </a:xfrm>
          <a:prstGeom prst="rect">
            <a:avLst/>
          </a:prstGeom>
          <a:noFill/>
        </p:spPr>
        <p:txBody>
          <a:bodyPr wrap="square" rtlCol="0">
            <a:spAutoFit/>
          </a:bodyPr>
          <a:lstStyle/>
          <a:p>
            <a:r>
              <a:rPr lang="es-PE" sz="2400" dirty="0" smtClean="0"/>
              <a:t>¿Cuál es la curva que elegiría?</a:t>
            </a:r>
            <a:endParaRPr lang="es-PE" sz="2400" dirty="0"/>
          </a:p>
        </p:txBody>
      </p:sp>
    </p:spTree>
    <p:extLst>
      <p:ext uri="{BB962C8B-B14F-4D97-AF65-F5344CB8AC3E}">
        <p14:creationId xmlns:p14="http://schemas.microsoft.com/office/powerpoint/2010/main" val="90051868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77852" y="172619"/>
            <a:ext cx="3160296" cy="1325563"/>
          </a:xfrm>
        </p:spPr>
        <p:txBody>
          <a:bodyPr/>
          <a:lstStyle/>
          <a:p>
            <a:r>
              <a:rPr lang="es-PE" dirty="0" smtClean="0"/>
              <a:t>Proyecciones</a:t>
            </a:r>
            <a:endParaRPr lang="es-PE" dirty="0"/>
          </a:p>
        </p:txBody>
      </p:sp>
      <p:graphicFrame>
        <p:nvGraphicFramePr>
          <p:cNvPr id="4" name="3 Gráfico"/>
          <p:cNvGraphicFramePr>
            <a:graphicFrameLocks/>
          </p:cNvGraphicFramePr>
          <p:nvPr>
            <p:extLst>
              <p:ext uri="{D42A27DB-BD31-4B8C-83A1-F6EECF244321}">
                <p14:modId xmlns:p14="http://schemas.microsoft.com/office/powerpoint/2010/main" val="486862985"/>
              </p:ext>
            </p:extLst>
          </p:nvPr>
        </p:nvGraphicFramePr>
        <p:xfrm>
          <a:off x="978568" y="172619"/>
          <a:ext cx="10924675" cy="6324434"/>
        </p:xfrm>
        <a:graphic>
          <a:graphicData uri="http://schemas.openxmlformats.org/drawingml/2006/chart">
            <c:chart xmlns:c="http://schemas.openxmlformats.org/drawingml/2006/chart" xmlns:r="http://schemas.openxmlformats.org/officeDocument/2006/relationships" r:id="rId2"/>
          </a:graphicData>
        </a:graphic>
      </p:graphicFrame>
      <p:cxnSp>
        <p:nvCxnSpPr>
          <p:cNvPr id="6" name="Conector recto 5"/>
          <p:cNvCxnSpPr/>
          <p:nvPr/>
        </p:nvCxnSpPr>
        <p:spPr>
          <a:xfrm>
            <a:off x="6015789" y="1251284"/>
            <a:ext cx="0" cy="4700337"/>
          </a:xfrm>
          <a:prstGeom prst="line">
            <a:avLst/>
          </a:prstGeom>
        </p:spPr>
        <p:style>
          <a:lnRef idx="1">
            <a:schemeClr val="accent1"/>
          </a:lnRef>
          <a:fillRef idx="0">
            <a:schemeClr val="accent1"/>
          </a:fillRef>
          <a:effectRef idx="0">
            <a:schemeClr val="accent1"/>
          </a:effectRef>
          <a:fontRef idx="minor">
            <a:schemeClr val="tx1"/>
          </a:fontRef>
        </p:style>
      </p:cxnSp>
      <p:sp>
        <p:nvSpPr>
          <p:cNvPr id="7" name="CuadroTexto 6"/>
          <p:cNvSpPr txBox="1"/>
          <p:nvPr/>
        </p:nvSpPr>
        <p:spPr>
          <a:xfrm>
            <a:off x="8958649" y="6488668"/>
            <a:ext cx="2944594" cy="369332"/>
          </a:xfrm>
          <a:prstGeom prst="rect">
            <a:avLst/>
          </a:prstGeom>
          <a:noFill/>
        </p:spPr>
        <p:txBody>
          <a:bodyPr wrap="square" rtlCol="0">
            <a:spAutoFit/>
          </a:bodyPr>
          <a:lstStyle/>
          <a:p>
            <a:r>
              <a:rPr lang="es-PE" b="1" dirty="0" smtClean="0"/>
              <a:t>¿Mantiene su decisión?</a:t>
            </a:r>
            <a:endParaRPr lang="es-PE" b="1" dirty="0"/>
          </a:p>
        </p:txBody>
      </p:sp>
    </p:spTree>
    <p:extLst>
      <p:ext uri="{BB962C8B-B14F-4D97-AF65-F5344CB8AC3E}">
        <p14:creationId xmlns:p14="http://schemas.microsoft.com/office/powerpoint/2010/main" val="228043986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Caso de la industria de la telecomunicaciones</a:t>
            </a:r>
            <a:endParaRPr lang="es-PE" dirty="0"/>
          </a:p>
        </p:txBody>
      </p:sp>
      <p:sp>
        <p:nvSpPr>
          <p:cNvPr id="3" name="Marcador de contenido 2"/>
          <p:cNvSpPr>
            <a:spLocks noGrp="1"/>
          </p:cNvSpPr>
          <p:nvPr>
            <p:ph idx="1"/>
          </p:nvPr>
        </p:nvSpPr>
        <p:spPr/>
        <p:txBody>
          <a:bodyPr/>
          <a:lstStyle/>
          <a:p>
            <a:r>
              <a:rPr lang="es-PE" dirty="0" smtClean="0"/>
              <a:t>La primera venta por privatización de la industria ocurrió en febrero de 1994.</a:t>
            </a:r>
          </a:p>
          <a:p>
            <a:r>
              <a:rPr lang="es-PE" dirty="0" smtClean="0"/>
              <a:t>La Concesión era por 5 años en condición de monopolio natural.</a:t>
            </a:r>
          </a:p>
          <a:p>
            <a:r>
              <a:rPr lang="es-PE" dirty="0" smtClean="0"/>
              <a:t>En 1998 Telefónica (antes de los cinco años) anuncia su voluntad de adelantar el fin de monopolio de las telecomunicaciones.</a:t>
            </a:r>
          </a:p>
          <a:p>
            <a:r>
              <a:rPr lang="es-PE" dirty="0" smtClean="0"/>
              <a:t>En 1999 Telefónica renegocia contrato y da lugar a la apertura del mercado.</a:t>
            </a:r>
            <a:endParaRPr lang="es-PE" dirty="0"/>
          </a:p>
        </p:txBody>
      </p:sp>
    </p:spTree>
    <p:extLst>
      <p:ext uri="{BB962C8B-B14F-4D97-AF65-F5344CB8AC3E}">
        <p14:creationId xmlns:p14="http://schemas.microsoft.com/office/powerpoint/2010/main" val="11937210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La privatización de Entel </a:t>
            </a:r>
            <a:r>
              <a:rPr lang="es-PE" dirty="0" err="1"/>
              <a:t>P</a:t>
            </a:r>
            <a:r>
              <a:rPr lang="es-PE" dirty="0" err="1" smtClean="0"/>
              <a:t>eru</a:t>
            </a:r>
            <a:endParaRPr lang="es-PE" dirty="0"/>
          </a:p>
        </p:txBody>
      </p:sp>
      <p:sp>
        <p:nvSpPr>
          <p:cNvPr id="3" name="Marcador de contenido 2"/>
          <p:cNvSpPr>
            <a:spLocks noGrp="1"/>
          </p:cNvSpPr>
          <p:nvPr>
            <p:ph idx="1"/>
          </p:nvPr>
        </p:nvSpPr>
        <p:spPr>
          <a:xfrm>
            <a:off x="755073" y="1564015"/>
            <a:ext cx="10515600" cy="821322"/>
          </a:xfrm>
        </p:spPr>
        <p:txBody>
          <a:bodyPr>
            <a:normAutofit fontScale="92500" lnSpcReduction="20000"/>
          </a:bodyPr>
          <a:lstStyle/>
          <a:p>
            <a:pPr marL="220980" indent="0">
              <a:buNone/>
            </a:pPr>
            <a:r>
              <a:rPr lang="es-PE" dirty="0" smtClean="0"/>
              <a:t>Precio base                                                                             </a:t>
            </a:r>
            <a:r>
              <a:rPr lang="es-PE" sz="3000" dirty="0">
                <a:latin typeface="Times New Roman" panose="02020603050405020304" pitchFamily="18" charset="0"/>
                <a:ea typeface="Times New Roman" panose="02020603050405020304" pitchFamily="18" charset="0"/>
              </a:rPr>
              <a:t>546</a:t>
            </a:r>
          </a:p>
          <a:p>
            <a:r>
              <a:rPr lang="es-PE" dirty="0" smtClean="0"/>
              <a:t>Propuestas</a:t>
            </a:r>
          </a:p>
        </p:txBody>
      </p:sp>
      <p:sp>
        <p:nvSpPr>
          <p:cNvPr id="4" name="Rectángulo 3"/>
          <p:cNvSpPr/>
          <p:nvPr/>
        </p:nvSpPr>
        <p:spPr>
          <a:xfrm>
            <a:off x="3048000" y="5084769"/>
            <a:ext cx="6096000" cy="523220"/>
          </a:xfrm>
          <a:prstGeom prst="rect">
            <a:avLst/>
          </a:prstGeom>
        </p:spPr>
        <p:txBody>
          <a:bodyPr>
            <a:spAutoFit/>
          </a:bodyPr>
          <a:lstStyle/>
          <a:p>
            <a:pPr marL="449580">
              <a:spcAft>
                <a:spcPts val="0"/>
              </a:spcAft>
            </a:pPr>
            <a:r>
              <a:rPr lang="es-PE" dirty="0">
                <a:latin typeface="Times New Roman" panose="02020603050405020304" pitchFamily="18" charset="0"/>
                <a:ea typeface="Times New Roman" panose="02020603050405020304" pitchFamily="18" charset="0"/>
              </a:rPr>
              <a:t> </a:t>
            </a:r>
            <a:r>
              <a:rPr lang="es-PE" sz="2800" dirty="0" smtClean="0">
                <a:latin typeface="Times New Roman" panose="02020603050405020304" pitchFamily="18" charset="0"/>
                <a:ea typeface="Times New Roman" panose="02020603050405020304" pitchFamily="18" charset="0"/>
              </a:rPr>
              <a:t>EMBRATEL                                803</a:t>
            </a:r>
            <a:endParaRPr lang="es-PE" sz="2800" dirty="0"/>
          </a:p>
        </p:txBody>
      </p:sp>
      <p:sp>
        <p:nvSpPr>
          <p:cNvPr id="5" name="Rectángulo 4"/>
          <p:cNvSpPr/>
          <p:nvPr/>
        </p:nvSpPr>
        <p:spPr>
          <a:xfrm>
            <a:off x="3048000" y="2575936"/>
            <a:ext cx="6096000" cy="523220"/>
          </a:xfrm>
          <a:prstGeom prst="rect">
            <a:avLst/>
          </a:prstGeom>
        </p:spPr>
        <p:txBody>
          <a:bodyPr>
            <a:spAutoFit/>
          </a:bodyPr>
          <a:lstStyle/>
          <a:p>
            <a:pPr marL="449580">
              <a:spcAft>
                <a:spcPts val="0"/>
              </a:spcAft>
            </a:pPr>
            <a:r>
              <a:rPr lang="es-PE" sz="2800" dirty="0" smtClean="0">
                <a:latin typeface="Times New Roman" panose="02020603050405020304" pitchFamily="18" charset="0"/>
                <a:ea typeface="Times New Roman" panose="02020603050405020304" pitchFamily="18" charset="0"/>
              </a:rPr>
              <a:t>TELEFONICA                            2002</a:t>
            </a:r>
            <a:endParaRPr lang="es-PE" sz="2800" dirty="0"/>
          </a:p>
        </p:txBody>
      </p:sp>
      <p:sp>
        <p:nvSpPr>
          <p:cNvPr id="6" name="Rectángulo 5"/>
          <p:cNvSpPr/>
          <p:nvPr/>
        </p:nvSpPr>
        <p:spPr>
          <a:xfrm>
            <a:off x="3048000" y="3793805"/>
            <a:ext cx="6096000" cy="523220"/>
          </a:xfrm>
          <a:prstGeom prst="rect">
            <a:avLst/>
          </a:prstGeom>
        </p:spPr>
        <p:txBody>
          <a:bodyPr>
            <a:spAutoFit/>
          </a:bodyPr>
          <a:lstStyle/>
          <a:p>
            <a:pPr marL="449580">
              <a:spcAft>
                <a:spcPts val="0"/>
              </a:spcAft>
            </a:pPr>
            <a:r>
              <a:rPr lang="es-PE" dirty="0">
                <a:latin typeface="Times New Roman" panose="02020603050405020304" pitchFamily="18" charset="0"/>
                <a:ea typeface="Times New Roman" panose="02020603050405020304" pitchFamily="18" charset="0"/>
              </a:rPr>
              <a:t> </a:t>
            </a:r>
            <a:r>
              <a:rPr lang="es-PE" sz="2800" dirty="0" smtClean="0">
                <a:latin typeface="Times New Roman" panose="02020603050405020304" pitchFamily="18" charset="0"/>
                <a:ea typeface="Times New Roman" panose="02020603050405020304" pitchFamily="18" charset="0"/>
              </a:rPr>
              <a:t>SOUTH BELL                             857</a:t>
            </a:r>
            <a:endParaRPr lang="es-PE" dirty="0"/>
          </a:p>
        </p:txBody>
      </p:sp>
      <p:sp>
        <p:nvSpPr>
          <p:cNvPr id="8" name="CuadroTexto 7"/>
          <p:cNvSpPr txBox="1"/>
          <p:nvPr/>
        </p:nvSpPr>
        <p:spPr>
          <a:xfrm>
            <a:off x="7122695" y="6144900"/>
            <a:ext cx="4891147" cy="461665"/>
          </a:xfrm>
          <a:prstGeom prst="rect">
            <a:avLst/>
          </a:prstGeom>
          <a:noFill/>
        </p:spPr>
        <p:txBody>
          <a:bodyPr wrap="none" rtlCol="0">
            <a:spAutoFit/>
          </a:bodyPr>
          <a:lstStyle/>
          <a:p>
            <a:r>
              <a:rPr lang="es-PE" sz="2400" dirty="0" smtClean="0"/>
              <a:t>MILLONES DE DOLARES AMERICANOS</a:t>
            </a:r>
            <a:endParaRPr lang="es-PE" sz="2400" dirty="0"/>
          </a:p>
        </p:txBody>
      </p:sp>
    </p:spTree>
    <p:extLst>
      <p:ext uri="{BB962C8B-B14F-4D97-AF65-F5344CB8AC3E}">
        <p14:creationId xmlns:p14="http://schemas.microsoft.com/office/powerpoint/2010/main" val="2545623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arn(inVertical)">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5"/>
            <a:ext cx="10515600" cy="485107"/>
          </a:xfrm>
        </p:spPr>
        <p:txBody>
          <a:bodyPr>
            <a:normAutofit fontScale="90000"/>
          </a:bodyPr>
          <a:lstStyle/>
          <a:p>
            <a:r>
              <a:rPr lang="es-PE" dirty="0" smtClean="0"/>
              <a:t>Conclusión</a:t>
            </a:r>
            <a:endParaRPr lang="es-PE" dirty="0"/>
          </a:p>
        </p:txBody>
      </p:sp>
      <p:sp>
        <p:nvSpPr>
          <p:cNvPr id="3" name="Marcador de contenido 2"/>
          <p:cNvSpPr>
            <a:spLocks noGrp="1"/>
          </p:cNvSpPr>
          <p:nvPr>
            <p:ph idx="1"/>
          </p:nvPr>
        </p:nvSpPr>
        <p:spPr>
          <a:xfrm>
            <a:off x="449179" y="1122947"/>
            <a:ext cx="11373853" cy="5454316"/>
          </a:xfrm>
        </p:spPr>
        <p:txBody>
          <a:bodyPr>
            <a:normAutofit fontScale="77500" lnSpcReduction="20000"/>
          </a:bodyPr>
          <a:lstStyle/>
          <a:p>
            <a:pPr marL="0" indent="0" algn="just">
              <a:buNone/>
            </a:pPr>
            <a:r>
              <a:rPr lang="es-PE" i="1" dirty="0"/>
              <a:t>La Precalificación se presentó el 20 de agosto y no se ha profundizado en este tema para saber si se habrían producido irregularidades porque hubo un alto número de precalificados.</a:t>
            </a:r>
            <a:endParaRPr lang="es-PE" dirty="0"/>
          </a:p>
          <a:p>
            <a:pPr marL="0" indent="0" algn="just">
              <a:buNone/>
            </a:pPr>
            <a:r>
              <a:rPr lang="es-PE" b="1" i="1" dirty="0"/>
              <a:t>La valorización de las empresas </a:t>
            </a:r>
            <a:r>
              <a:rPr lang="es-PE" i="1" dirty="0"/>
              <a:t>fue encargada a la consultora Morgan &amp; </a:t>
            </a:r>
            <a:r>
              <a:rPr lang="es-PE" i="1" dirty="0" err="1"/>
              <a:t>Grenfell</a:t>
            </a:r>
            <a:r>
              <a:rPr lang="es-PE" i="1" dirty="0"/>
              <a:t>. Se usaron tres métodos para llegar a una cifra final: ganancias múltiples, flujos de caja proyectados a una tasa de descuento y el valor presente de la concesión. Tomó también como referencia algunos precios internacionales pagados por otras privatizaciones. ENTEL Perú fue valorizada en 700 millones de dólares; CPTSA en 800 millones de dólares, lo que sumó 1,500 millones de dólares por las dos empresas.</a:t>
            </a:r>
            <a:endParaRPr lang="es-PE" dirty="0"/>
          </a:p>
          <a:p>
            <a:pPr marL="0" indent="0" algn="just">
              <a:buNone/>
            </a:pPr>
            <a:r>
              <a:rPr lang="es-PE" i="1" dirty="0"/>
              <a:t>El paquete a vender era el 35 % de ese monto, lo que arrojó un valor para la subasta de 546 millones de dólares, después de hacer algunos ajustes por incrementos de capital que suscribieron los trabajadores. La distribución del valor total que sumó 1,560 millones de dólares después de este ajuste, era como sigue: 55 % para CPTSA y el 45 % restante para ENTEL.</a:t>
            </a:r>
            <a:endParaRPr lang="es-PE" dirty="0"/>
          </a:p>
          <a:p>
            <a:pPr marL="0" indent="0" algn="just">
              <a:buNone/>
            </a:pPr>
            <a:r>
              <a:rPr lang="es-PE" i="1" dirty="0"/>
              <a:t>La comparación de esta valorización con el precio que pagó TISA, 2,002 millones de dólares, ha hecho perder relevancia a este tema. </a:t>
            </a:r>
            <a:r>
              <a:rPr lang="es-PE" b="1" i="1" dirty="0"/>
              <a:t>Consideramos que la diferencia de precios se ha producido, entre otras razones por el hecho de que en la valorización oficial no se consideró el valor económico adicional que tenían las empresas por operar en condiciones monopólicas reales y formales para los servicios concesionados; y reales pero no formales para todo el resto de servicios. Por tanto, no se realizó una adecuada valorización.</a:t>
            </a:r>
            <a:endParaRPr lang="es-PE" dirty="0"/>
          </a:p>
          <a:p>
            <a:pPr marL="0" indent="0" algn="just">
              <a:buNone/>
            </a:pPr>
            <a:r>
              <a:rPr lang="es-PE" dirty="0"/>
              <a:t>Fuente: Congreso de la República. </a:t>
            </a:r>
            <a:r>
              <a:rPr lang="es-PE" b="1" dirty="0"/>
              <a:t>COMISION INVESTIGADORA SOBRE LOS DELITOS ECONÓMICOS Y FINANCIEROS COMETIDOS ENTRE 1990-2001.</a:t>
            </a:r>
            <a:endParaRPr lang="es-PE" dirty="0"/>
          </a:p>
          <a:p>
            <a:endParaRPr lang="es-PE" dirty="0"/>
          </a:p>
        </p:txBody>
      </p:sp>
    </p:spTree>
    <p:extLst>
      <p:ext uri="{BB962C8B-B14F-4D97-AF65-F5344CB8AC3E}">
        <p14:creationId xmlns:p14="http://schemas.microsoft.com/office/powerpoint/2010/main" val="295022115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PE"/>
          </a:p>
        </p:txBody>
      </p:sp>
      <p:sp>
        <p:nvSpPr>
          <p:cNvPr id="3" name="Marcador de contenido 2"/>
          <p:cNvSpPr>
            <a:spLocks noGrp="1"/>
          </p:cNvSpPr>
          <p:nvPr>
            <p:ph idx="1"/>
          </p:nvPr>
        </p:nvSpPr>
        <p:spPr/>
        <p:txBody>
          <a:bodyPr/>
          <a:lstStyle/>
          <a:p>
            <a:pPr marL="0" indent="0">
              <a:buNone/>
            </a:pPr>
            <a:endParaRPr lang="es-PE" dirty="0" smtClean="0"/>
          </a:p>
          <a:p>
            <a:pPr marL="0" indent="0">
              <a:buNone/>
            </a:pPr>
            <a:endParaRPr lang="es-PE" dirty="0"/>
          </a:p>
          <a:p>
            <a:pPr marL="0" indent="0">
              <a:buNone/>
            </a:pPr>
            <a:endParaRPr lang="es-PE" dirty="0" smtClean="0"/>
          </a:p>
          <a:p>
            <a:pPr marL="0" indent="0">
              <a:buNone/>
            </a:pPr>
            <a:endParaRPr lang="es-PE" dirty="0"/>
          </a:p>
          <a:p>
            <a:pPr marL="0" indent="0" algn="ctr">
              <a:buNone/>
            </a:pPr>
            <a:r>
              <a:rPr lang="es-PE" dirty="0" smtClean="0"/>
              <a:t>FIN</a:t>
            </a:r>
            <a:endParaRPr lang="es-PE" dirty="0"/>
          </a:p>
        </p:txBody>
      </p:sp>
    </p:spTree>
    <p:extLst>
      <p:ext uri="{BB962C8B-B14F-4D97-AF65-F5344CB8AC3E}">
        <p14:creationId xmlns:p14="http://schemas.microsoft.com/office/powerpoint/2010/main" val="118421378"/>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1453</TotalTime>
  <Words>2109</Words>
  <Application>Microsoft Office PowerPoint</Application>
  <PresentationFormat>Panorámica</PresentationFormat>
  <Paragraphs>479</Paragraphs>
  <Slides>45</Slides>
  <Notes>11</Notes>
  <HiddenSlides>0</HiddenSlides>
  <MMClips>0</MMClips>
  <ScaleCrop>false</ScaleCrop>
  <HeadingPairs>
    <vt:vector size="8" baseType="variant">
      <vt:variant>
        <vt:lpstr>Fuentes usadas</vt:lpstr>
      </vt:variant>
      <vt:variant>
        <vt:i4>9</vt:i4>
      </vt:variant>
      <vt:variant>
        <vt:lpstr>Tema</vt:lpstr>
      </vt:variant>
      <vt:variant>
        <vt:i4>1</vt:i4>
      </vt:variant>
      <vt:variant>
        <vt:lpstr>Servidores OLE incrustados</vt:lpstr>
      </vt:variant>
      <vt:variant>
        <vt:i4>2</vt:i4>
      </vt:variant>
      <vt:variant>
        <vt:lpstr>Títulos de diapositiva</vt:lpstr>
      </vt:variant>
      <vt:variant>
        <vt:i4>45</vt:i4>
      </vt:variant>
    </vt:vector>
  </HeadingPairs>
  <TitlesOfParts>
    <vt:vector size="57" baseType="lpstr">
      <vt:lpstr>Arial</vt:lpstr>
      <vt:lpstr>Arial Unicode MS</vt:lpstr>
      <vt:lpstr>Calibri</vt:lpstr>
      <vt:lpstr>Calibri Light</vt:lpstr>
      <vt:lpstr>Cambria Math</vt:lpstr>
      <vt:lpstr>Stylus BT</vt:lpstr>
      <vt:lpstr>Tahoma</vt:lpstr>
      <vt:lpstr>Times New Roman</vt:lpstr>
      <vt:lpstr>Verdana</vt:lpstr>
      <vt:lpstr>Tema de Office</vt:lpstr>
      <vt:lpstr>Equation.3</vt:lpstr>
      <vt:lpstr>Ecuación</vt:lpstr>
      <vt:lpstr>Capítulo VI</vt:lpstr>
      <vt:lpstr>Contenido</vt:lpstr>
      <vt:lpstr>El reto de la formulación</vt:lpstr>
      <vt:lpstr>Introducción</vt:lpstr>
      <vt:lpstr>Ciclo de vida del proyecto</vt:lpstr>
      <vt:lpstr>Modelo de flujo (Operación)</vt:lpstr>
      <vt:lpstr>Modelo de flujo</vt:lpstr>
      <vt:lpstr>El reto del futuro</vt:lpstr>
      <vt:lpstr>El reto de la formulación</vt:lpstr>
      <vt:lpstr>METODOS DE PROYECCIÓN</vt:lpstr>
      <vt:lpstr>METODOS DE PROYECCIÓN</vt:lpstr>
      <vt:lpstr>Métodologia</vt:lpstr>
      <vt:lpstr>Temas típicos</vt:lpstr>
      <vt:lpstr>METODOS DE PROYECCIÓN</vt:lpstr>
      <vt:lpstr>METODOS DE PROYECCIÓN</vt:lpstr>
      <vt:lpstr>Presentación de PowerPoint</vt:lpstr>
      <vt:lpstr>Regresión lineal</vt:lpstr>
      <vt:lpstr>GRÁFICAMENTE</vt:lpstr>
      <vt:lpstr>GRÁFICAMENTE</vt:lpstr>
      <vt:lpstr>GRÁFICAMENTE</vt:lpstr>
      <vt:lpstr>GRÁFICAMENTE</vt:lpstr>
      <vt:lpstr>GRÁFICAMENTE</vt:lpstr>
      <vt:lpstr>Minimizando el error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MODELOS CAUSALES</vt:lpstr>
      <vt:lpstr>MODELOS DE SERIES DE TIEMPO</vt:lpstr>
      <vt:lpstr>MODELOS DE SERIES DE TIEMPO</vt:lpstr>
      <vt:lpstr>MODELOS DE SERIES DE TIEMPO</vt:lpstr>
      <vt:lpstr>MODELOS DE SERIES DE TIEMPO</vt:lpstr>
      <vt:lpstr>MODELOS DE ENCUESTAS</vt:lpstr>
      <vt:lpstr>Ejemplo</vt:lpstr>
      <vt:lpstr>Graficando los datos</vt:lpstr>
      <vt:lpstr>Realizando ajustes con diferentes funciones</vt:lpstr>
      <vt:lpstr>Proyecciones</vt:lpstr>
      <vt:lpstr>Caso de la industria de la telecomunicaciones</vt:lpstr>
      <vt:lpstr>La privatización de Entel Peru</vt:lpstr>
      <vt:lpstr>Conclusión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Flujos de fondos</dc:title>
  <dc:creator>Julio Salvador Jacome</dc:creator>
  <cp:lastModifiedBy>Julio Salvador Jacome</cp:lastModifiedBy>
  <cp:revision>49</cp:revision>
  <dcterms:created xsi:type="dcterms:W3CDTF">2018-05-03T20:27:22Z</dcterms:created>
  <dcterms:modified xsi:type="dcterms:W3CDTF">2021-06-26T22:20:55Z</dcterms:modified>
</cp:coreProperties>
</file>