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3" r:id="rId2"/>
    <p:sldId id="282" r:id="rId3"/>
    <p:sldId id="318" r:id="rId4"/>
    <p:sldId id="281" r:id="rId5"/>
    <p:sldId id="312" r:id="rId6"/>
    <p:sldId id="308" r:id="rId7"/>
    <p:sldId id="316" r:id="rId8"/>
    <p:sldId id="310" r:id="rId9"/>
    <p:sldId id="309" r:id="rId10"/>
    <p:sldId id="319" r:id="rId11"/>
    <p:sldId id="311" r:id="rId12"/>
    <p:sldId id="284" r:id="rId13"/>
    <p:sldId id="315" r:id="rId14"/>
    <p:sldId id="283" r:id="rId15"/>
    <p:sldId id="317" r:id="rId16"/>
    <p:sldId id="285" r:id="rId17"/>
    <p:sldId id="286" r:id="rId18"/>
    <p:sldId id="297" r:id="rId19"/>
    <p:sldId id="298" r:id="rId20"/>
    <p:sldId id="320" r:id="rId21"/>
    <p:sldId id="299" r:id="rId22"/>
    <p:sldId id="302" r:id="rId23"/>
    <p:sldId id="263" r:id="rId24"/>
    <p:sldId id="287" r:id="rId25"/>
    <p:sldId id="288" r:id="rId26"/>
    <p:sldId id="289" r:id="rId27"/>
    <p:sldId id="290" r:id="rId28"/>
    <p:sldId id="291" r:id="rId29"/>
    <p:sldId id="292" r:id="rId30"/>
    <p:sldId id="296" r:id="rId31"/>
    <p:sldId id="293" r:id="rId32"/>
    <p:sldId id="294" r:id="rId33"/>
    <p:sldId id="295" r:id="rId34"/>
    <p:sldId id="280" r:id="rId35"/>
    <p:sldId id="303" r:id="rId36"/>
    <p:sldId id="307" r:id="rId37"/>
    <p:sldId id="321" r:id="rId38"/>
    <p:sldId id="306" r:id="rId39"/>
    <p:sldId id="304" r:id="rId40"/>
    <p:sldId id="305" r:id="rId4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41BB15D5-665E-4A48-9FB1-B39F6465471D}">
          <p14:sldIdLst>
            <p14:sldId id="313"/>
            <p14:sldId id="282"/>
            <p14:sldId id="318"/>
            <p14:sldId id="281"/>
            <p14:sldId id="312"/>
            <p14:sldId id="308"/>
            <p14:sldId id="316"/>
            <p14:sldId id="310"/>
            <p14:sldId id="309"/>
            <p14:sldId id="319"/>
            <p14:sldId id="311"/>
            <p14:sldId id="284"/>
            <p14:sldId id="315"/>
            <p14:sldId id="283"/>
            <p14:sldId id="317"/>
            <p14:sldId id="285"/>
            <p14:sldId id="286"/>
            <p14:sldId id="297"/>
            <p14:sldId id="298"/>
            <p14:sldId id="320"/>
            <p14:sldId id="299"/>
            <p14:sldId id="302"/>
            <p14:sldId id="263"/>
            <p14:sldId id="287"/>
            <p14:sldId id="288"/>
            <p14:sldId id="289"/>
            <p14:sldId id="290"/>
            <p14:sldId id="291"/>
            <p14:sldId id="292"/>
            <p14:sldId id="296"/>
            <p14:sldId id="293"/>
            <p14:sldId id="294"/>
            <p14:sldId id="295"/>
            <p14:sldId id="280"/>
            <p14:sldId id="303"/>
            <p14:sldId id="307"/>
            <p14:sldId id="321"/>
            <p14:sldId id="306"/>
            <p14:sldId id="304"/>
            <p14:sldId id="305"/>
          </p14:sldIdLst>
        </p14:section>
        <p14:section name="Sección sin título" id="{6872BD56-796D-4F16-9DC8-7B430B5098A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51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883361157967051E-2"/>
          <c:y val="5.1485325043093742E-2"/>
          <c:w val="0.91074890682889886"/>
          <c:h val="0.93138400716906966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Hoja1!$B$25:$B$104</c:f>
              <c:numCache>
                <c:formatCode>0%</c:formatCode>
                <c:ptCount val="80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6.0000000000000005E-2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9.9999999999999992E-2</c:v>
                </c:pt>
                <c:pt idx="10">
                  <c:v>0.10999999999999999</c:v>
                </c:pt>
                <c:pt idx="11">
                  <c:v>0.11999999999999998</c:v>
                </c:pt>
                <c:pt idx="12">
                  <c:v>0.12999999999999998</c:v>
                </c:pt>
                <c:pt idx="13">
                  <c:v>0.13999999999999999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  <c:pt idx="17">
                  <c:v>0.18000000000000002</c:v>
                </c:pt>
                <c:pt idx="18">
                  <c:v>0.19000000000000003</c:v>
                </c:pt>
                <c:pt idx="19">
                  <c:v>0.20000000000000004</c:v>
                </c:pt>
                <c:pt idx="20">
                  <c:v>0.21000000000000005</c:v>
                </c:pt>
                <c:pt idx="21">
                  <c:v>0.22000000000000006</c:v>
                </c:pt>
                <c:pt idx="22">
                  <c:v>0.23000000000000007</c:v>
                </c:pt>
                <c:pt idx="23">
                  <c:v>0.24000000000000007</c:v>
                </c:pt>
                <c:pt idx="24">
                  <c:v>0.25000000000000006</c:v>
                </c:pt>
                <c:pt idx="25">
                  <c:v>0.26000000000000006</c:v>
                </c:pt>
                <c:pt idx="26">
                  <c:v>0.27000000000000007</c:v>
                </c:pt>
                <c:pt idx="27">
                  <c:v>0.28000000000000008</c:v>
                </c:pt>
                <c:pt idx="28">
                  <c:v>0.29000000000000009</c:v>
                </c:pt>
                <c:pt idx="29">
                  <c:v>0.3000000000000001</c:v>
                </c:pt>
                <c:pt idx="30">
                  <c:v>0.31000000000000011</c:v>
                </c:pt>
                <c:pt idx="31">
                  <c:v>0.32000000000000012</c:v>
                </c:pt>
                <c:pt idx="32">
                  <c:v>0.33000000000000013</c:v>
                </c:pt>
                <c:pt idx="33">
                  <c:v>0.34000000000000014</c:v>
                </c:pt>
                <c:pt idx="34">
                  <c:v>0.35000000000000014</c:v>
                </c:pt>
                <c:pt idx="35">
                  <c:v>0.36000000000000015</c:v>
                </c:pt>
                <c:pt idx="36">
                  <c:v>0.37000000000000016</c:v>
                </c:pt>
                <c:pt idx="37">
                  <c:v>0.38000000000000017</c:v>
                </c:pt>
                <c:pt idx="38">
                  <c:v>0.39000000000000018</c:v>
                </c:pt>
                <c:pt idx="39">
                  <c:v>0.40000000000000019</c:v>
                </c:pt>
                <c:pt idx="40">
                  <c:v>0.4100000000000002</c:v>
                </c:pt>
                <c:pt idx="41">
                  <c:v>0.42000000000000021</c:v>
                </c:pt>
                <c:pt idx="42">
                  <c:v>0.43000000000000022</c:v>
                </c:pt>
                <c:pt idx="43">
                  <c:v>0.44000000000000022</c:v>
                </c:pt>
                <c:pt idx="44">
                  <c:v>0.45000000000000023</c:v>
                </c:pt>
                <c:pt idx="45">
                  <c:v>0.46000000000000024</c:v>
                </c:pt>
                <c:pt idx="46">
                  <c:v>0.47000000000000025</c:v>
                </c:pt>
                <c:pt idx="47">
                  <c:v>0.48000000000000026</c:v>
                </c:pt>
                <c:pt idx="48">
                  <c:v>0.49000000000000027</c:v>
                </c:pt>
                <c:pt idx="49">
                  <c:v>0.50000000000000022</c:v>
                </c:pt>
                <c:pt idx="50">
                  <c:v>0.51000000000000023</c:v>
                </c:pt>
                <c:pt idx="51">
                  <c:v>0.52000000000000024</c:v>
                </c:pt>
                <c:pt idx="52">
                  <c:v>0.53000000000000025</c:v>
                </c:pt>
                <c:pt idx="53">
                  <c:v>0.54000000000000026</c:v>
                </c:pt>
                <c:pt idx="54">
                  <c:v>0.55000000000000027</c:v>
                </c:pt>
                <c:pt idx="55">
                  <c:v>0.56000000000000028</c:v>
                </c:pt>
                <c:pt idx="56">
                  <c:v>0.57000000000000028</c:v>
                </c:pt>
                <c:pt idx="57">
                  <c:v>0.58000000000000029</c:v>
                </c:pt>
                <c:pt idx="58">
                  <c:v>0.5900000000000003</c:v>
                </c:pt>
                <c:pt idx="59">
                  <c:v>0.60000000000000031</c:v>
                </c:pt>
                <c:pt idx="60">
                  <c:v>0.61000000000000032</c:v>
                </c:pt>
                <c:pt idx="61">
                  <c:v>0.62000000000000033</c:v>
                </c:pt>
                <c:pt idx="62">
                  <c:v>0.63000000000000034</c:v>
                </c:pt>
                <c:pt idx="63">
                  <c:v>0.64000000000000035</c:v>
                </c:pt>
                <c:pt idx="64">
                  <c:v>0.65000000000000036</c:v>
                </c:pt>
                <c:pt idx="65">
                  <c:v>0.66000000000000036</c:v>
                </c:pt>
                <c:pt idx="66">
                  <c:v>0.67000000000000037</c:v>
                </c:pt>
                <c:pt idx="67">
                  <c:v>0.68000000000000038</c:v>
                </c:pt>
                <c:pt idx="68">
                  <c:v>0.69000000000000039</c:v>
                </c:pt>
                <c:pt idx="69">
                  <c:v>0.7000000000000004</c:v>
                </c:pt>
                <c:pt idx="70">
                  <c:v>0.71000000000000041</c:v>
                </c:pt>
                <c:pt idx="71">
                  <c:v>0.72000000000000042</c:v>
                </c:pt>
                <c:pt idx="72">
                  <c:v>0.73000000000000043</c:v>
                </c:pt>
                <c:pt idx="73">
                  <c:v>0.74000000000000044</c:v>
                </c:pt>
                <c:pt idx="74">
                  <c:v>0.75000000000000044</c:v>
                </c:pt>
                <c:pt idx="75">
                  <c:v>0.76000000000000045</c:v>
                </c:pt>
                <c:pt idx="76">
                  <c:v>0.77000000000000046</c:v>
                </c:pt>
                <c:pt idx="77">
                  <c:v>0.78000000000000047</c:v>
                </c:pt>
                <c:pt idx="78">
                  <c:v>0.79000000000000048</c:v>
                </c:pt>
                <c:pt idx="79">
                  <c:v>0.80000000000000049</c:v>
                </c:pt>
              </c:numCache>
            </c:numRef>
          </c:cat>
          <c:val>
            <c:numRef>
              <c:f>Hoja1!$C$25:$C$104</c:f>
              <c:numCache>
                <c:formatCode>_(* #,##0.00_);_(* \(#,##0.00\);_(* "-"??_);_(@_)</c:formatCode>
                <c:ptCount val="80"/>
                <c:pt idx="0">
                  <c:v>610.00893939025536</c:v>
                </c:pt>
                <c:pt idx="1">
                  <c:v>571.9545277571583</c:v>
                </c:pt>
                <c:pt idx="2">
                  <c:v>535.72136875829392</c:v>
                </c:pt>
                <c:pt idx="3">
                  <c:v>501.20211244892846</c:v>
                </c:pt>
                <c:pt idx="4">
                  <c:v>468.29681734119686</c:v>
                </c:pt>
                <c:pt idx="5">
                  <c:v>436.91236887624677</c:v>
                </c:pt>
                <c:pt idx="6">
                  <c:v>406.96194882246982</c:v>
                </c:pt>
                <c:pt idx="7">
                  <c:v>378.36455069365206</c:v>
                </c:pt>
                <c:pt idx="8">
                  <c:v>351.0445367952849</c:v>
                </c:pt>
                <c:pt idx="9">
                  <c:v>324.93123296347096</c:v>
                </c:pt>
                <c:pt idx="10">
                  <c:v>299.95855746593179</c:v>
                </c:pt>
                <c:pt idx="11">
                  <c:v>276.06468089467967</c:v>
                </c:pt>
                <c:pt idx="12">
                  <c:v>253.19171420035241</c:v>
                </c:pt>
                <c:pt idx="13">
                  <c:v>231.28542230365531</c:v>
                </c:pt>
                <c:pt idx="14">
                  <c:v>210.29496097395702</c:v>
                </c:pt>
                <c:pt idx="15">
                  <c:v>190.17263489237018</c:v>
                </c:pt>
                <c:pt idx="16">
                  <c:v>170.87367501979986</c:v>
                </c:pt>
                <c:pt idx="17">
                  <c:v>152.35603357216439</c:v>
                </c:pt>
                <c:pt idx="18">
                  <c:v>134.58019506775804</c:v>
                </c:pt>
                <c:pt idx="19">
                  <c:v>117.5090020576132</c:v>
                </c:pt>
                <c:pt idx="20">
                  <c:v>101.1074942806348</c:v>
                </c:pt>
                <c:pt idx="21">
                  <c:v>85.342760102853049</c:v>
                </c:pt>
                <c:pt idx="22">
                  <c:v>70.183799205850391</c:v>
                </c:pt>
                <c:pt idx="23">
                  <c:v>55.60139558452147</c:v>
                </c:pt>
                <c:pt idx="24">
                  <c:v>41.567999999999984</c:v>
                </c:pt>
                <c:pt idx="25">
                  <c:v>28.057621110793775</c:v>
                </c:pt>
                <c:pt idx="26">
                  <c:v>15.045724574853807</c:v>
                </c:pt>
                <c:pt idx="27">
                  <c:v>2.5091394782066345</c:v>
                </c:pt>
                <c:pt idx="28">
                  <c:v>-9.5740284973547318</c:v>
                </c:pt>
                <c:pt idx="29">
                  <c:v>-21.224477703592584</c:v>
                </c:pt>
                <c:pt idx="30">
                  <c:v>-32.46178544167293</c:v>
                </c:pt>
                <c:pt idx="31">
                  <c:v>-43.304477611864115</c:v>
                </c:pt>
                <c:pt idx="32">
                  <c:v>-53.770093506162993</c:v>
                </c:pt>
                <c:pt idx="33">
                  <c:v>-63.875246118210384</c:v>
                </c:pt>
                <c:pt idx="34">
                  <c:v>-73.635678313337849</c:v>
                </c:pt>
                <c:pt idx="35">
                  <c:v>-83.066315172936527</c:v>
                </c:pt>
                <c:pt idx="36">
                  <c:v>-92.181312801282161</c:v>
                </c:pt>
                <c:pt idx="37">
                  <c:v>-100.99410385923164</c:v>
                </c:pt>
                <c:pt idx="38">
                  <c:v>-109.51744006760509</c:v>
                </c:pt>
                <c:pt idx="39">
                  <c:v>-117.76343190337371</c:v>
                </c:pt>
                <c:pt idx="40">
                  <c:v>-125.74358569381155</c:v>
                </c:pt>
                <c:pt idx="41">
                  <c:v>-133.46883829737686</c:v>
                </c:pt>
                <c:pt idx="42">
                  <c:v>-140.94958954510895</c:v>
                </c:pt>
                <c:pt idx="43">
                  <c:v>-148.19573260263735</c:v>
                </c:pt>
                <c:pt idx="44">
                  <c:v>-155.21668240038639</c:v>
                </c:pt>
                <c:pt idx="45">
                  <c:v>-162.02140226808865</c:v>
                </c:pt>
                <c:pt idx="46">
                  <c:v>-168.61842889923588</c:v>
                </c:pt>
                <c:pt idx="47">
                  <c:v>-175.01589576147217</c:v>
                </c:pt>
                <c:pt idx="48">
                  <c:v>-181.22155506011649</c:v>
                </c:pt>
                <c:pt idx="49">
                  <c:v>-187.24279835390956</c:v>
                </c:pt>
                <c:pt idx="50">
                  <c:v>-193.08667591465036</c:v>
                </c:pt>
                <c:pt idx="51">
                  <c:v>-198.75991491555885</c:v>
                </c:pt>
                <c:pt idx="52">
                  <c:v>-204.26893652693229</c:v>
                </c:pt>
                <c:pt idx="53">
                  <c:v>-209.61987199188428</c:v>
                </c:pt>
                <c:pt idx="54">
                  <c:v>-214.81857774965118</c:v>
                </c:pt>
                <c:pt idx="55">
                  <c:v>-219.87064966905393</c:v>
                </c:pt>
                <c:pt idx="56">
                  <c:v>-224.78143645020123</c:v>
                </c:pt>
                <c:pt idx="57">
                  <c:v>-229.55605224836194</c:v>
                </c:pt>
                <c:pt idx="58">
                  <c:v>-234.1993885701072</c:v>
                </c:pt>
                <c:pt idx="59">
                  <c:v>-238.71612548828136</c:v>
                </c:pt>
                <c:pt idx="60">
                  <c:v>-243.11074221909968</c:v>
                </c:pt>
                <c:pt idx="61">
                  <c:v>-247.38752710165076</c:v>
                </c:pt>
                <c:pt idx="62">
                  <c:v>-251.55058701729612</c:v>
                </c:pt>
                <c:pt idx="63">
                  <c:v>-255.60385628387746</c:v>
                </c:pt>
                <c:pt idx="64">
                  <c:v>-259.55110505725611</c:v>
                </c:pt>
                <c:pt idx="65">
                  <c:v>-263.39594727050405</c:v>
                </c:pt>
                <c:pt idx="66">
                  <c:v>-267.14184813901272</c:v>
                </c:pt>
                <c:pt idx="67">
                  <c:v>-270.79213125789511</c:v>
                </c:pt>
                <c:pt idx="68">
                  <c:v>-274.34998531629719</c:v>
                </c:pt>
                <c:pt idx="69">
                  <c:v>-277.81847045160191</c:v>
                </c:pt>
                <c:pt idx="70">
                  <c:v>-281.20052426499899</c:v>
                </c:pt>
                <c:pt idx="71">
                  <c:v>-284.49896751848473</c:v>
                </c:pt>
                <c:pt idx="72">
                  <c:v>-287.71650953205528</c:v>
                </c:pt>
                <c:pt idx="73">
                  <c:v>-290.85575329863974</c:v>
                </c:pt>
                <c:pt idx="74">
                  <c:v>-293.91920033319468</c:v>
                </c:pt>
                <c:pt idx="75">
                  <c:v>-296.90925527133112</c:v>
                </c:pt>
                <c:pt idx="76">
                  <c:v>-299.82823023186978</c:v>
                </c:pt>
                <c:pt idx="77">
                  <c:v>-302.67834895681119</c:v>
                </c:pt>
                <c:pt idx="78">
                  <c:v>-305.46175074136079</c:v>
                </c:pt>
                <c:pt idx="79">
                  <c:v>-308.18049416586234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4F-4A49-893D-C0E38DE9C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547792"/>
        <c:axId val="113548208"/>
      </c:lineChart>
      <c:catAx>
        <c:axId val="113547792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13548208"/>
        <c:crosses val="autoZero"/>
        <c:auto val="1"/>
        <c:lblAlgn val="ctr"/>
        <c:lblOffset val="100"/>
        <c:noMultiLvlLbl val="0"/>
      </c:catAx>
      <c:valAx>
        <c:axId val="11354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113547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365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862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4669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468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76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403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505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960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904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137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s-MX" alt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s-MX" alt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5EC547C-5466-46EF-A55C-F9DFE35FB980}" type="slidenum">
              <a:rPr lang="es-MX" altLang="es-PE"/>
              <a:pPr/>
              <a:t>‹Nº›</a:t>
            </a:fld>
            <a:endParaRPr lang="es-MX" altLang="es-PE"/>
          </a:p>
        </p:txBody>
      </p:sp>
    </p:spTree>
    <p:extLst>
      <p:ext uri="{BB962C8B-B14F-4D97-AF65-F5344CB8AC3E}">
        <p14:creationId xmlns:p14="http://schemas.microsoft.com/office/powerpoint/2010/main" val="215185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71285-3F4F-41C9-9D5F-A070E7D75D83}" type="datetimeFigureOut">
              <a:rPr lang="es-PE" smtClean="0"/>
              <a:t>17/02/2021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CF50E-053A-42FF-87B9-413F2B8A467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170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5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7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Capítulo VII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 smtClean="0"/>
          </a:p>
          <a:p>
            <a:r>
              <a:rPr lang="es-PE" sz="3200" dirty="0" smtClean="0"/>
              <a:t>Evaluación de proyectos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420" y="6219"/>
            <a:ext cx="728907" cy="91660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9423753" y="928142"/>
            <a:ext cx="2768243" cy="5693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UNIVERSIDAD</a:t>
            </a:r>
            <a:r>
              <a:rPr lang="es-ES" sz="1000" b="1" i="0" baseline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NACIONAL DE INGENIERÍA</a:t>
            </a:r>
            <a:endParaRPr lang="es-ES" sz="1000" b="1" i="0" dirty="0" smtClean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05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Facultad de Ingeniería </a:t>
            </a:r>
          </a:p>
          <a:p>
            <a:pPr algn="ctr"/>
            <a:r>
              <a:rPr lang="es-ES" sz="105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Eléctrica y Electrónica</a:t>
            </a:r>
            <a:endParaRPr lang="en-US" sz="105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0" y="6474554"/>
            <a:ext cx="12192005" cy="286464"/>
          </a:xfrm>
          <a:prstGeom prst="rect">
            <a:avLst/>
          </a:prstGeom>
          <a:solidFill>
            <a:srgbClr val="991636"/>
          </a:solidFill>
          <a:ln>
            <a:solidFill>
              <a:srgbClr val="9916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 err="1" smtClean="0"/>
              <a:t>Ingeniería</a:t>
            </a:r>
            <a:r>
              <a:rPr lang="en-US" dirty="0" smtClean="0"/>
              <a:t> </a:t>
            </a:r>
            <a:r>
              <a:rPr lang="en-US" dirty="0" err="1" smtClean="0"/>
              <a:t>Económica</a:t>
            </a:r>
            <a:r>
              <a:rPr lang="en-US" dirty="0" smtClean="0"/>
              <a:t>. Julio Salvador </a:t>
            </a:r>
            <a:r>
              <a:rPr lang="en-US" dirty="0" err="1" smtClean="0"/>
              <a:t>Jácome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8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Contenido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PE" dirty="0" smtClean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 smtClean="0"/>
              <a:t>Objetivos de la evaluación 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 smtClean="0"/>
              <a:t>Tipos de evaluación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 smtClean="0"/>
              <a:t>Métodos de evaluación</a:t>
            </a:r>
          </a:p>
          <a:p>
            <a:pPr marL="514350" indent="-514350">
              <a:buFont typeface="+mj-lt"/>
              <a:buAutoNum type="arabicPeriod"/>
            </a:pPr>
            <a:r>
              <a:rPr lang="es-PE" dirty="0" smtClean="0"/>
              <a:t>Usos y </a:t>
            </a:r>
            <a:r>
              <a:rPr lang="es-PE" dirty="0" err="1" smtClean="0"/>
              <a:t>práticas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95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34818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155" y="230910"/>
            <a:ext cx="8801291" cy="660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93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La elección</a:t>
            </a:r>
            <a:endParaRPr lang="es-PE" dirty="0"/>
          </a:p>
        </p:txBody>
      </p:sp>
      <p:pic>
        <p:nvPicPr>
          <p:cNvPr id="10242" name="Picture 2" descr="Resultado de imagen para elegir una alternati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1970" y="2855422"/>
            <a:ext cx="28575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2103120" y="1886989"/>
            <a:ext cx="6115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Dada una necesidad que satisfacer</a:t>
            </a:r>
          </a:p>
          <a:p>
            <a:r>
              <a:rPr lang="es-PE" dirty="0" smtClean="0"/>
              <a:t>Dado un conjunto de alternativas que satisfacen esa necesidad </a:t>
            </a: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8296102" y="5943600"/>
            <a:ext cx="2821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Que alternativa … es mejor?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580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El hambre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Tienes hambre y quieres satisfacerlo:</a:t>
            </a:r>
          </a:p>
          <a:p>
            <a:endParaRPr lang="es-PE" dirty="0"/>
          </a:p>
          <a:p>
            <a:r>
              <a:rPr lang="es-PE" dirty="0" smtClean="0"/>
              <a:t>Tienes 1 Sol </a:t>
            </a:r>
          </a:p>
          <a:p>
            <a:endParaRPr lang="es-PE" dirty="0"/>
          </a:p>
          <a:p>
            <a:r>
              <a:rPr lang="es-PE" dirty="0" smtClean="0"/>
              <a:t>Tienes 100 Soles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8997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Leyes universales</a:t>
            </a:r>
            <a:endParaRPr lang="es-PE" dirty="0"/>
          </a:p>
        </p:txBody>
      </p:sp>
      <p:sp>
        <p:nvSpPr>
          <p:cNvPr id="7" name="Rectángulo 6"/>
          <p:cNvSpPr/>
          <p:nvPr/>
        </p:nvSpPr>
        <p:spPr>
          <a:xfrm>
            <a:off x="1182255" y="2300224"/>
            <a:ext cx="758074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dirty="0" smtClean="0">
                <a:solidFill>
                  <a:srgbClr val="000000"/>
                </a:solidFill>
                <a:latin typeface="Lato"/>
              </a:rPr>
              <a:t>1ª  </a:t>
            </a:r>
            <a:r>
              <a:rPr lang="es-MX" sz="2000" dirty="0">
                <a:solidFill>
                  <a:srgbClr val="000000"/>
                </a:solidFill>
                <a:latin typeface="Lato"/>
              </a:rPr>
              <a:t>Ley del </a:t>
            </a:r>
            <a:r>
              <a:rPr lang="es-MX" sz="2000" dirty="0" smtClean="0">
                <a:solidFill>
                  <a:srgbClr val="000000"/>
                </a:solidFill>
                <a:latin typeface="Lato"/>
              </a:rPr>
              <a:t>caos. </a:t>
            </a:r>
            <a:endParaRPr lang="es-MX" sz="2000" dirty="0">
              <a:solidFill>
                <a:srgbClr val="000000"/>
              </a:solidFill>
              <a:latin typeface="Lato"/>
            </a:endParaRPr>
          </a:p>
          <a:p>
            <a:r>
              <a:rPr lang="es-MX" sz="2000" dirty="0" smtClean="0">
                <a:solidFill>
                  <a:srgbClr val="000000"/>
                </a:solidFill>
                <a:latin typeface="Lato"/>
              </a:rPr>
              <a:t>2ª  </a:t>
            </a:r>
            <a:r>
              <a:rPr lang="es-MX" sz="2000" dirty="0">
                <a:solidFill>
                  <a:srgbClr val="000000"/>
                </a:solidFill>
                <a:latin typeface="Lato"/>
              </a:rPr>
              <a:t>Ley de causa y efecto</a:t>
            </a:r>
          </a:p>
          <a:p>
            <a:r>
              <a:rPr lang="es-MX" sz="2000" dirty="0">
                <a:solidFill>
                  <a:srgbClr val="000000"/>
                </a:solidFill>
                <a:latin typeface="Lato"/>
              </a:rPr>
              <a:t>3</a:t>
            </a:r>
            <a:r>
              <a:rPr lang="es-MX" sz="2000" dirty="0" smtClean="0">
                <a:solidFill>
                  <a:srgbClr val="000000"/>
                </a:solidFill>
                <a:latin typeface="Lato"/>
              </a:rPr>
              <a:t>ª  </a:t>
            </a:r>
            <a:r>
              <a:rPr lang="es-MX" sz="2000" dirty="0">
                <a:solidFill>
                  <a:srgbClr val="000000"/>
                </a:solidFill>
                <a:latin typeface="Lato"/>
              </a:rPr>
              <a:t>Ley del mínimo esfuerzo</a:t>
            </a:r>
          </a:p>
          <a:p>
            <a:r>
              <a:rPr lang="es-MX" sz="2000" dirty="0" smtClean="0">
                <a:solidFill>
                  <a:srgbClr val="000000"/>
                </a:solidFill>
                <a:latin typeface="Lato"/>
              </a:rPr>
              <a:t>4ª  Ley la única constante en el universo es el cambio.</a:t>
            </a:r>
          </a:p>
          <a:p>
            <a:pPr fontAlgn="base"/>
            <a:r>
              <a:rPr lang="es-MX" sz="2000" dirty="0" smtClean="0">
                <a:solidFill>
                  <a:srgbClr val="000000"/>
                </a:solidFill>
                <a:latin typeface="Lato"/>
              </a:rPr>
              <a:t> </a:t>
            </a:r>
            <a:endParaRPr lang="es-MX" sz="2000" i="0" dirty="0">
              <a:solidFill>
                <a:srgbClr val="000000"/>
              </a:solidFill>
              <a:effectLst/>
              <a:latin typeface="Lato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464068" y="5005137"/>
            <a:ext cx="590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Hay una única fuerza que puede superar las leyes universales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5324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3686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914400" y="3253339"/>
            <a:ext cx="10439400" cy="31667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/>
          <p:cNvSpPr txBox="1"/>
          <p:nvPr/>
        </p:nvSpPr>
        <p:spPr>
          <a:xfrm>
            <a:off x="10571021" y="6522978"/>
            <a:ext cx="1565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>
                <a:solidFill>
                  <a:schemeClr val="bg1"/>
                </a:solidFill>
              </a:rPr>
              <a:t>Edward Lorenz</a:t>
            </a:r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La tiza</a:t>
            </a:r>
            <a:endParaRPr lang="es-PE" dirty="0"/>
          </a:p>
        </p:txBody>
      </p:sp>
      <p:sp>
        <p:nvSpPr>
          <p:cNvPr id="5" name="CuadroTexto 4"/>
          <p:cNvSpPr txBox="1"/>
          <p:nvPr/>
        </p:nvSpPr>
        <p:spPr>
          <a:xfrm>
            <a:off x="6326076" y="5940574"/>
            <a:ext cx="560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El caos se impone al orden, porque está mejor organizado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838200" y="5255491"/>
            <a:ext cx="10515600" cy="1404376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¿Hay la posibilidad que se rompa?</a:t>
            </a:r>
          </a:p>
          <a:p>
            <a:r>
              <a:rPr lang="es-MX" dirty="0" smtClean="0"/>
              <a:t>¿En cuantas partes?</a:t>
            </a:r>
          </a:p>
          <a:p>
            <a:r>
              <a:rPr lang="es-MX" dirty="0" smtClean="0"/>
              <a:t>¿Por qué no se va para arriba?</a:t>
            </a:r>
          </a:p>
          <a:p>
            <a:r>
              <a:rPr lang="es-MX" dirty="0" smtClean="0"/>
              <a:t>Porque sigue la línea recta?</a:t>
            </a:r>
            <a:endParaRPr lang="es-PE" dirty="0"/>
          </a:p>
        </p:txBody>
      </p:sp>
      <p:pic>
        <p:nvPicPr>
          <p:cNvPr id="34818" name="Picture 2" descr="Resultado de imagen para tiz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547" y="365125"/>
            <a:ext cx="4064000" cy="40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57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El puente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91" y="2293993"/>
            <a:ext cx="4721652" cy="30323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29" y="2264467"/>
            <a:ext cx="4822571" cy="3083269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375290" y="6096000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¿La solución?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772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El puente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21702"/>
            <a:ext cx="4721652" cy="303235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834" y="2335306"/>
            <a:ext cx="4984872" cy="301874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201637" y="6341552"/>
            <a:ext cx="1335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CT = 100 + X</a:t>
            </a:r>
            <a:endParaRPr lang="es-PE" dirty="0"/>
          </a:p>
        </p:txBody>
      </p:sp>
      <p:sp>
        <p:nvSpPr>
          <p:cNvPr id="8" name="CuadroTexto 7"/>
          <p:cNvSpPr txBox="1"/>
          <p:nvPr/>
        </p:nvSpPr>
        <p:spPr>
          <a:xfrm>
            <a:off x="8069179" y="5628580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C1 = 1000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201637" y="562858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C1 = 100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8072834" y="6354398"/>
            <a:ext cx="111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CT = 1000</a:t>
            </a:r>
            <a:endParaRPr lang="es-PE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201637" y="598506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CS =     X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8069179" y="5965653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CS =     0</a:t>
            </a:r>
          </a:p>
        </p:txBody>
      </p:sp>
    </p:spTree>
    <p:extLst>
      <p:ext uri="{BB962C8B-B14F-4D97-AF65-F5344CB8AC3E}">
        <p14:creationId xmlns:p14="http://schemas.microsoft.com/office/powerpoint/2010/main" val="172968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705" y="1846094"/>
            <a:ext cx="7984958" cy="449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7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2. Objetivos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0" hangingPunct="0">
              <a:buClr>
                <a:srgbClr val="000066"/>
              </a:buClr>
            </a:pPr>
            <a:r>
              <a:rPr lang="es-MX" altLang="es-PE" dirty="0">
                <a:latin typeface="Times New Roman" panose="02020603050405020304" pitchFamily="18" charset="0"/>
              </a:rPr>
              <a:t>Elegir la mejor alternativa</a:t>
            </a:r>
          </a:p>
          <a:p>
            <a:pPr marL="342900" indent="-342900" eaLnBrk="0" hangingPunct="0">
              <a:lnSpc>
                <a:spcPct val="170000"/>
              </a:lnSpc>
              <a:buClr>
                <a:srgbClr val="000066"/>
              </a:buClr>
            </a:pPr>
            <a:r>
              <a:rPr lang="es-MX" altLang="es-PE" dirty="0">
                <a:latin typeface="Times New Roman" panose="02020603050405020304" pitchFamily="18" charset="0"/>
              </a:rPr>
              <a:t>Definir prioridades de inversión</a:t>
            </a:r>
          </a:p>
          <a:p>
            <a:pPr marL="342900" indent="-342900" eaLnBrk="0" hangingPunct="0">
              <a:lnSpc>
                <a:spcPct val="170000"/>
              </a:lnSpc>
              <a:buClr>
                <a:srgbClr val="000066"/>
              </a:buClr>
            </a:pPr>
            <a:r>
              <a:rPr lang="es-MX" altLang="es-PE" dirty="0">
                <a:latin typeface="Times New Roman" panose="02020603050405020304" pitchFamily="18" charset="0"/>
              </a:rPr>
              <a:t>Minimizar el riesgo de la inversión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88970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463" y="1135413"/>
            <a:ext cx="4860757" cy="486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33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2. Tipos de evaluación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4702" y="1551305"/>
            <a:ext cx="10515600" cy="4351338"/>
          </a:xfrm>
        </p:spPr>
        <p:txBody>
          <a:bodyPr/>
          <a:lstStyle/>
          <a:p>
            <a:pPr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400" dirty="0" smtClean="0">
                <a:latin typeface="Times New Roman" panose="02020603050405020304" pitchFamily="18" charset="0"/>
              </a:rPr>
              <a:t>Evaluación privada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000" dirty="0" smtClean="0">
                <a:latin typeface="Times New Roman" panose="02020603050405020304" pitchFamily="18" charset="0"/>
              </a:rPr>
              <a:t>Desde el punto de vista de una persona o una empresa (Inversionistas)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000" i="1" dirty="0" smtClean="0">
                <a:latin typeface="Times New Roman" panose="02020603050405020304" pitchFamily="18" charset="0"/>
              </a:rPr>
              <a:t>El inversionista debe ser más rico con el proyecto que sin él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endParaRPr lang="es-MX" altLang="es-PE" sz="2000" dirty="0" smtClean="0">
              <a:latin typeface="Times New Roman" panose="02020603050405020304" pitchFamily="18" charset="0"/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400" dirty="0" smtClean="0">
                <a:latin typeface="Times New Roman" panose="02020603050405020304" pitchFamily="18" charset="0"/>
              </a:rPr>
              <a:t>Evaluación social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000" dirty="0">
                <a:latin typeface="Times New Roman" panose="02020603050405020304" pitchFamily="18" charset="0"/>
              </a:rPr>
              <a:t> Desde </a:t>
            </a:r>
            <a:r>
              <a:rPr lang="es-MX" altLang="es-PE" sz="2000" dirty="0" smtClean="0">
                <a:latin typeface="Times New Roman" panose="02020603050405020304" pitchFamily="18" charset="0"/>
              </a:rPr>
              <a:t>el punto de vista del Estado.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r>
              <a:rPr lang="es-MX" altLang="es-PE" sz="2000" i="1" dirty="0" smtClean="0">
                <a:latin typeface="Times New Roman" panose="02020603050405020304" pitchFamily="18" charset="0"/>
              </a:rPr>
              <a:t>El Estado debe ser más rico o redistributivo con el proyecto que sin él</a:t>
            </a:r>
          </a:p>
          <a:p>
            <a:pPr lvl="1" eaLnBrk="0" hangingPunct="0">
              <a:lnSpc>
                <a:spcPct val="100000"/>
              </a:lnSpc>
              <a:spcBef>
                <a:spcPts val="0"/>
              </a:spcBef>
              <a:buClr>
                <a:srgbClr val="000066"/>
              </a:buClr>
            </a:pPr>
            <a:endParaRPr lang="es-MX" altLang="es-PE" sz="2000" dirty="0">
              <a:latin typeface="Times New Roman" panose="02020603050405020304" pitchFamily="18" charset="0"/>
            </a:endParaRP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4520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Dado el flujo de caja libre …..</a:t>
            </a:r>
            <a:endParaRPr lang="es-PE" dirty="0"/>
          </a:p>
        </p:txBody>
      </p:sp>
      <p:cxnSp>
        <p:nvCxnSpPr>
          <p:cNvPr id="5" name="Conector recto 4"/>
          <p:cNvCxnSpPr/>
          <p:nvPr/>
        </p:nvCxnSpPr>
        <p:spPr>
          <a:xfrm>
            <a:off x="1560945" y="4729018"/>
            <a:ext cx="90146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 flipV="1">
            <a:off x="1560945" y="2253673"/>
            <a:ext cx="0" cy="2475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 flipH="1">
            <a:off x="2318327" y="4036291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>
            <a:off x="2997205" y="4036289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H="1">
            <a:off x="3703789" y="4027055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 flipH="1">
            <a:off x="4394205" y="4036291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>
            <a:off x="5098486" y="4036289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9762837" y="4027055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 flipH="1">
            <a:off x="10571019" y="4036291"/>
            <a:ext cx="9236" cy="70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1126837" y="2253673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I</a:t>
            </a:r>
            <a:endParaRPr lang="es-PE" dirty="0"/>
          </a:p>
        </p:txBody>
      </p:sp>
      <p:sp>
        <p:nvSpPr>
          <p:cNvPr id="20" name="CuadroTexto 19"/>
          <p:cNvSpPr txBox="1"/>
          <p:nvPr/>
        </p:nvSpPr>
        <p:spPr>
          <a:xfrm>
            <a:off x="2172425" y="366695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</a:t>
            </a:r>
            <a:r>
              <a:rPr lang="es-MX" baseline="-25000" dirty="0" smtClean="0"/>
              <a:t>1</a:t>
            </a:r>
            <a:endParaRPr lang="es-PE" baseline="-25000" dirty="0"/>
          </a:p>
        </p:txBody>
      </p:sp>
      <p:sp>
        <p:nvSpPr>
          <p:cNvPr id="21" name="CuadroTexto 20"/>
          <p:cNvSpPr txBox="1"/>
          <p:nvPr/>
        </p:nvSpPr>
        <p:spPr>
          <a:xfrm>
            <a:off x="2860265" y="367662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</a:t>
            </a:r>
            <a:r>
              <a:rPr lang="es-MX" baseline="-25000" dirty="0"/>
              <a:t>2</a:t>
            </a:r>
            <a:endParaRPr lang="es-PE" baseline="-25000" dirty="0"/>
          </a:p>
        </p:txBody>
      </p:sp>
      <p:sp>
        <p:nvSpPr>
          <p:cNvPr id="22" name="CuadroTexto 21"/>
          <p:cNvSpPr txBox="1"/>
          <p:nvPr/>
        </p:nvSpPr>
        <p:spPr>
          <a:xfrm>
            <a:off x="3559085" y="366695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</a:t>
            </a:r>
            <a:r>
              <a:rPr lang="es-MX" baseline="-25000" dirty="0"/>
              <a:t>3</a:t>
            </a:r>
            <a:endParaRPr lang="es-PE" baseline="-25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9605200" y="367157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f</a:t>
            </a:r>
            <a:r>
              <a:rPr lang="es-MX" baseline="-25000" dirty="0" smtClean="0"/>
              <a:t>n-1</a:t>
            </a:r>
            <a:endParaRPr lang="es-PE" baseline="-25000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0413382" y="3671573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 smtClean="0"/>
              <a:t>f</a:t>
            </a:r>
            <a:r>
              <a:rPr lang="es-MX" baseline="-25000" dirty="0" err="1"/>
              <a:t>n</a:t>
            </a:r>
            <a:endParaRPr lang="es-PE" baseline="-25000" dirty="0"/>
          </a:p>
        </p:txBody>
      </p:sp>
      <p:sp>
        <p:nvSpPr>
          <p:cNvPr id="25" name="CuadroTexto 24"/>
          <p:cNvSpPr txBox="1"/>
          <p:nvPr/>
        </p:nvSpPr>
        <p:spPr>
          <a:xfrm>
            <a:off x="4259303" y="367662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</a:t>
            </a:r>
            <a:r>
              <a:rPr lang="es-MX" baseline="-25000" dirty="0" smtClean="0"/>
              <a:t>4</a:t>
            </a:r>
            <a:endParaRPr lang="es-PE" baseline="-25000" dirty="0"/>
          </a:p>
        </p:txBody>
      </p:sp>
      <p:sp>
        <p:nvSpPr>
          <p:cNvPr id="26" name="CuadroTexto 25"/>
          <p:cNvSpPr txBox="1"/>
          <p:nvPr/>
        </p:nvSpPr>
        <p:spPr>
          <a:xfrm>
            <a:off x="4931613" y="3676626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f</a:t>
            </a:r>
            <a:r>
              <a:rPr lang="es-MX" baseline="-25000" dirty="0" smtClean="0"/>
              <a:t>5</a:t>
            </a:r>
            <a:endParaRPr lang="es-PE" baseline="-25000" dirty="0"/>
          </a:p>
        </p:txBody>
      </p:sp>
      <p:sp>
        <p:nvSpPr>
          <p:cNvPr id="27" name="CuadroTexto 26"/>
          <p:cNvSpPr txBox="1"/>
          <p:nvPr/>
        </p:nvSpPr>
        <p:spPr>
          <a:xfrm>
            <a:off x="1856604" y="435968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k</a:t>
            </a:r>
            <a:endParaRPr lang="es-PE" dirty="0"/>
          </a:p>
        </p:txBody>
      </p:sp>
      <p:sp>
        <p:nvSpPr>
          <p:cNvPr id="28" name="CuadroTexto 27"/>
          <p:cNvSpPr txBox="1"/>
          <p:nvPr/>
        </p:nvSpPr>
        <p:spPr>
          <a:xfrm>
            <a:off x="2518735" y="435968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k</a:t>
            </a:r>
            <a:endParaRPr lang="es-PE" dirty="0"/>
          </a:p>
        </p:txBody>
      </p:sp>
      <p:sp>
        <p:nvSpPr>
          <p:cNvPr id="29" name="CuadroTexto 28"/>
          <p:cNvSpPr txBox="1"/>
          <p:nvPr/>
        </p:nvSpPr>
        <p:spPr>
          <a:xfrm>
            <a:off x="3182664" y="435968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k</a:t>
            </a:r>
            <a:endParaRPr lang="es-PE" dirty="0"/>
          </a:p>
        </p:txBody>
      </p:sp>
      <p:sp>
        <p:nvSpPr>
          <p:cNvPr id="30" name="CuadroTexto 29"/>
          <p:cNvSpPr txBox="1"/>
          <p:nvPr/>
        </p:nvSpPr>
        <p:spPr>
          <a:xfrm>
            <a:off x="9982041" y="436892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k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0472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4. Métodos de evaluación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VAN (Valor Actual Neto)</a:t>
            </a:r>
          </a:p>
          <a:p>
            <a:r>
              <a:rPr lang="es-PE" dirty="0" smtClean="0"/>
              <a:t>TIR (Tasa Interna de Retorno)</a:t>
            </a:r>
          </a:p>
          <a:p>
            <a:r>
              <a:rPr lang="es-PE" dirty="0" smtClean="0"/>
              <a:t>B/C (Relación Beneficio – Costo)</a:t>
            </a:r>
          </a:p>
          <a:p>
            <a:r>
              <a:rPr lang="es-PE" dirty="0" err="1" smtClean="0"/>
              <a:t>Pay</a:t>
            </a:r>
            <a:r>
              <a:rPr lang="es-PE" dirty="0" smtClean="0"/>
              <a:t> Back (Período de retorno)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7340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VAN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hangingPunct="0">
              <a:lnSpc>
                <a:spcPct val="100000"/>
              </a:lnSpc>
              <a:spcBef>
                <a:spcPts val="0"/>
              </a:spcBef>
              <a:buFontTx/>
              <a:buChar char="•"/>
            </a:pPr>
            <a:r>
              <a:rPr lang="es-MX" altLang="es-PE" sz="2400" dirty="0" smtClean="0">
                <a:latin typeface="Times New Roman" panose="02020603050405020304" pitchFamily="18" charset="0"/>
              </a:rPr>
              <a:t>Calcula el </a:t>
            </a:r>
            <a:r>
              <a:rPr lang="es-MX" altLang="es-PE" sz="2400" dirty="0">
                <a:latin typeface="Times New Roman" panose="02020603050405020304" pitchFamily="18" charset="0"/>
              </a:rPr>
              <a:t>valor presente </a:t>
            </a:r>
            <a:r>
              <a:rPr lang="es-MX" altLang="es-PE" sz="2400" dirty="0" smtClean="0">
                <a:latin typeface="Times New Roman" panose="02020603050405020304" pitchFamily="18" charset="0"/>
              </a:rPr>
              <a:t>del flujo de fondos de la inversión en el tiempo cero.</a:t>
            </a:r>
          </a:p>
          <a:p>
            <a:pPr algn="just" eaLnBrk="0" hangingPunct="0">
              <a:lnSpc>
                <a:spcPct val="100000"/>
              </a:lnSpc>
              <a:spcBef>
                <a:spcPts val="0"/>
              </a:spcBef>
              <a:buFontTx/>
              <a:buChar char="•"/>
            </a:pPr>
            <a:r>
              <a:rPr lang="es-MX" altLang="es-PE" sz="2400" dirty="0" smtClean="0">
                <a:latin typeface="Times New Roman" panose="02020603050405020304" pitchFamily="18" charset="0"/>
              </a:rPr>
              <a:t>Dado que actualiza el flujo de fondos, todos los ingresos y egresos ya han sido incluidos y lo que queda es incremento de riqueza.</a:t>
            </a:r>
          </a:p>
          <a:p>
            <a:pPr marL="0" indent="0" algn="just" eaLnBrk="0" hangingPunct="0">
              <a:lnSpc>
                <a:spcPct val="100000"/>
              </a:lnSpc>
              <a:spcBef>
                <a:spcPts val="0"/>
              </a:spcBef>
              <a:buNone/>
            </a:pPr>
            <a:endParaRPr lang="es-MX" altLang="es-PE" sz="2400" dirty="0">
              <a:latin typeface="Times New Roman" panose="02020603050405020304" pitchFamily="18" charset="0"/>
            </a:endParaRPr>
          </a:p>
          <a:p>
            <a:pPr algn="just" eaLnBrk="0" hangingPunct="0">
              <a:lnSpc>
                <a:spcPct val="100000"/>
              </a:lnSpc>
              <a:spcBef>
                <a:spcPts val="0"/>
              </a:spcBef>
              <a:buFontTx/>
              <a:buChar char="•"/>
            </a:pPr>
            <a:r>
              <a:rPr lang="es-MX" altLang="es-PE" sz="2400" dirty="0">
                <a:latin typeface="Times New Roman" panose="02020603050405020304" pitchFamily="18" charset="0"/>
              </a:rPr>
              <a:t> </a:t>
            </a:r>
            <a:r>
              <a:rPr lang="es-MX" altLang="es-PE" sz="2400" dirty="0" smtClean="0">
                <a:latin typeface="Times New Roman" panose="02020603050405020304" pitchFamily="18" charset="0"/>
              </a:rPr>
              <a:t>Expresa, “</a:t>
            </a:r>
            <a:r>
              <a:rPr lang="es-MX" altLang="es-PE" sz="2400" i="1" dirty="0" smtClean="0">
                <a:latin typeface="Times New Roman" panose="02020603050405020304" pitchFamily="18" charset="0"/>
              </a:rPr>
              <a:t>cuanto </a:t>
            </a:r>
            <a:r>
              <a:rPr lang="es-MX" altLang="es-PE" sz="2400" i="1" dirty="0">
                <a:latin typeface="Times New Roman" panose="02020603050405020304" pitchFamily="18" charset="0"/>
              </a:rPr>
              <a:t>más rico será el  </a:t>
            </a:r>
            <a:r>
              <a:rPr lang="es-MX" altLang="es-PE" sz="2400" i="1" dirty="0" smtClean="0">
                <a:latin typeface="Times New Roman" panose="02020603050405020304" pitchFamily="18" charset="0"/>
              </a:rPr>
              <a:t>inversionista, </a:t>
            </a:r>
            <a:r>
              <a:rPr lang="es-MX" altLang="es-PE" sz="2400" dirty="0" smtClean="0">
                <a:latin typeface="Times New Roman" panose="02020603050405020304" pitchFamily="18" charset="0"/>
              </a:rPr>
              <a:t>en el tiempo cero</a:t>
            </a:r>
            <a:r>
              <a:rPr lang="es-MX" altLang="es-PE" sz="2400" i="1" dirty="0" smtClean="0">
                <a:latin typeface="Times New Roman" panose="02020603050405020304" pitchFamily="18" charset="0"/>
              </a:rPr>
              <a:t>, </a:t>
            </a:r>
            <a:r>
              <a:rPr lang="es-MX" altLang="es-PE" sz="2400" i="1" dirty="0">
                <a:latin typeface="Times New Roman" panose="02020603050405020304" pitchFamily="18" charset="0"/>
              </a:rPr>
              <a:t>si hace el proyecto </a:t>
            </a:r>
            <a:r>
              <a:rPr lang="es-MX" altLang="es-PE" sz="2400" i="1" dirty="0" smtClean="0">
                <a:latin typeface="Times New Roman" panose="02020603050405020304" pitchFamily="18" charset="0"/>
              </a:rPr>
              <a:t>que </a:t>
            </a:r>
            <a:r>
              <a:rPr lang="es-MX" altLang="es-PE" sz="2400" i="1" dirty="0">
                <a:latin typeface="Times New Roman" panose="02020603050405020304" pitchFamily="18" charset="0"/>
              </a:rPr>
              <a:t>si no lo </a:t>
            </a:r>
            <a:r>
              <a:rPr lang="es-MX" altLang="es-PE" sz="2400" i="1" dirty="0" smtClean="0">
                <a:latin typeface="Times New Roman" panose="02020603050405020304" pitchFamily="18" charset="0"/>
              </a:rPr>
              <a:t>hace”,</a:t>
            </a:r>
            <a:r>
              <a:rPr lang="es-MX" altLang="es-PE" sz="2400" dirty="0" smtClean="0">
                <a:latin typeface="Times New Roman" panose="02020603050405020304" pitchFamily="18" charset="0"/>
              </a:rPr>
              <a:t>.</a:t>
            </a:r>
            <a:endParaRPr lang="es-MX" altLang="es-PE" sz="2400" dirty="0">
              <a:latin typeface="Times New Roman" panose="02020603050405020304" pitchFamily="18" charset="0"/>
            </a:endParaRPr>
          </a:p>
          <a:p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3048000" y="4621266"/>
                <a:ext cx="6096000" cy="10735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𝑉𝐴𝑁</m:t>
                    </m:r>
                    <m:d>
                      <m:dPr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𝐶𝑂𝐾</m:t>
                        </m:r>
                      </m:e>
                    </m:d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s-PE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1+</m:t>
                                    </m:r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𝐶𝑂𝐾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s-P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621266"/>
                <a:ext cx="6096000" cy="1073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37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3817240" y="3081067"/>
            <a:ext cx="4038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PE"/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>
            <a:off x="3817240" y="2166667"/>
            <a:ext cx="0" cy="9144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PE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 flipV="1">
            <a:off x="7855840" y="1818808"/>
            <a:ext cx="0" cy="1262259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triangl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PE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2599752" y="2166667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" altLang="es-PE" b="1" dirty="0"/>
              <a:t>$100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7892228" y="2211645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s-ES" altLang="es-PE" b="1" dirty="0"/>
              <a:t>$150</a:t>
            </a:r>
          </a:p>
        </p:txBody>
      </p: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3459039" y="3895675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altLang="es-PE" b="1" dirty="0" smtClean="0"/>
              <a:t>VAN </a:t>
            </a:r>
            <a:r>
              <a:rPr lang="es-MX" altLang="es-PE" b="1" dirty="0"/>
              <a:t>= VA </a:t>
            </a:r>
            <a:r>
              <a:rPr lang="es-MX" altLang="es-PE" sz="1800" b="1" dirty="0" smtClean="0"/>
              <a:t>(flujo)</a:t>
            </a:r>
            <a:r>
              <a:rPr lang="es-MX" altLang="es-PE" b="1" dirty="0" smtClean="0"/>
              <a:t> </a:t>
            </a:r>
            <a:r>
              <a:rPr lang="es-MX" altLang="es-PE" b="1" dirty="0"/>
              <a:t>– </a:t>
            </a:r>
            <a:r>
              <a:rPr lang="es-MX" altLang="es-PE" b="1" dirty="0" smtClean="0"/>
              <a:t>I (inversión)</a:t>
            </a:r>
            <a:endParaRPr lang="es-ES" altLang="es-PE" sz="2000" b="1" dirty="0"/>
          </a:p>
        </p:txBody>
      </p:sp>
      <p:graphicFrame>
        <p:nvGraphicFramePr>
          <p:cNvPr id="30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981027"/>
              </p:ext>
            </p:extLst>
          </p:nvPr>
        </p:nvGraphicFramePr>
        <p:xfrm>
          <a:off x="2835401" y="5167483"/>
          <a:ext cx="235108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7" name="Ecuación" r:id="rId3" imgW="1422360" imgH="419040" progId="Equation.3">
                  <p:embed/>
                </p:oleObj>
              </mc:Choice>
              <mc:Fallback>
                <p:oleObj name="Ecuación" r:id="rId3" imgW="1422360" imgH="419040" progId="Equation.3">
                  <p:embed/>
                  <p:pic>
                    <p:nvPicPr>
                      <p:cNvPr id="308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401" y="5167483"/>
                        <a:ext cx="2351088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545073"/>
              </p:ext>
            </p:extLst>
          </p:nvPr>
        </p:nvGraphicFramePr>
        <p:xfrm>
          <a:off x="6126039" y="5167483"/>
          <a:ext cx="308927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8" name="Ecuación" r:id="rId5" imgW="1866600" imgH="419040" progId="Equation.3">
                  <p:embed/>
                </p:oleObj>
              </mc:Choice>
              <mc:Fallback>
                <p:oleObj name="Ecuación" r:id="rId5" imgW="1866600" imgH="419040" progId="Equation.3">
                  <p:embed/>
                  <p:pic>
                    <p:nvPicPr>
                      <p:cNvPr id="309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039" y="5167483"/>
                        <a:ext cx="308927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" name="Text Box 20"/>
          <p:cNvSpPr txBox="1">
            <a:spLocks noChangeArrowheads="1"/>
          </p:cNvSpPr>
          <p:nvPr/>
        </p:nvSpPr>
        <p:spPr bwMode="auto">
          <a:xfrm>
            <a:off x="4161122" y="503718"/>
            <a:ext cx="369471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s-MX" altLang="es-PE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Calculo del VAN</a:t>
            </a:r>
            <a:endParaRPr lang="es-ES_tradnl" altLang="es-PE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882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Text Box 353"/>
          <p:cNvSpPr txBox="1">
            <a:spLocks noChangeArrowheads="1"/>
          </p:cNvSpPr>
          <p:nvPr/>
        </p:nvSpPr>
        <p:spPr bwMode="auto">
          <a:xfrm>
            <a:off x="2309489" y="248962"/>
            <a:ext cx="754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s-MX" altLang="es-PE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Significado gráfico</a:t>
            </a:r>
            <a:endParaRPr lang="es-ES_tradnl" altLang="es-PE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1746" name="Picture 2" descr="Resultado de imagen para billete 100 dol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36" y="4235824"/>
            <a:ext cx="2440601" cy="10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4" name="Picture 2" descr="Resultado de imagen para billete 100 dol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399" y="4235824"/>
            <a:ext cx="2440601" cy="10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Resultado de imagen para billete 50 dola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399" y="3019870"/>
            <a:ext cx="2440601" cy="105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cto 3"/>
          <p:cNvCxnSpPr/>
          <p:nvPr/>
        </p:nvCxnSpPr>
        <p:spPr>
          <a:xfrm>
            <a:off x="3167696" y="6196846"/>
            <a:ext cx="6036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3167696" y="5487720"/>
            <a:ext cx="0" cy="70912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>
            <a:off x="9204602" y="5329099"/>
            <a:ext cx="0" cy="86774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3016853" y="63823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0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9053759" y="63823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29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Text Box 353"/>
          <p:cNvSpPr txBox="1">
            <a:spLocks noChangeArrowheads="1"/>
          </p:cNvSpPr>
          <p:nvPr/>
        </p:nvSpPr>
        <p:spPr bwMode="auto">
          <a:xfrm>
            <a:off x="2309489" y="248962"/>
            <a:ext cx="754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s-MX" altLang="es-PE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Significado gráfico</a:t>
            </a:r>
            <a:endParaRPr lang="es-ES_tradnl" altLang="es-PE" sz="4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1746" name="Picture 2" descr="Resultado de imagen para billete 100 dol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36" y="4235824"/>
            <a:ext cx="2440601" cy="10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4" name="Picture 2" descr="Resultado de imagen para billete 100 dola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399" y="4235824"/>
            <a:ext cx="2440601" cy="10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cto 3"/>
          <p:cNvCxnSpPr/>
          <p:nvPr/>
        </p:nvCxnSpPr>
        <p:spPr>
          <a:xfrm>
            <a:off x="3167696" y="6196846"/>
            <a:ext cx="60369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3167696" y="5487720"/>
            <a:ext cx="0" cy="70912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>
            <a:off x="9204602" y="5329099"/>
            <a:ext cx="0" cy="86774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/>
          <p:cNvSpPr txBox="1"/>
          <p:nvPr/>
        </p:nvSpPr>
        <p:spPr>
          <a:xfrm>
            <a:off x="3016853" y="63823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0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9053759" y="63823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1</a:t>
            </a:r>
            <a:endParaRPr lang="es-PE" dirty="0"/>
          </a:p>
        </p:txBody>
      </p:sp>
      <p:pic>
        <p:nvPicPr>
          <p:cNvPr id="34818" name="Picture 2" descr="Resultado de imagen para 10 dolar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198" y="2864271"/>
            <a:ext cx="2673977" cy="129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Resultado de imagen para 20 dola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399" y="1872482"/>
            <a:ext cx="2440601" cy="103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20 dolar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885" y="653812"/>
            <a:ext cx="2440601" cy="103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17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826598" y="388209"/>
            <a:ext cx="39633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_tradnl" altLang="es-PE" sz="4000" dirty="0" smtClean="0"/>
              <a:t>Significado gráfico</a:t>
            </a:r>
            <a:endParaRPr lang="es-ES_tradnl" altLang="es-PE" sz="4000" dirty="0"/>
          </a:p>
        </p:txBody>
      </p:sp>
      <p:sp>
        <p:nvSpPr>
          <p:cNvPr id="5235" name="Rectangle 115"/>
          <p:cNvSpPr>
            <a:spLocks noChangeArrowheads="1"/>
          </p:cNvSpPr>
          <p:nvPr/>
        </p:nvSpPr>
        <p:spPr bwMode="auto">
          <a:xfrm>
            <a:off x="4657619" y="3906121"/>
            <a:ext cx="2286000" cy="2438400"/>
          </a:xfrm>
          <a:prstGeom prst="rect">
            <a:avLst/>
          </a:prstGeom>
          <a:gradFill rotWithShape="0">
            <a:gsLst>
              <a:gs pos="0">
                <a:srgbClr val="65EDA3">
                  <a:gamma/>
                  <a:tint val="0"/>
                  <a:invGamma/>
                </a:srgbClr>
              </a:gs>
              <a:gs pos="0">
                <a:srgbClr val="65EDA3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s-ES_tradnl" altLang="es-PE" sz="2000" dirty="0" smtClean="0"/>
              <a:t>Capital</a:t>
            </a:r>
            <a:endParaRPr lang="es-ES_tradnl" altLang="es-PE" sz="2000" dirty="0"/>
          </a:p>
          <a:p>
            <a:pPr algn="ctr"/>
            <a:r>
              <a:rPr lang="es-ES_tradnl" altLang="es-PE" sz="2000" dirty="0" smtClean="0"/>
              <a:t>100</a:t>
            </a:r>
            <a:endParaRPr lang="es-ES_tradnl" altLang="es-PE" sz="2000" dirty="0"/>
          </a:p>
        </p:txBody>
      </p:sp>
      <p:sp>
        <p:nvSpPr>
          <p:cNvPr id="5236" name="Rectangle 116"/>
          <p:cNvSpPr>
            <a:spLocks noChangeArrowheads="1"/>
          </p:cNvSpPr>
          <p:nvPr/>
        </p:nvSpPr>
        <p:spPr bwMode="auto">
          <a:xfrm>
            <a:off x="4661457" y="1467721"/>
            <a:ext cx="2286000" cy="2438400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tint val="0"/>
                  <a:invGamma/>
                </a:srgbClr>
              </a:gs>
              <a:gs pos="100000">
                <a:srgbClr val="FFFF99"/>
              </a:gs>
            </a:gsLst>
            <a:path path="shape">
              <a:fillToRect l="50000" t="50000" r="50000" b="50000"/>
            </a:path>
          </a:gradFill>
          <a:ln w="28575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" altLang="es-PE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Resultado</a:t>
            </a:r>
            <a:endParaRPr lang="es-ES" altLang="es-P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altLang="es-PE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s-ES" altLang="es-PE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37" name="Rectangle 117"/>
          <p:cNvSpPr>
            <a:spLocks noChangeArrowheads="1"/>
          </p:cNvSpPr>
          <p:nvPr/>
        </p:nvSpPr>
        <p:spPr bwMode="auto">
          <a:xfrm>
            <a:off x="4665295" y="3246633"/>
            <a:ext cx="2286000" cy="6594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_tradnl" altLang="es-PE" sz="2000" dirty="0"/>
              <a:t>Costo </a:t>
            </a:r>
            <a:r>
              <a:rPr lang="es-ES_tradnl" altLang="es-PE" sz="2000" dirty="0" smtClean="0"/>
              <a:t>de capital</a:t>
            </a:r>
            <a:endParaRPr lang="es-ES_tradnl" altLang="es-PE" sz="2000" dirty="0"/>
          </a:p>
          <a:p>
            <a:pPr algn="ctr"/>
            <a:r>
              <a:rPr lang="es-ES_tradnl" altLang="es-PE" sz="2000" dirty="0" smtClean="0"/>
              <a:t>10</a:t>
            </a:r>
            <a:endParaRPr lang="es-ES_tradnl" altLang="es-PE" sz="2000" dirty="0"/>
          </a:p>
        </p:txBody>
      </p:sp>
      <p:sp>
        <p:nvSpPr>
          <p:cNvPr id="5238" name="Rectangle 118"/>
          <p:cNvSpPr>
            <a:spLocks noChangeArrowheads="1"/>
          </p:cNvSpPr>
          <p:nvPr/>
        </p:nvSpPr>
        <p:spPr bwMode="auto">
          <a:xfrm>
            <a:off x="4665295" y="1476375"/>
            <a:ext cx="2286000" cy="1790699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tint val="0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s-ES_tradnl" altLang="es-PE" dirty="0" smtClean="0"/>
              <a:t>Incremento de riqueza</a:t>
            </a:r>
            <a:endParaRPr lang="es-ES_tradnl" altLang="es-PE" dirty="0"/>
          </a:p>
          <a:p>
            <a:pPr algn="ctr"/>
            <a:r>
              <a:rPr lang="es-ES_tradnl" altLang="es-PE" dirty="0" smtClean="0"/>
              <a:t>40</a:t>
            </a:r>
            <a:endParaRPr lang="es-ES_tradnl" altLang="es-PE" dirty="0"/>
          </a:p>
        </p:txBody>
      </p:sp>
      <p:grpSp>
        <p:nvGrpSpPr>
          <p:cNvPr id="5241" name="Group 121"/>
          <p:cNvGrpSpPr>
            <a:grpSpLocks/>
          </p:cNvGrpSpPr>
          <p:nvPr/>
        </p:nvGrpSpPr>
        <p:grpSpPr bwMode="auto">
          <a:xfrm>
            <a:off x="7543801" y="2238375"/>
            <a:ext cx="2868613" cy="266700"/>
            <a:chOff x="3792" y="1410"/>
            <a:chExt cx="1807" cy="168"/>
          </a:xfrm>
        </p:grpSpPr>
        <p:sp>
          <p:nvSpPr>
            <p:cNvPr id="5242" name="Line 122"/>
            <p:cNvSpPr>
              <a:spLocks noChangeShapeType="1"/>
            </p:cNvSpPr>
            <p:nvPr/>
          </p:nvSpPr>
          <p:spPr bwMode="auto">
            <a:xfrm>
              <a:off x="3792" y="1488"/>
              <a:ext cx="384" cy="0"/>
            </a:xfrm>
            <a:prstGeom prst="line">
              <a:avLst/>
            </a:prstGeom>
            <a:noFill/>
            <a:ln w="76200" cap="sq">
              <a:solidFill>
                <a:schemeClr val="bg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s-PE"/>
            </a:p>
          </p:txBody>
        </p:sp>
        <p:graphicFrame>
          <p:nvGraphicFramePr>
            <p:cNvPr id="5243" name="Object 1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071952"/>
                </p:ext>
              </p:extLst>
            </p:nvPr>
          </p:nvGraphicFramePr>
          <p:xfrm>
            <a:off x="4230" y="1410"/>
            <a:ext cx="1369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5" name="Ecuación" r:id="rId3" imgW="1447560" imgH="177480" progId="Equation.3">
                    <p:embed/>
                  </p:oleObj>
                </mc:Choice>
                <mc:Fallback>
                  <p:oleObj name="Ecuación" r:id="rId3" imgW="1447560" imgH="177480" progId="Equation.3">
                    <p:embed/>
                    <p:pic>
                      <p:nvPicPr>
                        <p:cNvPr id="5243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0" y="1410"/>
                          <a:ext cx="1369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210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5" grpId="0" animBg="1" autoUpdateAnimBg="0"/>
      <p:bldP spid="5236" grpId="0" animBg="1" autoUpdateAnimBg="0"/>
      <p:bldP spid="5237" grpId="0" animBg="1" autoUpdateAnimBg="0"/>
      <p:bldP spid="523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805" y="2146300"/>
            <a:ext cx="6118389" cy="2565400"/>
          </a:xfrm>
          <a:prstGeom prst="rect">
            <a:avLst/>
          </a:prstGeom>
        </p:spPr>
      </p:pic>
      <p:sp>
        <p:nvSpPr>
          <p:cNvPr id="6" name="Forma libre 5"/>
          <p:cNvSpPr/>
          <p:nvPr/>
        </p:nvSpPr>
        <p:spPr>
          <a:xfrm>
            <a:off x="3872204" y="2304659"/>
            <a:ext cx="3834882" cy="1371602"/>
          </a:xfrm>
          <a:custGeom>
            <a:avLst/>
            <a:gdLst>
              <a:gd name="connsiteX0" fmla="*/ 0 w 3834882"/>
              <a:gd name="connsiteY0" fmla="*/ 1362272 h 1371602"/>
              <a:gd name="connsiteX1" fmla="*/ 1959429 w 3834882"/>
              <a:gd name="connsiteY1" fmla="*/ 2 h 1371602"/>
              <a:gd name="connsiteX2" fmla="*/ 3834882 w 3834882"/>
              <a:gd name="connsiteY2" fmla="*/ 1371602 h 137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34882" h="1371602">
                <a:moveTo>
                  <a:pt x="0" y="1362272"/>
                </a:moveTo>
                <a:cubicBezTo>
                  <a:pt x="660141" y="680359"/>
                  <a:pt x="1320282" y="-1553"/>
                  <a:pt x="1959429" y="2"/>
                </a:cubicBezTo>
                <a:cubicBezTo>
                  <a:pt x="2598576" y="1557"/>
                  <a:pt x="3216729" y="686579"/>
                  <a:pt x="3834882" y="137160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Forma libre 6"/>
          <p:cNvSpPr/>
          <p:nvPr/>
        </p:nvSpPr>
        <p:spPr>
          <a:xfrm>
            <a:off x="3881535" y="4282751"/>
            <a:ext cx="3881534" cy="1185943"/>
          </a:xfrm>
          <a:custGeom>
            <a:avLst/>
            <a:gdLst>
              <a:gd name="connsiteX0" fmla="*/ 3881534 w 3881534"/>
              <a:gd name="connsiteY0" fmla="*/ 0 h 1185943"/>
              <a:gd name="connsiteX1" fmla="*/ 1987420 w 3881534"/>
              <a:gd name="connsiteY1" fmla="*/ 1184988 h 1185943"/>
              <a:gd name="connsiteX2" fmla="*/ 0 w 3881534"/>
              <a:gd name="connsiteY2" fmla="*/ 158620 h 118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1534" h="1185943">
                <a:moveTo>
                  <a:pt x="3881534" y="0"/>
                </a:moveTo>
                <a:cubicBezTo>
                  <a:pt x="3257938" y="579275"/>
                  <a:pt x="2634342" y="1158551"/>
                  <a:pt x="1987420" y="1184988"/>
                </a:cubicBezTo>
                <a:cubicBezTo>
                  <a:pt x="1340498" y="1211425"/>
                  <a:pt x="670249" y="685022"/>
                  <a:pt x="0" y="15862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/>
          <p:cNvSpPr txBox="1"/>
          <p:nvPr/>
        </p:nvSpPr>
        <p:spPr>
          <a:xfrm>
            <a:off x="2907145" y="787695"/>
            <a:ext cx="6377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600" dirty="0" smtClean="0"/>
              <a:t>El valor presente y el valor futuro</a:t>
            </a:r>
            <a:endParaRPr lang="es-PE" sz="3600" dirty="0"/>
          </a:p>
        </p:txBody>
      </p:sp>
      <p:sp>
        <p:nvSpPr>
          <p:cNvPr id="9" name="CuadroTexto 8"/>
          <p:cNvSpPr txBox="1"/>
          <p:nvPr/>
        </p:nvSpPr>
        <p:spPr>
          <a:xfrm>
            <a:off x="3177339" y="5613519"/>
            <a:ext cx="60094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Si depositara mi dinero (100) en una entidad financiera al 10%</a:t>
            </a:r>
          </a:p>
          <a:p>
            <a:r>
              <a:rPr lang="es-PE" dirty="0" smtClean="0"/>
              <a:t>me proporcionaría luego de un período 110.</a:t>
            </a:r>
          </a:p>
          <a:p>
            <a:r>
              <a:rPr lang="es-PE" dirty="0" smtClean="0"/>
              <a:t>Lo que está en exceso de 110 es el incremento real de riqueza</a:t>
            </a:r>
          </a:p>
          <a:p>
            <a:r>
              <a:rPr lang="es-PE" dirty="0" smtClean="0"/>
              <a:t>al invertir en el proyecto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9703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8112241" y="4452829"/>
            <a:ext cx="1550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s-MX" altLang="es-PE" sz="1600" dirty="0" smtClean="0">
                <a:latin typeface="Times New Roman" panose="02020603050405020304" pitchFamily="18" charset="0"/>
              </a:rPr>
              <a:t>Cok= </a:t>
            </a:r>
            <a:r>
              <a:rPr lang="es-MX" altLang="es-PE" sz="1600" dirty="0">
                <a:latin typeface="Times New Roman" panose="02020603050405020304" pitchFamily="18" charset="0"/>
              </a:rPr>
              <a:t>10%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053" y="1717029"/>
            <a:ext cx="7133889" cy="231140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2590800" y="809625"/>
            <a:ext cx="171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Calculo del VAN 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421483"/>
            <a:ext cx="2056388" cy="10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1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Criterios de aplicación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Cualquier valor de VAN igual o mayor que cero, muestra que el proyecto puede generar riqueza neta para el inversionista.</a:t>
            </a:r>
          </a:p>
          <a:p>
            <a:endParaRPr lang="es-PE" dirty="0"/>
          </a:p>
          <a:p>
            <a:r>
              <a:rPr lang="es-PE" dirty="0" smtClean="0"/>
              <a:t>VAN &gt;= 0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1972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Propiedades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7204"/>
          </a:xfrm>
        </p:spPr>
        <p:txBody>
          <a:bodyPr>
            <a:normAutofit/>
          </a:bodyPr>
          <a:lstStyle/>
          <a:p>
            <a:r>
              <a:rPr lang="es-PE" dirty="0" err="1" smtClean="0"/>
              <a:t>Aditividad</a:t>
            </a:r>
            <a:endParaRPr lang="es-PE" dirty="0" smtClean="0"/>
          </a:p>
          <a:p>
            <a:r>
              <a:rPr lang="es-PE" dirty="0" smtClean="0"/>
              <a:t>VAN</a:t>
            </a:r>
            <a:r>
              <a:rPr lang="es-PE" baseline="-25000" dirty="0" smtClean="0"/>
              <a:t>A</a:t>
            </a:r>
            <a:r>
              <a:rPr lang="es-PE" dirty="0" smtClean="0"/>
              <a:t> + VAN</a:t>
            </a:r>
            <a:r>
              <a:rPr lang="es-PE" baseline="-25000" dirty="0"/>
              <a:t>B</a:t>
            </a:r>
            <a:r>
              <a:rPr lang="es-PE" dirty="0" smtClean="0"/>
              <a:t>  = VAN </a:t>
            </a:r>
            <a:r>
              <a:rPr lang="es-PE" baseline="-25000" dirty="0"/>
              <a:t>A+B</a:t>
            </a:r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474913"/>
              </p:ext>
            </p:extLst>
          </p:nvPr>
        </p:nvGraphicFramePr>
        <p:xfrm>
          <a:off x="2130425" y="3290225"/>
          <a:ext cx="7931150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Hoja de cálculo" r:id="rId3" imgW="4943706" imgH="938856" progId="Excel.Sheet.8">
                  <p:embed/>
                </p:oleObj>
              </mc:Choice>
              <mc:Fallback>
                <p:oleObj name="Hoja de cálculo" r:id="rId3" imgW="4943706" imgH="938856" progId="Excel.Sheet.8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3290225"/>
                        <a:ext cx="7931150" cy="163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203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TIR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04701" y="1293610"/>
            <a:ext cx="10515600" cy="2796252"/>
          </a:xfrm>
        </p:spPr>
        <p:txBody>
          <a:bodyPr>
            <a:normAutofit fontScale="77500" lnSpcReduction="20000"/>
          </a:bodyPr>
          <a:lstStyle/>
          <a:p>
            <a:pPr eaLnBrk="0" hangingPunct="0">
              <a:lnSpc>
                <a:spcPct val="180000"/>
              </a:lnSpc>
            </a:pPr>
            <a:r>
              <a:rPr lang="es-MX" altLang="es-PE" u="sng" dirty="0">
                <a:latin typeface="Times New Roman" panose="02020603050405020304" pitchFamily="18" charset="0"/>
              </a:rPr>
              <a:t>Definición  “Operativa”</a:t>
            </a:r>
          </a:p>
          <a:p>
            <a:pPr eaLnBrk="0" hangingPunct="0">
              <a:lnSpc>
                <a:spcPct val="180000"/>
              </a:lnSpc>
            </a:pPr>
            <a:r>
              <a:rPr lang="es-MX" altLang="es-PE" dirty="0">
                <a:latin typeface="Times New Roman" panose="02020603050405020304" pitchFamily="18" charset="0"/>
              </a:rPr>
              <a:t>Es la tasa que hace el VAN igual a Cero</a:t>
            </a:r>
          </a:p>
          <a:p>
            <a:pPr eaLnBrk="0" hangingPunct="0">
              <a:lnSpc>
                <a:spcPct val="180000"/>
              </a:lnSpc>
            </a:pPr>
            <a:r>
              <a:rPr lang="es-MX" altLang="es-PE" u="sng" dirty="0" smtClean="0">
                <a:latin typeface="Times New Roman" panose="02020603050405020304" pitchFamily="18" charset="0"/>
              </a:rPr>
              <a:t>Definición </a:t>
            </a:r>
            <a:r>
              <a:rPr lang="es-MX" altLang="es-PE" u="sng" dirty="0">
                <a:latin typeface="Times New Roman" panose="02020603050405020304" pitchFamily="18" charset="0"/>
              </a:rPr>
              <a:t>“Conceptual”</a:t>
            </a:r>
          </a:p>
          <a:p>
            <a:pPr eaLnBrk="0" hangingPunct="0">
              <a:lnSpc>
                <a:spcPct val="180000"/>
              </a:lnSpc>
            </a:pPr>
            <a:r>
              <a:rPr lang="es-MX" altLang="es-PE" dirty="0">
                <a:latin typeface="Times New Roman" panose="02020603050405020304" pitchFamily="18" charset="0"/>
              </a:rPr>
              <a:t>Es la rentabilidad interna del proyecto</a:t>
            </a:r>
          </a:p>
          <a:p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3114501" y="4380196"/>
                <a:ext cx="6096000" cy="10735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𝑉𝐴𝑁</m:t>
                    </m:r>
                    <m:d>
                      <m:dPr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𝑡𝑖𝑟</m:t>
                        </m:r>
                      </m:e>
                    </m:d>
                    <m:r>
                      <a:rPr lang="es-PE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s-PE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s-PE" b="0" i="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𝑡𝑖𝑟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es-P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501" y="4380196"/>
                <a:ext cx="6096000" cy="1073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66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52893" y="514350"/>
            <a:ext cx="6585065" cy="444500"/>
          </a:xfrm>
        </p:spPr>
        <p:txBody>
          <a:bodyPr>
            <a:noAutofit/>
          </a:bodyPr>
          <a:lstStyle/>
          <a:p>
            <a:r>
              <a:rPr lang="es-PE" sz="2000" dirty="0" smtClean="0"/>
              <a:t>CALCULO DE LA TIR</a:t>
            </a:r>
            <a:endParaRPr lang="es-PE" sz="2000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893" y="1543050"/>
            <a:ext cx="7286214" cy="3771900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7581207" y="45720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TIR = 28.2%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0657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Criterios de aplicación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Se aceptan los proyectos cuyo cok es menor que la TIR.</a:t>
            </a:r>
          </a:p>
          <a:p>
            <a:r>
              <a:rPr lang="es-PE" dirty="0" smtClean="0"/>
              <a:t>En términos absolutos deseable una TIR lo más alta posible.</a:t>
            </a:r>
          </a:p>
          <a:p>
            <a:r>
              <a:rPr lang="es-PE" dirty="0" smtClean="0"/>
              <a:t>Un proyecto dependiendo que sus flujos, puede tener mas de una TIR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2385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Variación del VAN al variar el COK</a:t>
            </a:r>
            <a:endParaRPr lang="es-PE" dirty="0"/>
          </a:p>
        </p:txBody>
      </p:sp>
      <p:graphicFrame>
        <p:nvGraphicFramePr>
          <p:cNvPr id="5" name="Gráfico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930920"/>
              </p:ext>
            </p:extLst>
          </p:nvPr>
        </p:nvGraphicFramePr>
        <p:xfrm>
          <a:off x="1096110" y="1783730"/>
          <a:ext cx="6691313" cy="4071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uadroTexto 6"/>
          <p:cNvSpPr txBox="1"/>
          <p:nvPr/>
        </p:nvSpPr>
        <p:spPr>
          <a:xfrm>
            <a:off x="8578735" y="4813069"/>
            <a:ext cx="3147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Nótese que cuando COK=28.2%</a:t>
            </a:r>
          </a:p>
          <a:p>
            <a:r>
              <a:rPr lang="es-PE" dirty="0" smtClean="0"/>
              <a:t>VAN es cero.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9741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Beneficio/Costo (B/C)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74775"/>
          </a:xfrm>
        </p:spPr>
        <p:txBody>
          <a:bodyPr/>
          <a:lstStyle/>
          <a:p>
            <a:r>
              <a:rPr lang="es-PE" dirty="0" smtClean="0"/>
              <a:t>Mide la relación entre el beneficio que genera el proyecto y los costos que irroga.</a:t>
            </a:r>
            <a:endParaRPr lang="es-P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3048000" y="3582174"/>
                <a:ext cx="6096000" cy="10735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 smtClean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PE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𝐵</m:t>
                        </m:r>
                      </m:num>
                      <m:den>
                        <m: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den>
                    </m:f>
                    <m:d>
                      <m:dPr>
                        <m:ctrlP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𝐶𝑂𝐾</m:t>
                        </m:r>
                      </m:e>
                    </m:d>
                    <m:r>
                      <a:rPr lang="es-PE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PE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nary>
                      <m:naryPr>
                        <m:chr m:val="∑"/>
                        <m:grow m:val="on"/>
                        <m:ctrlPr>
                          <a:rPr lang="es-PE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s-PE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s-PE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s-PE" i="1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𝐶𝑂𝐾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s-PE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)/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𝐼𝑜</m:t>
                        </m:r>
                      </m:e>
                    </m:nary>
                  </m:oMath>
                </a14:m>
                <a:endParaRPr lang="es-PE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582174"/>
                <a:ext cx="6096000" cy="10735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333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Período de repago del capital  (</a:t>
            </a:r>
            <a:r>
              <a:rPr lang="es-PE" dirty="0" err="1" smtClean="0"/>
              <a:t>pay</a:t>
            </a:r>
            <a:r>
              <a:rPr lang="es-PE" dirty="0" smtClean="0"/>
              <a:t> back)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99960"/>
          </a:xfrm>
        </p:spPr>
        <p:txBody>
          <a:bodyPr/>
          <a:lstStyle/>
          <a:p>
            <a:r>
              <a:rPr lang="es-PE" dirty="0" smtClean="0"/>
              <a:t>Sin descontar</a:t>
            </a:r>
            <a:endParaRPr lang="es-PE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3528424"/>
              </p:ext>
            </p:extLst>
          </p:nvPr>
        </p:nvGraphicFramePr>
        <p:xfrm>
          <a:off x="1757537" y="3260522"/>
          <a:ext cx="839311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8" name="Hoja de cálculo" r:id="rId3" imgW="5653965" imgH="487802" progId="Excel.Sheet.8">
                  <p:embed/>
                </p:oleObj>
              </mc:Choice>
              <mc:Fallback>
                <p:oleObj name="Hoja de cálculo" r:id="rId3" imgW="5653965" imgH="487802" progId="Excel.Sheet.8">
                  <p:embed/>
                  <p:pic>
                    <p:nvPicPr>
                      <p:cNvPr id="235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537" y="3260522"/>
                        <a:ext cx="8393112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7805651" y="4788131"/>
            <a:ext cx="1495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TRC = 03 años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1894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Tiempo de repago del capital (</a:t>
            </a:r>
            <a:r>
              <a:rPr lang="es-PE" dirty="0" err="1" smtClean="0"/>
              <a:t>Pay</a:t>
            </a:r>
            <a:r>
              <a:rPr lang="es-PE" dirty="0" smtClean="0"/>
              <a:t> back)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676506"/>
          </a:xfrm>
        </p:spPr>
        <p:txBody>
          <a:bodyPr/>
          <a:lstStyle/>
          <a:p>
            <a:r>
              <a:rPr lang="es-PE" dirty="0" smtClean="0"/>
              <a:t>Con tasa de descuento (10%)</a:t>
            </a:r>
            <a:endParaRPr lang="es-PE" dirty="0"/>
          </a:p>
        </p:txBody>
      </p:sp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250135"/>
              </p:ext>
            </p:extLst>
          </p:nvPr>
        </p:nvGraphicFramePr>
        <p:xfrm>
          <a:off x="2107363" y="3490249"/>
          <a:ext cx="78613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name="Hoja de cálculo" r:id="rId3" imgW="5653965" imgH="646319" progId="Excel.Sheet.8">
                  <p:embed/>
                </p:oleObj>
              </mc:Choice>
              <mc:Fallback>
                <p:oleObj name="Hoja de cálculo" r:id="rId3" imgW="5653965" imgH="646319" progId="Excel.Sheet.8">
                  <p:embed/>
                  <p:pic>
                    <p:nvPicPr>
                      <p:cNvPr id="24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363" y="3490249"/>
                        <a:ext cx="7861300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7606145" y="5311833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TRC = 4 años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062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VAN vs TRC</a:t>
            </a:r>
            <a:endParaRPr lang="es-PE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747839" y="2895600"/>
          <a:ext cx="87788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8" name="Hoja de cálculo" r:id="rId3" imgW="6619826" imgH="600133" progId="Excel.Sheet.8">
                  <p:embed/>
                </p:oleObj>
              </mc:Choice>
              <mc:Fallback>
                <p:oleObj name="Hoja de cálculo" r:id="rId3" imgW="6619826" imgH="600133" progId="Excel.Sheet.8">
                  <p:embed/>
                  <p:pic>
                    <p:nvPicPr>
                      <p:cNvPr id="26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9" y="2895600"/>
                        <a:ext cx="87788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730375" y="4335463"/>
          <a:ext cx="8834438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9" name="Hoja de cálculo" r:id="rId5" imgW="6715067" imgH="790615" progId="Excel.Sheet.8">
                  <p:embed/>
                </p:oleObj>
              </mc:Choice>
              <mc:Fallback>
                <p:oleObj name="Hoja de cálculo" r:id="rId5" imgW="6715067" imgH="790615" progId="Excel.Sheet.8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4335463"/>
                        <a:ext cx="8834438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605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1"/>
          <p:cNvSpPr txBox="1">
            <a:spLocks/>
          </p:cNvSpPr>
          <p:nvPr/>
        </p:nvSpPr>
        <p:spPr>
          <a:xfrm>
            <a:off x="617913" y="426720"/>
            <a:ext cx="10972800" cy="687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 smtClean="0"/>
              <a:t>Comparación de proyectos de inversión con tiempos de vida diferentes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6066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86117-00BC-4292-A2E1-AC97EB8F43BC}" type="slidenum">
              <a:rPr lang="es-ES" altLang="es-PE"/>
              <a:pPr/>
              <a:t>35</a:t>
            </a:fld>
            <a:endParaRPr lang="es-ES" altLang="es-PE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  <a:noFill/>
          <a:ln/>
        </p:spPr>
        <p:txBody>
          <a:bodyPr/>
          <a:lstStyle/>
          <a:p>
            <a:r>
              <a:rPr lang="es-MX" altLang="es-PE" sz="3200" b="1" dirty="0" smtClean="0">
                <a:latin typeface="Tahoma" panose="020B0604030504040204" pitchFamily="34" charset="0"/>
              </a:rPr>
              <a:t>Valor anual equivalente (VAE)</a:t>
            </a:r>
            <a:endParaRPr lang="es-ES" altLang="es-PE" sz="3200" b="1" dirty="0">
              <a:latin typeface="Tahoma" panose="020B0604030504040204" pitchFamily="34" charset="0"/>
            </a:endParaRPr>
          </a:p>
        </p:txBody>
      </p:sp>
      <p:sp>
        <p:nvSpPr>
          <p:cNvPr id="294915" name="Rectangle 3"/>
          <p:cNvSpPr>
            <a:spLocks noChangeArrowheads="1"/>
          </p:cNvSpPr>
          <p:nvPr/>
        </p:nvSpPr>
        <p:spPr bwMode="auto">
          <a:xfrm>
            <a:off x="2057400" y="1165225"/>
            <a:ext cx="80772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buClr>
                <a:schemeClr val="tx2"/>
              </a:buClr>
            </a:pPr>
            <a:endParaRPr lang="es-MX" altLang="es-PE" sz="2800" b="1" dirty="0">
              <a:latin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buClr>
                <a:schemeClr val="tx1"/>
              </a:buClr>
            </a:pPr>
            <a:r>
              <a:rPr lang="es-MX" altLang="es-PE" sz="2800" dirty="0" smtClean="0">
                <a:latin typeface="Tahoma" panose="020B0604030504040204" pitchFamily="34" charset="0"/>
                <a:cs typeface="Times New Roman" panose="02020603050405020304" pitchFamily="18" charset="0"/>
              </a:rPr>
              <a:t>Consiste </a:t>
            </a:r>
            <a:r>
              <a:rPr lang="es-MX" altLang="es-PE" sz="2800" dirty="0">
                <a:latin typeface="Tahoma" panose="020B0604030504040204" pitchFamily="34" charset="0"/>
                <a:cs typeface="Times New Roman" panose="02020603050405020304" pitchFamily="18" charset="0"/>
              </a:rPr>
              <a:t>en expresar </a:t>
            </a:r>
            <a:r>
              <a:rPr lang="es-MX" altLang="es-PE" sz="2800" dirty="0" smtClean="0">
                <a:latin typeface="Tahoma" panose="020B0604030504040204" pitchFamily="34" charset="0"/>
                <a:cs typeface="Times New Roman" panose="02020603050405020304" pitchFamily="18" charset="0"/>
              </a:rPr>
              <a:t>todos los flujos del </a:t>
            </a:r>
            <a:r>
              <a:rPr lang="es-MX" altLang="es-PE" sz="2800" dirty="0">
                <a:latin typeface="Tahoma" panose="020B0604030504040204" pitchFamily="34" charset="0"/>
                <a:cs typeface="Times New Roman" panose="02020603050405020304" pitchFamily="18" charset="0"/>
              </a:rPr>
              <a:t>proyecto en términos de una cuota anual, cuyo valor actualizado es igual al </a:t>
            </a:r>
            <a:r>
              <a:rPr lang="es-MX" altLang="es-PE" sz="2800" dirty="0" smtClean="0">
                <a:latin typeface="Tahoma" panose="020B0604030504040204" pitchFamily="34" charset="0"/>
                <a:cs typeface="Times New Roman" panose="02020603050405020304" pitchFamily="18" charset="0"/>
              </a:rPr>
              <a:t>VAN </a:t>
            </a:r>
            <a:r>
              <a:rPr lang="es-MX" altLang="es-PE" sz="2800" dirty="0">
                <a:latin typeface="Tahoma" panose="020B0604030504040204" pitchFamily="34" charset="0"/>
                <a:cs typeface="Times New Roman" panose="02020603050405020304" pitchFamily="18" charset="0"/>
              </a:rPr>
              <a:t>del proyecto.</a:t>
            </a:r>
            <a:r>
              <a:rPr lang="es-ES" altLang="es-PE" sz="2800" dirty="0">
                <a:latin typeface="Tahoma" panose="020B0604030504040204" pitchFamily="34" charset="0"/>
                <a:cs typeface="Times New Roman" panose="02020603050405020304" pitchFamily="18" charset="0"/>
              </a:rPr>
              <a:t> </a:t>
            </a:r>
            <a:endParaRPr lang="ar-SA" altLang="es-PE" sz="2800" dirty="0"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09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5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887" y="152838"/>
            <a:ext cx="10515600" cy="1325563"/>
          </a:xfrm>
        </p:spPr>
        <p:txBody>
          <a:bodyPr/>
          <a:lstStyle/>
          <a:p>
            <a:r>
              <a:rPr lang="es-PE" dirty="0" smtClean="0"/>
              <a:t>Vidas diferentes</a:t>
            </a:r>
            <a:endParaRPr lang="es-PE" dirty="0"/>
          </a:p>
        </p:txBody>
      </p:sp>
      <p:grpSp>
        <p:nvGrpSpPr>
          <p:cNvPr id="56" name="Grupo 55"/>
          <p:cNvGrpSpPr/>
          <p:nvPr/>
        </p:nvGrpSpPr>
        <p:grpSpPr>
          <a:xfrm>
            <a:off x="1110538" y="4163521"/>
            <a:ext cx="2950726" cy="1310285"/>
            <a:chOff x="504232" y="5132544"/>
            <a:chExt cx="4029721" cy="1784457"/>
          </a:xfrm>
        </p:grpSpPr>
        <p:cxnSp>
          <p:nvCxnSpPr>
            <p:cNvPr id="29" name="Conector recto 28"/>
            <p:cNvCxnSpPr/>
            <p:nvPr/>
          </p:nvCxnSpPr>
          <p:spPr>
            <a:xfrm>
              <a:off x="630349" y="6405704"/>
              <a:ext cx="3738247" cy="25077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de flecha 29"/>
            <p:cNvCxnSpPr/>
            <p:nvPr/>
          </p:nvCxnSpPr>
          <p:spPr>
            <a:xfrm flipH="1" flipV="1">
              <a:off x="646101" y="5132544"/>
              <a:ext cx="8974" cy="1223789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de flecha 30"/>
            <p:cNvCxnSpPr/>
            <p:nvPr/>
          </p:nvCxnSpPr>
          <p:spPr>
            <a:xfrm flipH="1">
              <a:off x="1525437" y="5744438"/>
              <a:ext cx="8021" cy="574308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de flecha 31"/>
            <p:cNvCxnSpPr/>
            <p:nvPr/>
          </p:nvCxnSpPr>
          <p:spPr>
            <a:xfrm flipH="1">
              <a:off x="2442384" y="5744438"/>
              <a:ext cx="13630" cy="611894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de flecha 32"/>
            <p:cNvCxnSpPr/>
            <p:nvPr/>
          </p:nvCxnSpPr>
          <p:spPr>
            <a:xfrm flipH="1">
              <a:off x="3390929" y="5744438"/>
              <a:ext cx="27828" cy="611894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de flecha 33"/>
            <p:cNvCxnSpPr/>
            <p:nvPr/>
          </p:nvCxnSpPr>
          <p:spPr>
            <a:xfrm>
              <a:off x="4312210" y="5744438"/>
              <a:ext cx="1" cy="619346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CuadroTexto 34"/>
            <p:cNvSpPr txBox="1"/>
            <p:nvPr/>
          </p:nvSpPr>
          <p:spPr>
            <a:xfrm>
              <a:off x="504232" y="65252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0</a:t>
              </a:r>
              <a:endParaRPr lang="es-PE" dirty="0"/>
            </a:p>
          </p:txBody>
        </p:sp>
        <p:sp>
          <p:nvSpPr>
            <p:cNvPr id="36" name="CuadroTexto 35"/>
            <p:cNvSpPr txBox="1"/>
            <p:nvPr/>
          </p:nvSpPr>
          <p:spPr>
            <a:xfrm>
              <a:off x="2291540" y="64930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2</a:t>
              </a:r>
              <a:endParaRPr lang="es-PE" dirty="0"/>
            </a:p>
          </p:txBody>
        </p:sp>
        <p:sp>
          <p:nvSpPr>
            <p:cNvPr id="37" name="CuadroTexto 36"/>
            <p:cNvSpPr txBox="1"/>
            <p:nvPr/>
          </p:nvSpPr>
          <p:spPr>
            <a:xfrm>
              <a:off x="1342613" y="649376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1</a:t>
              </a:r>
              <a:endParaRPr lang="es-PE" dirty="0"/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4161367" y="654766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4</a:t>
              </a:r>
              <a:endParaRPr lang="es-PE" dirty="0"/>
            </a:p>
          </p:txBody>
        </p:sp>
        <p:sp>
          <p:nvSpPr>
            <p:cNvPr id="39" name="CuadroTexto 38"/>
            <p:cNvSpPr txBox="1"/>
            <p:nvPr/>
          </p:nvSpPr>
          <p:spPr>
            <a:xfrm>
              <a:off x="3240085" y="65173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3</a:t>
              </a:r>
              <a:endParaRPr lang="es-PE" dirty="0"/>
            </a:p>
          </p:txBody>
        </p:sp>
        <p:sp>
          <p:nvSpPr>
            <p:cNvPr id="40" name="CuadroTexto 39"/>
            <p:cNvSpPr txBox="1"/>
            <p:nvPr/>
          </p:nvSpPr>
          <p:spPr>
            <a:xfrm>
              <a:off x="1342613" y="5212015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1</a:t>
              </a:r>
              <a:endParaRPr lang="es-PE" baseline="-25000" dirty="0"/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2317929" y="5212015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2</a:t>
              </a:r>
              <a:endParaRPr lang="es-PE" baseline="-25000" dirty="0"/>
            </a:p>
          </p:txBody>
        </p:sp>
        <p:sp>
          <p:nvSpPr>
            <p:cNvPr id="44" name="CuadroTexto 43"/>
            <p:cNvSpPr txBox="1"/>
            <p:nvPr/>
          </p:nvSpPr>
          <p:spPr>
            <a:xfrm>
              <a:off x="3237574" y="5212015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3</a:t>
              </a:r>
              <a:endParaRPr lang="es-PE" baseline="-25000" dirty="0"/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4054591" y="517578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4</a:t>
              </a:r>
              <a:endParaRPr lang="es-PE" baseline="-25000" dirty="0"/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1053810" y="1247010"/>
            <a:ext cx="3855074" cy="2073706"/>
            <a:chOff x="1053810" y="1247010"/>
            <a:chExt cx="4876808" cy="3195496"/>
          </a:xfrm>
        </p:grpSpPr>
        <p:cxnSp>
          <p:nvCxnSpPr>
            <p:cNvPr id="5" name="Conector recto 4"/>
            <p:cNvCxnSpPr/>
            <p:nvPr/>
          </p:nvCxnSpPr>
          <p:spPr>
            <a:xfrm>
              <a:off x="1146577" y="3932375"/>
              <a:ext cx="4544360" cy="86173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6"/>
            <p:cNvCxnSpPr/>
            <p:nvPr/>
          </p:nvCxnSpPr>
          <p:spPr>
            <a:xfrm flipH="1" flipV="1">
              <a:off x="1171699" y="1247010"/>
              <a:ext cx="32954" cy="2634827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/>
            <p:cNvCxnSpPr/>
            <p:nvPr/>
          </p:nvCxnSpPr>
          <p:spPr>
            <a:xfrm flipH="1">
              <a:off x="2075014" y="2929851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/>
            <p:cNvCxnSpPr/>
            <p:nvPr/>
          </p:nvCxnSpPr>
          <p:spPr>
            <a:xfrm flipH="1">
              <a:off x="2991961" y="296743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H="1">
              <a:off x="3940506" y="296743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/>
            <p:nvPr/>
          </p:nvCxnSpPr>
          <p:spPr>
            <a:xfrm flipH="1">
              <a:off x="4861788" y="2974889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/>
            <p:cNvSpPr txBox="1"/>
            <p:nvPr/>
          </p:nvSpPr>
          <p:spPr>
            <a:xfrm>
              <a:off x="1053810" y="405070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0</a:t>
              </a:r>
              <a:endParaRPr lang="es-PE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2841118" y="40185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2</a:t>
              </a:r>
              <a:endParaRPr lang="es-PE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1892191" y="40192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1</a:t>
              </a:r>
              <a:endParaRPr lang="es-PE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4710945" y="40731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4</a:t>
              </a:r>
              <a:endParaRPr lang="es-PE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789663" y="404287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3</a:t>
              </a:r>
              <a:endParaRPr lang="es-PE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892191" y="2388170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1</a:t>
              </a:r>
              <a:endParaRPr lang="es-PE" baseline="-25000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2867507" y="243501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2</a:t>
              </a:r>
              <a:endParaRPr lang="es-PE" baseline="-25000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3773000" y="2388170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3</a:t>
              </a:r>
              <a:endParaRPr lang="es-PE" baseline="-25000" dirty="0"/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4678493" y="2393487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4</a:t>
              </a:r>
              <a:endParaRPr lang="es-PE" baseline="-25000" dirty="0"/>
            </a:p>
          </p:txBody>
        </p:sp>
        <p:cxnSp>
          <p:nvCxnSpPr>
            <p:cNvPr id="46" name="Conector recto de flecha 45"/>
            <p:cNvCxnSpPr/>
            <p:nvPr/>
          </p:nvCxnSpPr>
          <p:spPr>
            <a:xfrm flipH="1">
              <a:off x="5678580" y="297068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CuadroTexto 46"/>
            <p:cNvSpPr txBox="1"/>
            <p:nvPr/>
          </p:nvSpPr>
          <p:spPr>
            <a:xfrm>
              <a:off x="5451256" y="2431810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/>
                <a:t>5</a:t>
              </a:r>
            </a:p>
          </p:txBody>
        </p:sp>
        <p:sp>
          <p:nvSpPr>
            <p:cNvPr id="48" name="CuadroTexto 47"/>
            <p:cNvSpPr txBox="1"/>
            <p:nvPr/>
          </p:nvSpPr>
          <p:spPr>
            <a:xfrm>
              <a:off x="5536292" y="406908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/>
                <a:t>5</a:t>
              </a:r>
            </a:p>
          </p:txBody>
        </p:sp>
      </p:grpSp>
      <p:sp>
        <p:nvSpPr>
          <p:cNvPr id="57" name="Rectángulo 56"/>
          <p:cNvSpPr/>
          <p:nvPr/>
        </p:nvSpPr>
        <p:spPr>
          <a:xfrm flipV="1">
            <a:off x="7916875" y="2956872"/>
            <a:ext cx="410175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9" name="Conector recto de flecha 58"/>
          <p:cNvCxnSpPr/>
          <p:nvPr/>
        </p:nvCxnSpPr>
        <p:spPr>
          <a:xfrm flipV="1">
            <a:off x="7909143" y="1824565"/>
            <a:ext cx="0" cy="124898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/>
          <p:cNvSpPr txBox="1"/>
          <p:nvPr/>
        </p:nvSpPr>
        <p:spPr>
          <a:xfrm>
            <a:off x="6281929" y="266017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&lt;&gt;</a:t>
            </a:r>
            <a:endParaRPr lang="es-PE" dirty="0"/>
          </a:p>
        </p:txBody>
      </p:sp>
      <p:sp>
        <p:nvSpPr>
          <p:cNvPr id="62" name="Rectángulo 61"/>
          <p:cNvSpPr/>
          <p:nvPr/>
        </p:nvSpPr>
        <p:spPr>
          <a:xfrm flipV="1">
            <a:off x="7916875" y="5433696"/>
            <a:ext cx="237562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3" name="Conector recto de flecha 62"/>
          <p:cNvCxnSpPr/>
          <p:nvPr/>
        </p:nvCxnSpPr>
        <p:spPr>
          <a:xfrm flipV="1">
            <a:off x="7916875" y="4612821"/>
            <a:ext cx="0" cy="82087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/>
          <p:cNvSpPr txBox="1"/>
          <p:nvPr/>
        </p:nvSpPr>
        <p:spPr>
          <a:xfrm>
            <a:off x="6258595" y="487745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&lt;&gt;</a:t>
            </a:r>
            <a:endParaRPr lang="es-PE" dirty="0"/>
          </a:p>
        </p:txBody>
      </p:sp>
      <p:sp>
        <p:nvSpPr>
          <p:cNvPr id="69" name="CuadroTexto 68"/>
          <p:cNvSpPr txBox="1"/>
          <p:nvPr/>
        </p:nvSpPr>
        <p:spPr>
          <a:xfrm>
            <a:off x="1496291" y="6267796"/>
            <a:ext cx="933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El proyecto que tiene mayor cantidad de flujos tendrá ventaja por lo cual no se puede usar el VAN</a:t>
            </a:r>
            <a:endParaRPr lang="es-PE" dirty="0"/>
          </a:p>
        </p:txBody>
      </p:sp>
      <p:sp>
        <p:nvSpPr>
          <p:cNvPr id="3" name="CuadroTexto 2"/>
          <p:cNvSpPr txBox="1"/>
          <p:nvPr/>
        </p:nvSpPr>
        <p:spPr>
          <a:xfrm>
            <a:off x="7572375" y="1478401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VAN 1</a:t>
            </a:r>
            <a:endParaRPr lang="es-PE" dirty="0"/>
          </a:p>
        </p:txBody>
      </p:sp>
      <p:sp>
        <p:nvSpPr>
          <p:cNvPr id="49" name="CuadroTexto 48"/>
          <p:cNvSpPr txBox="1"/>
          <p:nvPr/>
        </p:nvSpPr>
        <p:spPr>
          <a:xfrm>
            <a:off x="7530481" y="4204055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VAN 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4551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3887" y="356669"/>
            <a:ext cx="10515600" cy="1325563"/>
          </a:xfrm>
        </p:spPr>
        <p:txBody>
          <a:bodyPr/>
          <a:lstStyle/>
          <a:p>
            <a:r>
              <a:rPr lang="es-PE" dirty="0" smtClean="0"/>
              <a:t>Vidas diferentes</a:t>
            </a:r>
            <a:endParaRPr lang="es-PE" dirty="0"/>
          </a:p>
        </p:txBody>
      </p:sp>
      <p:sp>
        <p:nvSpPr>
          <p:cNvPr id="57" name="Rectángulo 56"/>
          <p:cNvSpPr/>
          <p:nvPr/>
        </p:nvSpPr>
        <p:spPr>
          <a:xfrm flipV="1">
            <a:off x="7916875" y="2956871"/>
            <a:ext cx="3484891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9" name="Conector recto de flecha 58"/>
          <p:cNvCxnSpPr/>
          <p:nvPr/>
        </p:nvCxnSpPr>
        <p:spPr>
          <a:xfrm flipV="1">
            <a:off x="8252043" y="260080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ángulo 61"/>
          <p:cNvSpPr/>
          <p:nvPr/>
        </p:nvSpPr>
        <p:spPr>
          <a:xfrm flipV="1">
            <a:off x="7916875" y="5423847"/>
            <a:ext cx="2000250" cy="55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3" name="Conector recto de flecha 62"/>
          <p:cNvCxnSpPr/>
          <p:nvPr/>
        </p:nvCxnSpPr>
        <p:spPr>
          <a:xfrm flipV="1">
            <a:off x="8374075" y="5176514"/>
            <a:ext cx="0" cy="2473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uadroTexto 68"/>
          <p:cNvSpPr txBox="1"/>
          <p:nvPr/>
        </p:nvSpPr>
        <p:spPr>
          <a:xfrm>
            <a:off x="1496291" y="6267796"/>
            <a:ext cx="933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El proyecto que tiene mayor cantidad de flujos tendrá ventaja por lo cual no se puede usar el VAN</a:t>
            </a:r>
            <a:endParaRPr lang="es-PE" dirty="0"/>
          </a:p>
        </p:txBody>
      </p:sp>
      <p:sp>
        <p:nvSpPr>
          <p:cNvPr id="49" name="Rectángulo 48"/>
          <p:cNvSpPr/>
          <p:nvPr/>
        </p:nvSpPr>
        <p:spPr>
          <a:xfrm flipV="1">
            <a:off x="1154125" y="3002591"/>
            <a:ext cx="410175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0" name="Conector recto de flecha 49"/>
          <p:cNvCxnSpPr/>
          <p:nvPr/>
        </p:nvCxnSpPr>
        <p:spPr>
          <a:xfrm flipV="1">
            <a:off x="1146393" y="1870284"/>
            <a:ext cx="0" cy="124898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ángulo 50"/>
          <p:cNvSpPr/>
          <p:nvPr/>
        </p:nvSpPr>
        <p:spPr>
          <a:xfrm flipV="1">
            <a:off x="1303555" y="5423848"/>
            <a:ext cx="2375628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2" name="Conector recto de flecha 51"/>
          <p:cNvCxnSpPr/>
          <p:nvPr/>
        </p:nvCxnSpPr>
        <p:spPr>
          <a:xfrm flipV="1">
            <a:off x="1303555" y="4602973"/>
            <a:ext cx="0" cy="82087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/>
          <p:nvPr/>
        </p:nvCxnSpPr>
        <p:spPr>
          <a:xfrm flipV="1">
            <a:off x="9248549" y="259705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 flipV="1">
            <a:off x="9778284" y="2591980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/>
          <p:nvPr/>
        </p:nvCxnSpPr>
        <p:spPr>
          <a:xfrm flipV="1">
            <a:off x="10316109" y="258034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 flipV="1">
            <a:off x="10856209" y="260080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/>
          <p:nvPr/>
        </p:nvCxnSpPr>
        <p:spPr>
          <a:xfrm flipV="1">
            <a:off x="11394034" y="260080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/>
          <p:cNvCxnSpPr/>
          <p:nvPr/>
        </p:nvCxnSpPr>
        <p:spPr>
          <a:xfrm flipV="1">
            <a:off x="8750296" y="260080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/>
          <p:cNvCxnSpPr/>
          <p:nvPr/>
        </p:nvCxnSpPr>
        <p:spPr>
          <a:xfrm flipV="1">
            <a:off x="8750296" y="5176514"/>
            <a:ext cx="0" cy="2473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/>
          <p:cNvCxnSpPr/>
          <p:nvPr/>
        </p:nvCxnSpPr>
        <p:spPr>
          <a:xfrm flipV="1">
            <a:off x="9107500" y="5176514"/>
            <a:ext cx="0" cy="2473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de flecha 69"/>
          <p:cNvCxnSpPr/>
          <p:nvPr/>
        </p:nvCxnSpPr>
        <p:spPr>
          <a:xfrm flipV="1">
            <a:off x="9917125" y="5176514"/>
            <a:ext cx="0" cy="2473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/>
          <p:cNvCxnSpPr/>
          <p:nvPr/>
        </p:nvCxnSpPr>
        <p:spPr>
          <a:xfrm flipV="1">
            <a:off x="9498025" y="5186362"/>
            <a:ext cx="0" cy="247334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/>
          <p:cNvSpPr txBox="1"/>
          <p:nvPr/>
        </p:nvSpPr>
        <p:spPr>
          <a:xfrm>
            <a:off x="767731" y="1511546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VAN 1</a:t>
            </a:r>
            <a:endParaRPr lang="es-PE" dirty="0"/>
          </a:p>
        </p:txBody>
      </p:sp>
      <p:sp>
        <p:nvSpPr>
          <p:cNvPr id="72" name="CuadroTexto 71"/>
          <p:cNvSpPr txBox="1"/>
          <p:nvPr/>
        </p:nvSpPr>
        <p:spPr>
          <a:xfrm>
            <a:off x="924893" y="4209996"/>
            <a:ext cx="75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VAN 2</a:t>
            </a:r>
            <a:endParaRPr lang="es-PE" dirty="0"/>
          </a:p>
        </p:txBody>
      </p:sp>
      <p:sp>
        <p:nvSpPr>
          <p:cNvPr id="12" name="CuadroTexto 11"/>
          <p:cNvSpPr txBox="1"/>
          <p:nvPr/>
        </p:nvSpPr>
        <p:spPr>
          <a:xfrm>
            <a:off x="8097291" y="2277370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dirty="0" smtClean="0"/>
              <a:t>1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r>
              <a:rPr lang="es-PE" dirty="0" smtClean="0"/>
              <a:t>     </a:t>
            </a:r>
            <a:r>
              <a:rPr lang="es-PE" dirty="0" err="1" smtClean="0"/>
              <a:t>f1</a:t>
            </a:r>
            <a:r>
              <a:rPr lang="es-PE" dirty="0" smtClean="0"/>
              <a:t>        </a:t>
            </a:r>
            <a:r>
              <a:rPr lang="es-PE" dirty="0" err="1" smtClean="0"/>
              <a:t>f1</a:t>
            </a:r>
            <a:r>
              <a:rPr lang="es-PE" dirty="0" smtClean="0"/>
              <a:t>  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endParaRPr lang="es-PE" dirty="0"/>
          </a:p>
        </p:txBody>
      </p:sp>
      <p:sp>
        <p:nvSpPr>
          <p:cNvPr id="73" name="CuadroTexto 72"/>
          <p:cNvSpPr txBox="1"/>
          <p:nvPr/>
        </p:nvSpPr>
        <p:spPr>
          <a:xfrm>
            <a:off x="8187966" y="4790441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dirty="0" smtClean="0"/>
              <a:t>2    </a:t>
            </a:r>
            <a:r>
              <a:rPr lang="es-PE" dirty="0" err="1" smtClean="0"/>
              <a:t>f2</a:t>
            </a:r>
            <a:r>
              <a:rPr lang="es-PE" dirty="0" smtClean="0"/>
              <a:t>   </a:t>
            </a:r>
            <a:r>
              <a:rPr lang="es-PE" dirty="0" err="1" smtClean="0"/>
              <a:t>f2</a:t>
            </a:r>
            <a:r>
              <a:rPr lang="es-PE" dirty="0" smtClean="0"/>
              <a:t>    </a:t>
            </a:r>
            <a:r>
              <a:rPr lang="es-PE" dirty="0" err="1" smtClean="0"/>
              <a:t>f2</a:t>
            </a:r>
            <a:r>
              <a:rPr lang="es-PE" dirty="0" smtClean="0"/>
              <a:t>    </a:t>
            </a:r>
            <a:r>
              <a:rPr lang="es-PE" dirty="0" err="1" smtClean="0"/>
              <a:t>f2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9336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9437" y="307524"/>
            <a:ext cx="10515600" cy="1325563"/>
          </a:xfrm>
        </p:spPr>
        <p:txBody>
          <a:bodyPr/>
          <a:lstStyle/>
          <a:p>
            <a:r>
              <a:rPr lang="es-PE" dirty="0" smtClean="0"/>
              <a:t>Igualarlos en el tiempo</a:t>
            </a:r>
            <a:endParaRPr lang="es-PE" dirty="0"/>
          </a:p>
        </p:txBody>
      </p:sp>
      <p:sp>
        <p:nvSpPr>
          <p:cNvPr id="4" name="Rectángulo 3"/>
          <p:cNvSpPr/>
          <p:nvPr/>
        </p:nvSpPr>
        <p:spPr>
          <a:xfrm>
            <a:off x="2372867" y="2577253"/>
            <a:ext cx="1933126" cy="2329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 recto de flecha 4"/>
          <p:cNvCxnSpPr/>
          <p:nvPr/>
        </p:nvCxnSpPr>
        <p:spPr>
          <a:xfrm flipV="1">
            <a:off x="2372867" y="1589175"/>
            <a:ext cx="0" cy="1248986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/>
          <p:cNvSpPr/>
          <p:nvPr/>
        </p:nvSpPr>
        <p:spPr>
          <a:xfrm>
            <a:off x="2372867" y="5120305"/>
            <a:ext cx="1576260" cy="231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" name="Conector recto de flecha 6"/>
          <p:cNvCxnSpPr/>
          <p:nvPr/>
        </p:nvCxnSpPr>
        <p:spPr>
          <a:xfrm flipV="1">
            <a:off x="2372867" y="4530511"/>
            <a:ext cx="0" cy="820875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/>
          <p:cNvSpPr/>
          <p:nvPr/>
        </p:nvSpPr>
        <p:spPr>
          <a:xfrm>
            <a:off x="3949127" y="5120305"/>
            <a:ext cx="1576260" cy="231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9" name="Conector recto de flecha 8"/>
          <p:cNvCxnSpPr/>
          <p:nvPr/>
        </p:nvCxnSpPr>
        <p:spPr>
          <a:xfrm flipV="1">
            <a:off x="3949127" y="4530511"/>
            <a:ext cx="0" cy="820875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/>
          <p:cNvSpPr/>
          <p:nvPr/>
        </p:nvSpPr>
        <p:spPr>
          <a:xfrm>
            <a:off x="4305992" y="2549292"/>
            <a:ext cx="1933125" cy="260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1" name="Conector recto de flecha 10"/>
          <p:cNvCxnSpPr/>
          <p:nvPr/>
        </p:nvCxnSpPr>
        <p:spPr>
          <a:xfrm flipV="1">
            <a:off x="4305992" y="1589175"/>
            <a:ext cx="0" cy="1248986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 flipV="1">
            <a:off x="6239117" y="1519272"/>
            <a:ext cx="0" cy="1248986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/>
          <p:cNvCxnSpPr/>
          <p:nvPr/>
        </p:nvCxnSpPr>
        <p:spPr>
          <a:xfrm flipV="1">
            <a:off x="8172241" y="1561214"/>
            <a:ext cx="0" cy="1248986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/>
          <p:cNvSpPr/>
          <p:nvPr/>
        </p:nvSpPr>
        <p:spPr>
          <a:xfrm>
            <a:off x="5525386" y="5106143"/>
            <a:ext cx="1576260" cy="231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de flecha 16"/>
          <p:cNvCxnSpPr/>
          <p:nvPr/>
        </p:nvCxnSpPr>
        <p:spPr>
          <a:xfrm flipV="1">
            <a:off x="5525386" y="4516349"/>
            <a:ext cx="0" cy="820875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/>
          <p:cNvSpPr/>
          <p:nvPr/>
        </p:nvSpPr>
        <p:spPr>
          <a:xfrm>
            <a:off x="7101644" y="5106142"/>
            <a:ext cx="1576260" cy="2310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9" name="Conector recto de flecha 18"/>
          <p:cNvCxnSpPr/>
          <p:nvPr/>
        </p:nvCxnSpPr>
        <p:spPr>
          <a:xfrm flipV="1">
            <a:off x="7101644" y="4516348"/>
            <a:ext cx="0" cy="820875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/>
          <p:cNvSpPr/>
          <p:nvPr/>
        </p:nvSpPr>
        <p:spPr>
          <a:xfrm>
            <a:off x="8677901" y="5106142"/>
            <a:ext cx="1427465" cy="2310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de flecha 20"/>
          <p:cNvCxnSpPr/>
          <p:nvPr/>
        </p:nvCxnSpPr>
        <p:spPr>
          <a:xfrm flipV="1">
            <a:off x="8677901" y="4516348"/>
            <a:ext cx="0" cy="820875"/>
          </a:xfrm>
          <a:prstGeom prst="straightConnector1">
            <a:avLst/>
          </a:prstGeom>
          <a:ln w="4445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/>
          <p:cNvSpPr/>
          <p:nvPr/>
        </p:nvSpPr>
        <p:spPr>
          <a:xfrm>
            <a:off x="6239117" y="2549292"/>
            <a:ext cx="1933125" cy="260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/>
          <p:cNvSpPr/>
          <p:nvPr/>
        </p:nvSpPr>
        <p:spPr>
          <a:xfrm>
            <a:off x="8172241" y="2549292"/>
            <a:ext cx="1933125" cy="260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/>
          <p:cNvSpPr/>
          <p:nvPr/>
        </p:nvSpPr>
        <p:spPr>
          <a:xfrm flipV="1">
            <a:off x="2372867" y="3787210"/>
            <a:ext cx="3484891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Conector recto de flecha 24"/>
          <p:cNvCxnSpPr/>
          <p:nvPr/>
        </p:nvCxnSpPr>
        <p:spPr>
          <a:xfrm flipV="1">
            <a:off x="2708035" y="343114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V="1">
            <a:off x="3704541" y="3427391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 flipV="1">
            <a:off x="4234276" y="3422319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 flipV="1">
            <a:off x="4772101" y="341068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/>
          <p:cNvCxnSpPr/>
          <p:nvPr/>
        </p:nvCxnSpPr>
        <p:spPr>
          <a:xfrm flipV="1">
            <a:off x="5312201" y="343114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/>
          <p:nvPr/>
        </p:nvCxnSpPr>
        <p:spPr>
          <a:xfrm flipV="1">
            <a:off x="5850026" y="343114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/>
          <p:nvPr/>
        </p:nvCxnSpPr>
        <p:spPr>
          <a:xfrm flipV="1">
            <a:off x="3206288" y="343114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>
            <a:off x="2553283" y="3107709"/>
            <a:ext cx="3490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dirty="0" smtClean="0"/>
              <a:t>1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r>
              <a:rPr lang="es-PE" dirty="0" smtClean="0"/>
              <a:t>     </a:t>
            </a:r>
            <a:r>
              <a:rPr lang="es-PE" dirty="0" err="1" smtClean="0"/>
              <a:t>f1</a:t>
            </a:r>
            <a:r>
              <a:rPr lang="es-PE" dirty="0" smtClean="0"/>
              <a:t>        </a:t>
            </a:r>
            <a:r>
              <a:rPr lang="es-PE" dirty="0" err="1" smtClean="0"/>
              <a:t>f1</a:t>
            </a:r>
            <a:r>
              <a:rPr lang="es-PE" dirty="0" smtClean="0"/>
              <a:t>  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endParaRPr lang="es-PE" dirty="0"/>
          </a:p>
        </p:txBody>
      </p:sp>
      <p:sp>
        <p:nvSpPr>
          <p:cNvPr id="33" name="Rectángulo 32"/>
          <p:cNvSpPr/>
          <p:nvPr/>
        </p:nvSpPr>
        <p:spPr>
          <a:xfrm flipV="1">
            <a:off x="5858976" y="3801012"/>
            <a:ext cx="4246390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Conector recto de flecha 33"/>
          <p:cNvCxnSpPr/>
          <p:nvPr/>
        </p:nvCxnSpPr>
        <p:spPr>
          <a:xfrm flipV="1">
            <a:off x="6194144" y="344494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/>
          <p:cNvCxnSpPr/>
          <p:nvPr/>
        </p:nvCxnSpPr>
        <p:spPr>
          <a:xfrm flipV="1">
            <a:off x="7190650" y="3441194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/>
          <p:nvPr/>
        </p:nvCxnSpPr>
        <p:spPr>
          <a:xfrm flipV="1">
            <a:off x="7720385" y="343612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/>
          <p:nvPr/>
        </p:nvCxnSpPr>
        <p:spPr>
          <a:xfrm flipV="1">
            <a:off x="8258210" y="342448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/>
          <p:nvPr/>
        </p:nvCxnSpPr>
        <p:spPr>
          <a:xfrm flipV="1">
            <a:off x="8798310" y="344494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 flipV="1">
            <a:off x="9336135" y="344494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V="1">
            <a:off x="6692397" y="344494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/>
          <p:cNvSpPr txBox="1"/>
          <p:nvPr/>
        </p:nvSpPr>
        <p:spPr>
          <a:xfrm>
            <a:off x="6039392" y="3121512"/>
            <a:ext cx="430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f</a:t>
            </a:r>
            <a:r>
              <a:rPr lang="es-PE" dirty="0" smtClean="0"/>
              <a:t>1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r>
              <a:rPr lang="es-PE" dirty="0" smtClean="0"/>
              <a:t>     </a:t>
            </a:r>
            <a:r>
              <a:rPr lang="es-PE" dirty="0" err="1" smtClean="0"/>
              <a:t>f1</a:t>
            </a:r>
            <a:r>
              <a:rPr lang="es-PE" dirty="0" smtClean="0"/>
              <a:t>        </a:t>
            </a:r>
            <a:r>
              <a:rPr lang="es-PE" dirty="0" err="1" smtClean="0"/>
              <a:t>f1</a:t>
            </a:r>
            <a:r>
              <a:rPr lang="es-PE" dirty="0" smtClean="0"/>
              <a:t>  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r>
              <a:rPr lang="es-PE" dirty="0" smtClean="0"/>
              <a:t>      </a:t>
            </a:r>
            <a:r>
              <a:rPr lang="es-PE" dirty="0" err="1" smtClean="0"/>
              <a:t>f1</a:t>
            </a:r>
            <a:r>
              <a:rPr lang="es-PE" dirty="0" smtClean="0"/>
              <a:t>   </a:t>
            </a:r>
            <a:r>
              <a:rPr lang="es-PE" dirty="0" err="1" smtClean="0"/>
              <a:t>f1</a:t>
            </a:r>
            <a:endParaRPr lang="es-PE" dirty="0"/>
          </a:p>
        </p:txBody>
      </p:sp>
      <p:cxnSp>
        <p:nvCxnSpPr>
          <p:cNvPr id="42" name="Conector recto de flecha 41"/>
          <p:cNvCxnSpPr/>
          <p:nvPr/>
        </p:nvCxnSpPr>
        <p:spPr>
          <a:xfrm flipV="1">
            <a:off x="9734725" y="3424991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10097634" y="3435489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/>
          <p:cNvSpPr/>
          <p:nvPr/>
        </p:nvSpPr>
        <p:spPr>
          <a:xfrm flipV="1">
            <a:off x="2435864" y="6537111"/>
            <a:ext cx="3484891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5" name="Conector recto de flecha 44"/>
          <p:cNvCxnSpPr/>
          <p:nvPr/>
        </p:nvCxnSpPr>
        <p:spPr>
          <a:xfrm flipV="1">
            <a:off x="2771032" y="618104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/>
          <p:cNvCxnSpPr/>
          <p:nvPr/>
        </p:nvCxnSpPr>
        <p:spPr>
          <a:xfrm flipV="1">
            <a:off x="3767538" y="617729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 flipV="1">
            <a:off x="4297273" y="6172220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/>
          <p:nvPr/>
        </p:nvCxnSpPr>
        <p:spPr>
          <a:xfrm flipV="1">
            <a:off x="4835098" y="616058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/>
          <p:nvPr/>
        </p:nvCxnSpPr>
        <p:spPr>
          <a:xfrm flipV="1">
            <a:off x="5375198" y="618104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/>
          <p:nvPr/>
        </p:nvCxnSpPr>
        <p:spPr>
          <a:xfrm flipV="1">
            <a:off x="5913023" y="618104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 flipV="1">
            <a:off x="3269285" y="618104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/>
          <p:cNvSpPr txBox="1"/>
          <p:nvPr/>
        </p:nvSpPr>
        <p:spPr>
          <a:xfrm>
            <a:off x="2616280" y="5857610"/>
            <a:ext cx="3571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f2     </a:t>
            </a:r>
            <a:r>
              <a:rPr lang="es-PE" dirty="0" err="1" smtClean="0"/>
              <a:t>f2</a:t>
            </a:r>
            <a:r>
              <a:rPr lang="es-PE" dirty="0" smtClean="0"/>
              <a:t>      </a:t>
            </a:r>
            <a:r>
              <a:rPr lang="es-PE" dirty="0" err="1" smtClean="0"/>
              <a:t>f2</a:t>
            </a:r>
            <a:r>
              <a:rPr lang="es-PE" dirty="0" smtClean="0"/>
              <a:t>     </a:t>
            </a:r>
            <a:r>
              <a:rPr lang="es-PE" dirty="0" err="1" smtClean="0"/>
              <a:t>f2</a:t>
            </a:r>
            <a:r>
              <a:rPr lang="es-PE" dirty="0" smtClean="0"/>
              <a:t>        </a:t>
            </a:r>
            <a:r>
              <a:rPr lang="es-PE" dirty="0" err="1" smtClean="0"/>
              <a:t>f2</a:t>
            </a:r>
            <a:r>
              <a:rPr lang="es-PE" dirty="0" smtClean="0"/>
              <a:t>       </a:t>
            </a:r>
            <a:r>
              <a:rPr lang="es-PE" dirty="0" err="1" smtClean="0"/>
              <a:t>f2</a:t>
            </a:r>
            <a:r>
              <a:rPr lang="es-PE" dirty="0" smtClean="0"/>
              <a:t>      </a:t>
            </a:r>
            <a:r>
              <a:rPr lang="es-PE" dirty="0" err="1" smtClean="0"/>
              <a:t>f2</a:t>
            </a:r>
            <a:endParaRPr lang="es-PE" dirty="0"/>
          </a:p>
        </p:txBody>
      </p:sp>
      <p:sp>
        <p:nvSpPr>
          <p:cNvPr id="53" name="Rectángulo 52"/>
          <p:cNvSpPr/>
          <p:nvPr/>
        </p:nvSpPr>
        <p:spPr>
          <a:xfrm flipV="1">
            <a:off x="5921973" y="6550913"/>
            <a:ext cx="4246390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4" name="Conector recto de flecha 53"/>
          <p:cNvCxnSpPr/>
          <p:nvPr/>
        </p:nvCxnSpPr>
        <p:spPr>
          <a:xfrm flipV="1">
            <a:off x="6257141" y="6194846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/>
          <p:nvPr/>
        </p:nvCxnSpPr>
        <p:spPr>
          <a:xfrm flipV="1">
            <a:off x="7253647" y="6191095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/>
          <p:cNvCxnSpPr/>
          <p:nvPr/>
        </p:nvCxnSpPr>
        <p:spPr>
          <a:xfrm flipV="1">
            <a:off x="7783382" y="6186023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/>
          <p:nvPr/>
        </p:nvCxnSpPr>
        <p:spPr>
          <a:xfrm flipV="1">
            <a:off x="8321207" y="6174386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/>
          <p:nvPr/>
        </p:nvCxnSpPr>
        <p:spPr>
          <a:xfrm flipV="1">
            <a:off x="8861307" y="6194846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/>
          <p:cNvCxnSpPr/>
          <p:nvPr/>
        </p:nvCxnSpPr>
        <p:spPr>
          <a:xfrm flipV="1">
            <a:off x="9399132" y="6194846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 flipV="1">
            <a:off x="6755394" y="6194846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/>
          <p:cNvSpPr txBox="1"/>
          <p:nvPr/>
        </p:nvSpPr>
        <p:spPr>
          <a:xfrm>
            <a:off x="6102389" y="5871413"/>
            <a:ext cx="4423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f2     </a:t>
            </a:r>
            <a:r>
              <a:rPr lang="es-PE" dirty="0" err="1" smtClean="0"/>
              <a:t>f2</a:t>
            </a:r>
            <a:r>
              <a:rPr lang="es-PE" dirty="0" smtClean="0"/>
              <a:t>      </a:t>
            </a:r>
            <a:r>
              <a:rPr lang="es-PE" dirty="0" err="1" smtClean="0"/>
              <a:t>f2</a:t>
            </a:r>
            <a:r>
              <a:rPr lang="es-PE" dirty="0" smtClean="0"/>
              <a:t>     </a:t>
            </a:r>
            <a:r>
              <a:rPr lang="es-PE" dirty="0" err="1" smtClean="0"/>
              <a:t>f2</a:t>
            </a:r>
            <a:r>
              <a:rPr lang="es-PE" dirty="0" smtClean="0"/>
              <a:t>        </a:t>
            </a:r>
            <a:r>
              <a:rPr lang="es-PE" dirty="0" err="1" smtClean="0"/>
              <a:t>f2</a:t>
            </a:r>
            <a:r>
              <a:rPr lang="es-PE" dirty="0" smtClean="0"/>
              <a:t>       </a:t>
            </a:r>
            <a:r>
              <a:rPr lang="es-PE" dirty="0" err="1" smtClean="0"/>
              <a:t>f2</a:t>
            </a:r>
            <a:r>
              <a:rPr lang="es-PE" dirty="0" smtClean="0"/>
              <a:t>      </a:t>
            </a:r>
            <a:r>
              <a:rPr lang="es-PE" dirty="0" err="1" smtClean="0"/>
              <a:t>f2</a:t>
            </a:r>
            <a:r>
              <a:rPr lang="es-PE" dirty="0" smtClean="0"/>
              <a:t>      </a:t>
            </a:r>
            <a:r>
              <a:rPr lang="es-PE" dirty="0" err="1" smtClean="0"/>
              <a:t>f2</a:t>
            </a:r>
            <a:r>
              <a:rPr lang="es-PE" dirty="0" smtClean="0"/>
              <a:t>   </a:t>
            </a:r>
            <a:r>
              <a:rPr lang="es-PE" dirty="0" err="1" smtClean="0"/>
              <a:t>f2</a:t>
            </a:r>
            <a:endParaRPr lang="es-PE" dirty="0"/>
          </a:p>
        </p:txBody>
      </p:sp>
      <p:cxnSp>
        <p:nvCxnSpPr>
          <p:cNvPr id="62" name="Conector recto de flecha 61"/>
          <p:cNvCxnSpPr/>
          <p:nvPr/>
        </p:nvCxnSpPr>
        <p:spPr>
          <a:xfrm flipV="1">
            <a:off x="9797722" y="6174892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/>
          <p:cNvCxnSpPr/>
          <p:nvPr/>
        </p:nvCxnSpPr>
        <p:spPr>
          <a:xfrm flipV="1">
            <a:off x="10160631" y="6185390"/>
            <a:ext cx="7732" cy="401788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5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0F60A-C7A6-4EE7-83E2-E3767A6ECA8D}" type="slidenum">
              <a:rPr lang="es-ES" altLang="es-PE"/>
              <a:pPr/>
              <a:t>39</a:t>
            </a:fld>
            <a:endParaRPr lang="es-ES" altLang="es-PE"/>
          </a:p>
        </p:txBody>
      </p:sp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762000"/>
          </a:xfrm>
          <a:noFill/>
          <a:ln/>
        </p:spPr>
        <p:txBody>
          <a:bodyPr/>
          <a:lstStyle/>
          <a:p>
            <a:r>
              <a:rPr lang="es-MX" altLang="es-PE" sz="3200" b="1" dirty="0">
                <a:latin typeface="Trebuchet MS" panose="020B0603020202020204" pitchFamily="34" charset="0"/>
              </a:rPr>
              <a:t>EVALUACIÓN DE ALTERNATIVAS</a:t>
            </a:r>
            <a:endParaRPr lang="es-ES" altLang="es-PE" sz="3200" b="1" dirty="0">
              <a:latin typeface="Trebuchet MS" panose="020B0603020202020204" pitchFamily="34" charset="0"/>
            </a:endParaRPr>
          </a:p>
        </p:txBody>
      </p:sp>
      <p:grpSp>
        <p:nvGrpSpPr>
          <p:cNvPr id="329740" name="Group 12"/>
          <p:cNvGrpSpPr>
            <a:grpSpLocks/>
          </p:cNvGrpSpPr>
          <p:nvPr/>
        </p:nvGrpSpPr>
        <p:grpSpPr bwMode="auto">
          <a:xfrm>
            <a:off x="2209800" y="847790"/>
            <a:ext cx="8077200" cy="4803775"/>
            <a:chOff x="384" y="728"/>
            <a:chExt cx="5088" cy="3026"/>
          </a:xfrm>
        </p:grpSpPr>
        <p:sp>
          <p:nvSpPr>
            <p:cNvPr id="329731" name="Rectangle 3"/>
            <p:cNvSpPr>
              <a:spLocks noChangeArrowheads="1"/>
            </p:cNvSpPr>
            <p:nvPr/>
          </p:nvSpPr>
          <p:spPr bwMode="auto">
            <a:xfrm>
              <a:off x="384" y="728"/>
              <a:ext cx="5088" cy="24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buClr>
                  <a:schemeClr val="tx2"/>
                </a:buClr>
              </a:pPr>
              <a:r>
                <a:rPr lang="es-MX" altLang="es-PE" sz="2800" b="1" dirty="0" smtClean="0">
                  <a:solidFill>
                    <a:schemeClr val="tx2"/>
                  </a:solidFill>
                  <a:latin typeface="Tahoma" panose="020B0604030504040204" pitchFamily="34" charset="0"/>
                  <a:cs typeface="Times New Roman" panose="02020603050405020304" pitchFamily="18" charset="0"/>
                </a:rPr>
                <a:t>Calculo del Valor Anual </a:t>
              </a:r>
              <a:r>
                <a:rPr lang="es-MX" altLang="es-PE" sz="2800" b="1" dirty="0">
                  <a:solidFill>
                    <a:schemeClr val="tx2"/>
                  </a:solidFill>
                  <a:latin typeface="Tahoma" panose="020B0604030504040204" pitchFamily="34" charset="0"/>
                  <a:cs typeface="Times New Roman" panose="02020603050405020304" pitchFamily="18" charset="0"/>
                </a:rPr>
                <a:t>Equivalente:</a:t>
              </a:r>
            </a:p>
            <a:p>
              <a:pPr algn="just">
                <a:buClr>
                  <a:schemeClr val="tx2"/>
                </a:buClr>
              </a:pPr>
              <a:r>
                <a:rPr lang="es-MX" altLang="es-PE" sz="2800" b="1" dirty="0">
                  <a:solidFill>
                    <a:schemeClr val="tx2"/>
                  </a:solidFill>
                  <a:latin typeface="Tahoma" panose="020B0604030504040204" pitchFamily="34" charset="0"/>
                  <a:cs typeface="Times New Roman" panose="02020603050405020304" pitchFamily="18" charset="0"/>
                </a:rPr>
                <a:t>	</a:t>
              </a:r>
              <a:r>
                <a:rPr lang="es-MX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donde:	V</a:t>
              </a:r>
              <a:r>
                <a:rPr lang="es-MX" altLang="es-PE" sz="2000" dirty="0" smtClean="0">
                  <a:latin typeface="Tahoma" panose="020B0604030504040204" pitchFamily="34" charset="0"/>
                  <a:cs typeface="Times New Roman" panose="02020603050405020304" pitchFamily="18" charset="0"/>
                </a:rPr>
                <a:t>AE</a:t>
              </a:r>
              <a:r>
                <a:rPr lang="es-MX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= costo anual equivalente</a:t>
              </a:r>
              <a:endParaRPr lang="ar-SA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r>
                <a:rPr lang="es-PE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	</a:t>
              </a:r>
              <a:r>
                <a:rPr lang="es-PE" altLang="es-PE" sz="2000" dirty="0" smtClean="0">
                  <a:latin typeface="Tahoma" panose="020B0604030504040204" pitchFamily="34" charset="0"/>
                  <a:cs typeface="Times New Roman" panose="02020603050405020304" pitchFamily="18" charset="0"/>
                </a:rPr>
                <a:t>VAN</a:t>
              </a:r>
              <a:r>
                <a:rPr lang="es-PE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=</a:t>
              </a:r>
              <a:r>
                <a:rPr lang="es-MX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 valor actual </a:t>
              </a:r>
              <a:r>
                <a:rPr lang="es-MX" altLang="es-PE" sz="2000" dirty="0" smtClean="0">
                  <a:latin typeface="Tahoma" panose="020B0604030504040204" pitchFamily="34" charset="0"/>
                  <a:cs typeface="Times New Roman" panose="02020603050405020304" pitchFamily="18" charset="0"/>
                </a:rPr>
                <a:t>neto del </a:t>
              </a:r>
              <a:r>
                <a:rPr lang="es-MX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proyecto</a:t>
              </a:r>
              <a:endParaRPr lang="ar-SA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r>
                <a:rPr lang="es-PE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</a:t>
              </a:r>
              <a:endParaRPr lang="ar-SA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r>
                <a:rPr lang="es-PE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	</a:t>
              </a:r>
              <a:endParaRPr lang="es-MX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endParaRPr lang="es-MX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endParaRPr lang="es-MX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endParaRPr lang="es-MX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l">
                <a:buClr>
                  <a:schemeClr val="tx2"/>
                </a:buClr>
              </a:pPr>
              <a:r>
                <a:rPr lang="es-MX" altLang="es-PE" sz="2000" dirty="0">
                  <a:latin typeface="Tahoma" panose="020B0604030504040204" pitchFamily="34" charset="0"/>
                  <a:cs typeface="Times New Roman" panose="02020603050405020304" pitchFamily="18" charset="0"/>
                </a:rPr>
                <a:t>	FRC	= factor de recuperación del capital, el cual 				   se define como:</a:t>
              </a:r>
              <a:endParaRPr lang="ar-SA" altLang="es-PE" sz="20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  <a:p>
              <a:pPr algn="just">
                <a:buClr>
                  <a:schemeClr val="tx2"/>
                </a:buClr>
              </a:pPr>
              <a:endParaRPr lang="ar-SA" altLang="es-PE" sz="2800" dirty="0">
                <a:latin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9735" name="Group 7"/>
            <p:cNvGrpSpPr>
              <a:grpSpLocks/>
            </p:cNvGrpSpPr>
            <p:nvPr/>
          </p:nvGrpSpPr>
          <p:grpSpPr bwMode="auto">
            <a:xfrm>
              <a:off x="1172" y="1912"/>
              <a:ext cx="3465" cy="384"/>
              <a:chOff x="0" y="253"/>
              <a:chExt cx="3465" cy="439"/>
            </a:xfrm>
          </p:grpSpPr>
          <p:sp>
            <p:nvSpPr>
              <p:cNvPr id="329733" name="Rectangle 5"/>
              <p:cNvSpPr>
                <a:spLocks noChangeArrowheads="1"/>
              </p:cNvSpPr>
              <p:nvPr/>
            </p:nvSpPr>
            <p:spPr bwMode="auto">
              <a:xfrm>
                <a:off x="0" y="253"/>
                <a:ext cx="3465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s-PE"/>
              </a:p>
            </p:txBody>
          </p:sp>
          <p:sp>
            <p:nvSpPr>
              <p:cNvPr id="329734" name="Rectangle 6"/>
              <p:cNvSpPr>
                <a:spLocks noChangeArrowheads="1"/>
              </p:cNvSpPr>
              <p:nvPr/>
            </p:nvSpPr>
            <p:spPr bwMode="auto">
              <a:xfrm>
                <a:off x="0" y="253"/>
                <a:ext cx="3465" cy="4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l"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algn="l"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algn="l"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algn="l"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algn="l"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tabLst>
                    <a:tab pos="2895600" algn="ctr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ar-SA" altLang="es-PE" sz="1000">
                    <a:latin typeface="Tahoma" panose="020B0604030504040204" pitchFamily="34" charset="0"/>
                    <a:cs typeface="Tahoma" panose="020B0604030504040204" pitchFamily="34" charset="0"/>
                  </a:rPr>
                  <a:t>	</a:t>
                </a:r>
                <a:endParaRPr lang="ar-SA" altLang="es-PE" sz="1200">
                  <a:latin typeface="Courier" pitchFamily="49" charset="0"/>
                  <a:cs typeface="Times New Roman" panose="02020603050405020304" pitchFamily="18" charset="0"/>
                </a:endParaRPr>
              </a:p>
              <a:p>
                <a:pPr eaLnBrk="0" hangingPunct="0"/>
                <a:endParaRPr lang="ar-SA" altLang="es-PE"/>
              </a:p>
            </p:txBody>
          </p:sp>
        </p:grpSp>
        <p:graphicFrame>
          <p:nvGraphicFramePr>
            <p:cNvPr id="32973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1257502"/>
                </p:ext>
              </p:extLst>
            </p:nvPr>
          </p:nvGraphicFramePr>
          <p:xfrm>
            <a:off x="1014" y="1806"/>
            <a:ext cx="3060" cy="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0" name="Ecuación" r:id="rId3" imgW="1180800" imgH="177480" progId="Equation.3">
                    <p:embed/>
                  </p:oleObj>
                </mc:Choice>
                <mc:Fallback>
                  <p:oleObj name="Ecuación" r:id="rId3" imgW="1180800" imgH="177480" progId="Equation.3">
                    <p:embed/>
                    <p:pic>
                      <p:nvPicPr>
                        <p:cNvPr id="32973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1806"/>
                          <a:ext cx="3060" cy="24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9737" name="Rectangle 9"/>
            <p:cNvSpPr>
              <a:spLocks noChangeArrowheads="1"/>
            </p:cNvSpPr>
            <p:nvPr/>
          </p:nvSpPr>
          <p:spPr bwMode="auto">
            <a:xfrm>
              <a:off x="1172" y="1775"/>
              <a:ext cx="34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s-PE"/>
            </a:p>
          </p:txBody>
        </p:sp>
        <p:graphicFrame>
          <p:nvGraphicFramePr>
            <p:cNvPr id="32973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4592449"/>
                </p:ext>
              </p:extLst>
            </p:nvPr>
          </p:nvGraphicFramePr>
          <p:xfrm>
            <a:off x="1136" y="3062"/>
            <a:ext cx="2816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1" name="Ecuación" r:id="rId5" imgW="1130040" imgH="444240" progId="Equation.3">
                    <p:embed/>
                  </p:oleObj>
                </mc:Choice>
                <mc:Fallback>
                  <p:oleObj name="Ecuación" r:id="rId5" imgW="1130040" imgH="444240" progId="Equation.3">
                    <p:embed/>
                    <p:pic>
                      <p:nvPicPr>
                        <p:cNvPr id="32973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6" y="3062"/>
                          <a:ext cx="2816" cy="69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solidFill>
                            <a:schemeClr val="bg2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CuadroTexto 1"/>
          <p:cNvSpPr txBox="1"/>
          <p:nvPr/>
        </p:nvSpPr>
        <p:spPr>
          <a:xfrm>
            <a:off x="2599666" y="6266543"/>
            <a:ext cx="6078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Supone la comparación en el MCM de la vidas de los proyectos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0257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9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9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Ejemplo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96" y="2893266"/>
            <a:ext cx="6445120" cy="204262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539551" y="5383763"/>
            <a:ext cx="221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¿Cuál elegir por VAN?</a:t>
            </a:r>
          </a:p>
          <a:p>
            <a:r>
              <a:rPr lang="es-PE" dirty="0" smtClean="0"/>
              <a:t>¿Qué hay del VAE?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51897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1016</Words>
  <Application>Microsoft Office PowerPoint</Application>
  <PresentationFormat>Panorámica</PresentationFormat>
  <Paragraphs>201</Paragraphs>
  <Slides>40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40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Courier</vt:lpstr>
      <vt:lpstr>Lato</vt:lpstr>
      <vt:lpstr>Tahoma</vt:lpstr>
      <vt:lpstr>Times New Roman</vt:lpstr>
      <vt:lpstr>Trebuchet MS</vt:lpstr>
      <vt:lpstr>Tema de Office</vt:lpstr>
      <vt:lpstr>Ecuación</vt:lpstr>
      <vt:lpstr>Hoja de cálculo</vt:lpstr>
      <vt:lpstr>Capítulo VII</vt:lpstr>
      <vt:lpstr>Contenido</vt:lpstr>
      <vt:lpstr>Presentación de PowerPoint</vt:lpstr>
      <vt:lpstr>La elección</vt:lpstr>
      <vt:lpstr>El hambre</vt:lpstr>
      <vt:lpstr>Leyes universales</vt:lpstr>
      <vt:lpstr>Presentación de PowerPoint</vt:lpstr>
      <vt:lpstr>La tiza</vt:lpstr>
      <vt:lpstr>El puente</vt:lpstr>
      <vt:lpstr>El puente</vt:lpstr>
      <vt:lpstr>Presentación de PowerPoint</vt:lpstr>
      <vt:lpstr>2. Objetivos</vt:lpstr>
      <vt:lpstr>Presentación de PowerPoint</vt:lpstr>
      <vt:lpstr>2. Tipos de evaluación</vt:lpstr>
      <vt:lpstr>Dado el flujo de caja libre …..</vt:lpstr>
      <vt:lpstr>4. Métodos de evaluación</vt:lpstr>
      <vt:lpstr>VAN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Criterios de aplicación</vt:lpstr>
      <vt:lpstr>Propiedades</vt:lpstr>
      <vt:lpstr>TIR</vt:lpstr>
      <vt:lpstr>CALCULO DE LA TIR</vt:lpstr>
      <vt:lpstr>Criterios de aplicación</vt:lpstr>
      <vt:lpstr>Variación del VAN al variar el COK</vt:lpstr>
      <vt:lpstr>Beneficio/Costo (B/C)</vt:lpstr>
      <vt:lpstr>Período de repago del capital  (pay back)</vt:lpstr>
      <vt:lpstr>Tiempo de repago del capital (Pay back)</vt:lpstr>
      <vt:lpstr>VAN vs TRC</vt:lpstr>
      <vt:lpstr>Presentación de PowerPoint</vt:lpstr>
      <vt:lpstr>Valor anual equivalente (VAE)</vt:lpstr>
      <vt:lpstr>Vidas diferentes</vt:lpstr>
      <vt:lpstr>Vidas diferentes</vt:lpstr>
      <vt:lpstr>Igualarlos en el tiempo</vt:lpstr>
      <vt:lpstr>EVALUACIÓN DE ALTERNATIVAS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 proyectos</dc:title>
  <dc:creator>Julio Salvador Jacome</dc:creator>
  <cp:lastModifiedBy>Julio Salvador Jacome</cp:lastModifiedBy>
  <cp:revision>55</cp:revision>
  <dcterms:created xsi:type="dcterms:W3CDTF">2018-05-14T19:20:13Z</dcterms:created>
  <dcterms:modified xsi:type="dcterms:W3CDTF">2021-02-17T21:38:03Z</dcterms:modified>
</cp:coreProperties>
</file>